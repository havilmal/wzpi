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59" r:id="rId5"/>
    <p:sldId id="260" r:id="rId6"/>
    <p:sldId id="273" r:id="rId7"/>
    <p:sldId id="261" r:id="rId8"/>
    <p:sldId id="274" r:id="rId9"/>
    <p:sldId id="262" r:id="rId10"/>
    <p:sldId id="275" r:id="rId11"/>
    <p:sldId id="263" r:id="rId12"/>
    <p:sldId id="276" r:id="rId13"/>
    <p:sldId id="264" r:id="rId14"/>
    <p:sldId id="277" r:id="rId15"/>
    <p:sldId id="265" r:id="rId16"/>
    <p:sldId id="278" r:id="rId17"/>
    <p:sldId id="266" r:id="rId18"/>
    <p:sldId id="267" r:id="rId19"/>
    <p:sldId id="268" r:id="rId20"/>
    <p:sldId id="269" r:id="rId21"/>
    <p:sldId id="270" r:id="rId22"/>
    <p:sldId id="271" r:id="rId23"/>
    <p:sldId id="282" r:id="rId24"/>
    <p:sldId id="283" r:id="rId25"/>
    <p:sldId id="284" r:id="rId26"/>
    <p:sldId id="272" r:id="rId27"/>
    <p:sldId id="280" r:id="rId28"/>
    <p:sldId id="281" r:id="rId29"/>
    <p:sldId id="258" r:id="rId3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Bez stylu, siatka tabeli">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Styl jasny 2 — Ak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Styl jasny 3 — Ak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100" d="100"/>
          <a:sy n="100" d="100"/>
        </p:scale>
        <p:origin x="96"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BCCDD4-A0D7-2452-98E6-0920FE08E2EC}"/>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D9623E53-FD40-B1D7-7686-9F51DA34B9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3D6B9B8D-2FFA-CBE0-1FA0-865E0C327906}"/>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7DB39787-818E-D047-7D01-2CC6600DC24F}"/>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AEC14EC6-EAF3-DDA3-65FD-77539C42B31B}"/>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257377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4EF33A0-1F85-4AEC-8B30-1F2D122161F1}"/>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6B5E3D2-B8A0-09AB-3C7E-B526981D8C83}"/>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AA67DC1-EF1A-BB92-7317-DACD5E543EC0}"/>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2AD4C954-2321-AEC5-0A8C-C2CBE97FD3B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7F4B478-54C8-ABF6-7123-0BCC48098292}"/>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597192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F09ADE-0841-8E2D-84D5-8E9BDD5CA583}"/>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24993952-8F8A-74B9-D6C2-0E0DCC4D35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D90D6B01-8BB3-880B-637B-42A054B008D3}"/>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09AAF95D-D16A-EE94-F54D-BD59B68F3534}"/>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38CAD8C-46E6-EC28-BD52-3A1515EE0416}"/>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748527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8F57ABB-9FB9-BE0B-6F70-6FC401C7998A}"/>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496C9DCB-E499-F80C-4533-767A83720625}"/>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19AE5C43-CD93-F6AA-406F-695F18C30267}"/>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4398CE9B-43BB-E64D-FFE6-1B3763EFC743}"/>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6" name="Symbol zastępczy stopki 5">
            <a:extLst>
              <a:ext uri="{FF2B5EF4-FFF2-40B4-BE49-F238E27FC236}">
                <a16:creationId xmlns:a16="http://schemas.microsoft.com/office/drawing/2014/main" id="{7D53A248-9794-CE67-F088-597E3A66D0E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BC1D986E-0006-D7F9-E7A1-51D20F81806C}"/>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076107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43905B-46B2-63FC-3C38-6A216D91EE9A}"/>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CC44C648-9ABE-000B-1A9A-E612F6E608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72D0A87E-382F-6D94-E338-278909F274ED}"/>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AFB18A42-298A-BB4E-497E-4205DCE6A7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41CE6484-574D-2B40-D64C-531090596422}"/>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9A08D638-3A7E-6181-0C36-2FFBD8D80ED3}"/>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8" name="Symbol zastępczy stopki 7">
            <a:extLst>
              <a:ext uri="{FF2B5EF4-FFF2-40B4-BE49-F238E27FC236}">
                <a16:creationId xmlns:a16="http://schemas.microsoft.com/office/drawing/2014/main" id="{A7CAC7CE-BA49-4355-EA83-1A40DD6276C9}"/>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E51B15AC-1ADE-18EC-22F1-B554E1597CBA}"/>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836016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7F50B6D-BADD-FEBE-8C39-152D715C8453}"/>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5A501E64-23D6-303F-E374-BA749FE2A0EB}"/>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4" name="Symbol zastępczy stopki 3">
            <a:extLst>
              <a:ext uri="{FF2B5EF4-FFF2-40B4-BE49-F238E27FC236}">
                <a16:creationId xmlns:a16="http://schemas.microsoft.com/office/drawing/2014/main" id="{8D7E9C2A-97D2-7D71-2F76-DE1CFF6412A5}"/>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44663E42-6C0E-60CA-BCE0-55B44725C618}"/>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179980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5E8EEAD-9D84-3B68-A8CC-A0D25638B5F8}"/>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3" name="Symbol zastępczy stopki 2">
            <a:extLst>
              <a:ext uri="{FF2B5EF4-FFF2-40B4-BE49-F238E27FC236}">
                <a16:creationId xmlns:a16="http://schemas.microsoft.com/office/drawing/2014/main" id="{1F9FF18C-0F47-0F03-075A-26FE5146BBD4}"/>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15ABA0C0-8878-AAB7-12FE-43E87D5643E7}"/>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80359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725337-F552-F415-D085-1BA672AB9F7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9B7D15D9-1875-CA9F-4623-492D6F205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863800A1-C506-9BED-9D1F-347D837B0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21C4D9D1-FAEE-E36A-A059-7586B0B9F859}"/>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6" name="Symbol zastępczy stopki 5">
            <a:extLst>
              <a:ext uri="{FF2B5EF4-FFF2-40B4-BE49-F238E27FC236}">
                <a16:creationId xmlns:a16="http://schemas.microsoft.com/office/drawing/2014/main" id="{1335F8D0-D8E9-BF3C-48AA-E242AF373504}"/>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445D47B9-77FB-FD0D-597D-C37D765FACA1}"/>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579781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5A24BB9-2BC4-D564-44D1-3F22CE33B89E}"/>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081C64C3-1BF2-088E-44C8-999984A90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25F23E46-9DBB-6A3A-F97C-1F06A4CAC3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D7079A5C-8E5D-9B01-D1B3-82099BE84F49}"/>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6" name="Symbol zastępczy stopki 5">
            <a:extLst>
              <a:ext uri="{FF2B5EF4-FFF2-40B4-BE49-F238E27FC236}">
                <a16:creationId xmlns:a16="http://schemas.microsoft.com/office/drawing/2014/main" id="{91275238-B71D-5503-F0F3-D02A4D23A16E}"/>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6DEAC32-5F48-D197-450D-CA8332AC376D}"/>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265648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EAF1E80-D110-536A-6FF2-4B8062B977E3}"/>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985530FB-BFAD-2568-868B-CC37E5A8F0E8}"/>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BB05F6F9-4549-20B6-E597-FFDBCBEBF46C}"/>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E491BFFC-29E9-D288-1B52-0927DBD0C915}"/>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06B0062-4F73-BB17-CF1B-9BFBBBCD3ED8}"/>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77730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7D1EB5DC-A3A9-43CB-71A8-FE3C18A04EDE}"/>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91BE1C12-5554-7D97-DB7A-960DB11A7B8E}"/>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83E0D43-6FBB-A7D7-0CAB-D51C04197B9C}"/>
              </a:ext>
            </a:extLst>
          </p:cNvPr>
          <p:cNvSpPr>
            <a:spLocks noGrp="1"/>
          </p:cNvSpPr>
          <p:nvPr>
            <p:ph type="dt" sz="half" idx="10"/>
          </p:nvPr>
        </p:nvSpPr>
        <p:spPr/>
        <p:txBody>
          <a:body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026338D4-3E56-3318-074A-35EADC57AA5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3CAC7AF0-FAF9-1F2F-F2BE-9AF239EB9743}"/>
              </a:ext>
            </a:extLst>
          </p:cNvPr>
          <p:cNvSpPr>
            <a:spLocks noGrp="1"/>
          </p:cNvSpPr>
          <p:nvPr>
            <p:ph type="sldNum" sz="quarter" idx="12"/>
          </p:nvPr>
        </p:nvSpPr>
        <p:spPr/>
        <p:txBody>
          <a:bodyPr/>
          <a:lstStyle/>
          <a:p>
            <a:fld id="{F5AC1814-E55F-4B94-8120-52BEB94729E0}" type="slidenum">
              <a:rPr lang="pl-PL" smtClean="0"/>
              <a:t>‹#›</a:t>
            </a:fld>
            <a:endParaRPr lang="pl-PL"/>
          </a:p>
        </p:txBody>
      </p:sp>
    </p:spTree>
    <p:extLst>
      <p:ext uri="{BB962C8B-B14F-4D97-AF65-F5344CB8AC3E}">
        <p14:creationId xmlns:p14="http://schemas.microsoft.com/office/powerpoint/2010/main" val="189853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1587432C-A806-FEA4-8BFB-D426A3568B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3404807B-AE6D-362E-5BB0-95A648436F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1B76607D-666B-BBEC-C13C-7FB2E2F803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F1A4AA-E108-41D3-BA4F-CCB18A9958D6}" type="datetimeFigureOut">
              <a:rPr lang="pl-PL" smtClean="0"/>
              <a:t>16.03.2026</a:t>
            </a:fld>
            <a:endParaRPr lang="pl-PL"/>
          </a:p>
        </p:txBody>
      </p:sp>
      <p:sp>
        <p:nvSpPr>
          <p:cNvPr id="5" name="Symbol zastępczy stopki 4">
            <a:extLst>
              <a:ext uri="{FF2B5EF4-FFF2-40B4-BE49-F238E27FC236}">
                <a16:creationId xmlns:a16="http://schemas.microsoft.com/office/drawing/2014/main" id="{1D3954A1-5ABD-4E71-47FA-38A26D0CCE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E66E506A-9204-C5AD-C0DE-266FA42302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C1814-E55F-4B94-8120-52BEB94729E0}" type="slidenum">
              <a:rPr lang="pl-PL" smtClean="0"/>
              <a:t>‹#›</a:t>
            </a:fld>
            <a:endParaRPr lang="pl-PL"/>
          </a:p>
        </p:txBody>
      </p:sp>
    </p:spTree>
    <p:extLst>
      <p:ext uri="{BB962C8B-B14F-4D97-AF65-F5344CB8AC3E}">
        <p14:creationId xmlns:p14="http://schemas.microsoft.com/office/powerpoint/2010/main" val="3554997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hyperlink" Target="https://boringowl.io/blog/senior-developer-mid-i-junior-jakie-sa-kryteria-stopniowania-stanowisk-programistycznych-w-it" TargetMode="External"/><Relationship Id="rId13" Type="http://schemas.openxmlformats.org/officeDocument/2006/relationships/hyperlink" Target="https://tech-stack.com/blog/who-is-a-scrum-master-who-needs-a-scrum-master/" TargetMode="External"/><Relationship Id="rId3" Type="http://schemas.openxmlformats.org/officeDocument/2006/relationships/hyperlink" Target="https://onlinedegrees.sandiego.edu/it-job-titles/" TargetMode="External"/><Relationship Id="rId7" Type="http://schemas.openxmlformats.org/officeDocument/2006/relationships/hyperlink" Target="https://www.scottmadden.com/insight/it-organizational-structures-explained-finding-the-best-fit/" TargetMode="External"/><Relationship Id="rId12" Type="http://schemas.openxmlformats.org/officeDocument/2006/relationships/hyperlink" Target="https://modestprogrammer.pl/sciezka-zawodowa-programisty-jakie-stanowiska-i-role-mozna-wyroznic-w-firmie-tworzacej-oprogramowanie" TargetMode="External"/><Relationship Id="rId2" Type="http://schemas.openxmlformats.org/officeDocument/2006/relationships/hyperlink" Target="https://traffit.com/pl/opisy-stanowisk-pracy/marketing/project-manager-2/" TargetMode="External"/><Relationship Id="rId1" Type="http://schemas.openxmlformats.org/officeDocument/2006/relationships/slideLayout" Target="../slideLayouts/slideLayout2.xml"/><Relationship Id="rId6" Type="http://schemas.openxmlformats.org/officeDocument/2006/relationships/hyperlink" Target="https://www.qagile.pl/scrum/product-owner-co-robi-scrum/" TargetMode="External"/><Relationship Id="rId11" Type="http://schemas.openxmlformats.org/officeDocument/2006/relationships/hyperlink" Target="https://pl.wikipedia.org/wiki/Chief_Information_Officer" TargetMode="External"/><Relationship Id="rId5" Type="http://schemas.openxmlformats.org/officeDocument/2006/relationships/hyperlink" Target="https://www.organimi.com/it-department-organizational-structure/" TargetMode="External"/><Relationship Id="rId15" Type="http://schemas.openxmlformats.org/officeDocument/2006/relationships/hyperlink" Target="https://cbe.wwu.edu/implementing-scrum-and-agile-management-process-1" TargetMode="External"/><Relationship Id="rId10" Type="http://schemas.openxmlformats.org/officeDocument/2006/relationships/hyperlink" Target="https://tomhrm.com/struktura-organizacyjna-firmy-rodzaje-przyklady" TargetMode="External"/><Relationship Id="rId4" Type="http://schemas.openxmlformats.org/officeDocument/2006/relationships/hyperlink" Target="https://theorgchart.com/resources/it-org-chart-how-to/" TargetMode="External"/><Relationship Id="rId9" Type="http://schemas.openxmlformats.org/officeDocument/2006/relationships/hyperlink" Target="https://www.hrk.pl/know-how/artykuly/ranking-10-najpopularniejszych-stanowisk-w-it/" TargetMode="External"/><Relationship Id="rId14" Type="http://schemas.openxmlformats.org/officeDocument/2006/relationships/hyperlink" Target="https://www.atlassian.com/agile/scrum/scrum-mast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6EE5EC25-8991-D360-2C53-AA817D7B6709}"/>
              </a:ext>
            </a:extLst>
          </p:cNvPr>
          <p:cNvSpPr>
            <a:spLocks noGrp="1"/>
          </p:cNvSpPr>
          <p:nvPr>
            <p:ph type="ctrTitle"/>
          </p:nvPr>
        </p:nvSpPr>
        <p:spPr>
          <a:xfrm>
            <a:off x="804672" y="4267832"/>
            <a:ext cx="4805996" cy="1297115"/>
          </a:xfrm>
        </p:spPr>
        <p:txBody>
          <a:bodyPr anchor="t">
            <a:normAutofit/>
          </a:bodyPr>
          <a:lstStyle/>
          <a:p>
            <a:pPr algn="l"/>
            <a:r>
              <a:rPr lang="pl-PL" sz="2800" dirty="0">
                <a:solidFill>
                  <a:schemeClr val="tx2"/>
                </a:solidFill>
              </a:rPr>
              <a:t>Nazewnictwo i struktura stanowisk pracy w firmie</a:t>
            </a:r>
            <a:br>
              <a:rPr lang="pl-PL" sz="2800" dirty="0">
                <a:solidFill>
                  <a:schemeClr val="tx2"/>
                </a:solidFill>
              </a:rPr>
            </a:br>
            <a:r>
              <a:rPr lang="pl-PL" sz="2800" dirty="0">
                <a:solidFill>
                  <a:schemeClr val="tx2"/>
                </a:solidFill>
              </a:rPr>
              <a:t>IT</a:t>
            </a:r>
          </a:p>
        </p:txBody>
      </p:sp>
      <p:sp>
        <p:nvSpPr>
          <p:cNvPr id="3" name="Podtytuł 2">
            <a:extLst>
              <a:ext uri="{FF2B5EF4-FFF2-40B4-BE49-F238E27FC236}">
                <a16:creationId xmlns:a16="http://schemas.microsoft.com/office/drawing/2014/main" id="{927A56F1-00EF-90D5-F43E-E8729330D202}"/>
              </a:ext>
            </a:extLst>
          </p:cNvPr>
          <p:cNvSpPr>
            <a:spLocks noGrp="1"/>
          </p:cNvSpPr>
          <p:nvPr>
            <p:ph type="subTitle" idx="1"/>
          </p:nvPr>
        </p:nvSpPr>
        <p:spPr>
          <a:xfrm>
            <a:off x="804672" y="3428999"/>
            <a:ext cx="4805691" cy="838831"/>
          </a:xfrm>
        </p:spPr>
        <p:txBody>
          <a:bodyPr anchor="b">
            <a:normAutofit/>
          </a:bodyPr>
          <a:lstStyle/>
          <a:p>
            <a:pPr algn="l"/>
            <a:r>
              <a:rPr lang="pl-PL" sz="2000" dirty="0">
                <a:solidFill>
                  <a:schemeClr val="tx2"/>
                </a:solidFill>
              </a:rPr>
              <a:t>Job </a:t>
            </a:r>
            <a:r>
              <a:rPr lang="pl-PL" sz="2000" dirty="0" err="1">
                <a:solidFill>
                  <a:schemeClr val="tx2"/>
                </a:solidFill>
              </a:rPr>
              <a:t>titles</a:t>
            </a:r>
            <a:r>
              <a:rPr lang="pl-PL" sz="2000" dirty="0">
                <a:solidFill>
                  <a:schemeClr val="tx2"/>
                </a:solidFill>
              </a:rPr>
              <a:t> and </a:t>
            </a:r>
            <a:r>
              <a:rPr lang="pl-PL" sz="2000" dirty="0" err="1">
                <a:solidFill>
                  <a:schemeClr val="tx2"/>
                </a:solidFill>
              </a:rPr>
              <a:t>structure</a:t>
            </a:r>
            <a:r>
              <a:rPr lang="pl-PL" sz="2000" dirty="0">
                <a:solidFill>
                  <a:schemeClr val="tx2"/>
                </a:solidFill>
              </a:rPr>
              <a:t> in </a:t>
            </a:r>
            <a:r>
              <a:rPr lang="pl-PL" sz="2000" dirty="0" err="1">
                <a:solidFill>
                  <a:schemeClr val="tx2"/>
                </a:solidFill>
              </a:rPr>
              <a:t>an</a:t>
            </a:r>
            <a:r>
              <a:rPr lang="pl-PL" sz="2000" dirty="0">
                <a:solidFill>
                  <a:schemeClr val="tx2"/>
                </a:solidFill>
              </a:rPr>
              <a:t> IT </a:t>
            </a:r>
            <a:r>
              <a:rPr lang="pl-PL" sz="2000" dirty="0" err="1">
                <a:solidFill>
                  <a:schemeClr val="tx2"/>
                </a:solidFill>
              </a:rPr>
              <a:t>company</a:t>
            </a:r>
            <a:endParaRPr lang="pl-PL" sz="2000" dirty="0">
              <a:solidFill>
                <a:schemeClr val="tx2"/>
              </a:solidFill>
            </a:endParaRPr>
          </a:p>
        </p:txBody>
      </p:sp>
      <p:grpSp>
        <p:nvGrpSpPr>
          <p:cNvPr id="26" name="Group 25">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27" name="Freeform: Shape 26">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Pracownik biurowy kontur">
            <a:extLst>
              <a:ext uri="{FF2B5EF4-FFF2-40B4-BE49-F238E27FC236}">
                <a16:creationId xmlns:a16="http://schemas.microsoft.com/office/drawing/2014/main" id="{7E0ED425-2C05-AD22-EC3A-83A57B19F783}"/>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7729652" y="1859078"/>
            <a:ext cx="3821102" cy="3821102"/>
          </a:xfrm>
          <a:prstGeom prst="rect">
            <a:avLst/>
          </a:prstGeom>
          <a:ln>
            <a:noFill/>
          </a:ln>
        </p:spPr>
      </p:pic>
      <p:sp>
        <p:nvSpPr>
          <p:cNvPr id="4" name="pole tekstowe 3">
            <a:extLst>
              <a:ext uri="{FF2B5EF4-FFF2-40B4-BE49-F238E27FC236}">
                <a16:creationId xmlns:a16="http://schemas.microsoft.com/office/drawing/2014/main" id="{A38B0BEF-7663-4CBF-78D7-8E2DC52097C3}"/>
              </a:ext>
            </a:extLst>
          </p:cNvPr>
          <p:cNvSpPr txBox="1"/>
          <p:nvPr/>
        </p:nvSpPr>
        <p:spPr>
          <a:xfrm>
            <a:off x="802286" y="5495514"/>
            <a:ext cx="2639833" cy="369332"/>
          </a:xfrm>
          <a:prstGeom prst="rect">
            <a:avLst/>
          </a:prstGeom>
          <a:noFill/>
        </p:spPr>
        <p:txBody>
          <a:bodyPr wrap="square" rtlCol="0">
            <a:spAutoFit/>
          </a:bodyPr>
          <a:lstStyle/>
          <a:p>
            <a:r>
              <a:rPr lang="pl-PL" dirty="0"/>
              <a:t>Mateusz Tereba 280556</a:t>
            </a:r>
          </a:p>
        </p:txBody>
      </p:sp>
    </p:spTree>
    <p:extLst>
      <p:ext uri="{BB962C8B-B14F-4D97-AF65-F5344CB8AC3E}">
        <p14:creationId xmlns:p14="http://schemas.microsoft.com/office/powerpoint/2010/main" val="823645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273A0BE1-B448-2955-6266-38AE9A1E63A3}"/>
              </a:ext>
            </a:extLst>
          </p:cNvPr>
          <p:cNvSpPr>
            <a:spLocks noGrp="1"/>
          </p:cNvSpPr>
          <p:nvPr>
            <p:ph type="title"/>
          </p:nvPr>
        </p:nvSpPr>
        <p:spPr>
          <a:xfrm>
            <a:off x="640080" y="1243013"/>
            <a:ext cx="3855720" cy="4371974"/>
          </a:xfrm>
        </p:spPr>
        <p:txBody>
          <a:bodyPr>
            <a:normAutofit/>
          </a:bodyPr>
          <a:lstStyle/>
          <a:p>
            <a:r>
              <a:rPr lang="pl-PL" sz="3600" dirty="0">
                <a:solidFill>
                  <a:schemeClr val="tx2"/>
                </a:solidFill>
              </a:rPr>
              <a:t>Czym jest struktura firmy?</a:t>
            </a:r>
          </a:p>
        </p:txBody>
      </p:sp>
      <p:sp>
        <p:nvSpPr>
          <p:cNvPr id="3" name="Symbol zastępczy zawartości 2">
            <a:extLst>
              <a:ext uri="{FF2B5EF4-FFF2-40B4-BE49-F238E27FC236}">
                <a16:creationId xmlns:a16="http://schemas.microsoft.com/office/drawing/2014/main" id="{415B6381-5F35-8188-1378-CE1C88FAC0B7}"/>
              </a:ext>
            </a:extLst>
          </p:cNvPr>
          <p:cNvSpPr>
            <a:spLocks noGrp="1"/>
          </p:cNvSpPr>
          <p:nvPr>
            <p:ph idx="1"/>
          </p:nvPr>
        </p:nvSpPr>
        <p:spPr>
          <a:xfrm>
            <a:off x="6172200" y="804672"/>
            <a:ext cx="5221224" cy="5230368"/>
          </a:xfrm>
        </p:spPr>
        <p:txBody>
          <a:bodyPr anchor="ctr">
            <a:normAutofit/>
          </a:bodyPr>
          <a:lstStyle/>
          <a:p>
            <a:r>
              <a:rPr lang="pl-PL" sz="1800" dirty="0">
                <a:solidFill>
                  <a:schemeClr val="tx2"/>
                </a:solidFill>
              </a:rPr>
              <a:t>Jest to oficjalna hierarcha jednostek i komórek organizacyjnych, stanowisk oraz pracowników. Definiuje ona nie tylko zakres obowiązków, ale także drogę komunikacji i poziom uprawnień.</a:t>
            </a:r>
          </a:p>
        </p:txBody>
      </p:sp>
    </p:spTree>
    <p:extLst>
      <p:ext uri="{BB962C8B-B14F-4D97-AF65-F5344CB8AC3E}">
        <p14:creationId xmlns:p14="http://schemas.microsoft.com/office/powerpoint/2010/main" val="469721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E1CF34-9401-A815-69E4-2388D75D64A0}"/>
              </a:ext>
            </a:extLst>
          </p:cNvPr>
          <p:cNvSpPr>
            <a:spLocks noGrp="1"/>
          </p:cNvSpPr>
          <p:nvPr>
            <p:ph type="title"/>
          </p:nvPr>
        </p:nvSpPr>
        <p:spPr/>
        <p:txBody>
          <a:bodyPr/>
          <a:lstStyle/>
          <a:p>
            <a:r>
              <a:rPr lang="pl-PL" dirty="0"/>
              <a:t>Słownik</a:t>
            </a:r>
          </a:p>
        </p:txBody>
      </p:sp>
      <p:graphicFrame>
        <p:nvGraphicFramePr>
          <p:cNvPr id="4" name="Symbol zastępczy zawartości 3">
            <a:extLst>
              <a:ext uri="{FF2B5EF4-FFF2-40B4-BE49-F238E27FC236}">
                <a16:creationId xmlns:a16="http://schemas.microsoft.com/office/drawing/2014/main" id="{0C4D5651-9B4E-4872-71C6-F42DD2E9B1B4}"/>
              </a:ext>
            </a:extLst>
          </p:cNvPr>
          <p:cNvGraphicFramePr>
            <a:graphicFrameLocks noGrp="1"/>
          </p:cNvGraphicFramePr>
          <p:nvPr>
            <p:ph idx="1"/>
            <p:extLst>
              <p:ext uri="{D42A27DB-BD31-4B8C-83A1-F6EECF244321}">
                <p14:modId xmlns:p14="http://schemas.microsoft.com/office/powerpoint/2010/main" val="1149524365"/>
              </p:ext>
            </p:extLst>
          </p:nvPr>
        </p:nvGraphicFramePr>
        <p:xfrm>
          <a:off x="488949" y="1391763"/>
          <a:ext cx="5245100" cy="5090160"/>
        </p:xfrm>
        <a:graphic>
          <a:graphicData uri="http://schemas.openxmlformats.org/drawingml/2006/table">
            <a:tbl>
              <a:tblPr>
                <a:tableStyleId>{5940675A-B579-460E-94D1-54222C63F5DA}</a:tableStyleId>
              </a:tblPr>
              <a:tblGrid>
                <a:gridCol w="2622550">
                  <a:extLst>
                    <a:ext uri="{9D8B030D-6E8A-4147-A177-3AD203B41FA5}">
                      <a16:colId xmlns:a16="http://schemas.microsoft.com/office/drawing/2014/main" val="3699652816"/>
                    </a:ext>
                  </a:extLst>
                </a:gridCol>
                <a:gridCol w="2622550">
                  <a:extLst>
                    <a:ext uri="{9D8B030D-6E8A-4147-A177-3AD203B41FA5}">
                      <a16:colId xmlns:a16="http://schemas.microsoft.com/office/drawing/2014/main" val="3521438599"/>
                    </a:ext>
                  </a:extLst>
                </a:gridCol>
              </a:tblGrid>
              <a:tr h="0">
                <a:tc>
                  <a:txBody>
                    <a:bodyPr/>
                    <a:lstStyle/>
                    <a:p>
                      <a:pPr>
                        <a:buNone/>
                      </a:pPr>
                      <a:r>
                        <a:rPr lang="pl-PL" sz="1600" b="1" dirty="0">
                          <a:effectLst/>
                        </a:rPr>
                        <a:t>Termin polski</a:t>
                      </a:r>
                      <a:endParaRPr lang="pl-PL" sz="1600" dirty="0">
                        <a:effectLst/>
                        <a:latin typeface="Google Sans Text"/>
                      </a:endParaRPr>
                    </a:p>
                  </a:txBody>
                  <a:tcPr anchor="ctr"/>
                </a:tc>
                <a:tc>
                  <a:txBody>
                    <a:bodyPr/>
                    <a:lstStyle/>
                    <a:p>
                      <a:pPr>
                        <a:buNone/>
                      </a:pPr>
                      <a:r>
                        <a:rPr lang="pl-PL" sz="1600" b="1" dirty="0">
                          <a:effectLst/>
                        </a:rPr>
                        <a:t>Termin angielski</a:t>
                      </a:r>
                      <a:endParaRPr lang="pl-PL" sz="1600" dirty="0">
                        <a:effectLst/>
                        <a:latin typeface="Google Sans Text"/>
                      </a:endParaRPr>
                    </a:p>
                  </a:txBody>
                  <a:tcPr anchor="ctr"/>
                </a:tc>
                <a:extLst>
                  <a:ext uri="{0D108BD9-81ED-4DB2-BD59-A6C34878D82A}">
                    <a16:rowId xmlns:a16="http://schemas.microsoft.com/office/drawing/2014/main" val="2519800409"/>
                  </a:ext>
                </a:extLst>
              </a:tr>
              <a:tr h="0">
                <a:tc>
                  <a:txBody>
                    <a:bodyPr/>
                    <a:lstStyle/>
                    <a:p>
                      <a:pPr>
                        <a:buNone/>
                      </a:pPr>
                      <a:r>
                        <a:rPr lang="pl-PL" sz="1600" dirty="0">
                          <a:effectLst/>
                        </a:rPr>
                        <a:t>Struktura scentralizowana</a:t>
                      </a:r>
                      <a:endParaRPr lang="pl-PL" sz="1600" dirty="0">
                        <a:effectLst/>
                        <a:latin typeface="Google Sans Text"/>
                      </a:endParaRPr>
                    </a:p>
                  </a:txBody>
                  <a:tcPr anchor="ctr"/>
                </a:tc>
                <a:tc>
                  <a:txBody>
                    <a:bodyPr/>
                    <a:lstStyle/>
                    <a:p>
                      <a:pPr>
                        <a:buNone/>
                      </a:pPr>
                      <a:r>
                        <a:rPr lang="pl-PL" sz="1600" dirty="0" err="1">
                          <a:effectLst/>
                        </a:rPr>
                        <a:t>Centralized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3385981076"/>
                  </a:ext>
                </a:extLst>
              </a:tr>
              <a:tr h="0">
                <a:tc>
                  <a:txBody>
                    <a:bodyPr/>
                    <a:lstStyle/>
                    <a:p>
                      <a:pPr>
                        <a:buNone/>
                      </a:pPr>
                      <a:r>
                        <a:rPr lang="pl-PL" sz="1600" dirty="0">
                          <a:effectLst/>
                        </a:rPr>
                        <a:t>Struktura zdecentralizowana</a:t>
                      </a:r>
                      <a:endParaRPr lang="pl-PL" sz="1600" dirty="0">
                        <a:effectLst/>
                        <a:latin typeface="Google Sans Text"/>
                      </a:endParaRPr>
                    </a:p>
                  </a:txBody>
                  <a:tcPr anchor="ctr"/>
                </a:tc>
                <a:tc>
                  <a:txBody>
                    <a:bodyPr/>
                    <a:lstStyle/>
                    <a:p>
                      <a:pPr>
                        <a:buNone/>
                      </a:pPr>
                      <a:r>
                        <a:rPr lang="pl-PL" sz="1600" dirty="0" err="1">
                          <a:effectLst/>
                        </a:rPr>
                        <a:t>Decentralized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601808974"/>
                  </a:ext>
                </a:extLst>
              </a:tr>
              <a:tr h="0">
                <a:tc>
                  <a:txBody>
                    <a:bodyPr/>
                    <a:lstStyle/>
                    <a:p>
                      <a:pPr>
                        <a:buNone/>
                      </a:pPr>
                      <a:r>
                        <a:rPr lang="pl-PL" sz="1600" dirty="0">
                          <a:effectLst/>
                        </a:rPr>
                        <a:t>Struktura funkcjonalna</a:t>
                      </a:r>
                      <a:endParaRPr lang="pl-PL" sz="1600" dirty="0">
                        <a:effectLst/>
                        <a:latin typeface="Google Sans Text"/>
                      </a:endParaRPr>
                    </a:p>
                  </a:txBody>
                  <a:tcPr anchor="ctr"/>
                </a:tc>
                <a:tc>
                  <a:txBody>
                    <a:bodyPr/>
                    <a:lstStyle/>
                    <a:p>
                      <a:pPr>
                        <a:buNone/>
                      </a:pPr>
                      <a:r>
                        <a:rPr lang="pl-PL" sz="1600" dirty="0" err="1">
                          <a:effectLst/>
                        </a:rPr>
                        <a:t>Functional</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2770263898"/>
                  </a:ext>
                </a:extLst>
              </a:tr>
              <a:tr h="0">
                <a:tc>
                  <a:txBody>
                    <a:bodyPr/>
                    <a:lstStyle/>
                    <a:p>
                      <a:pPr>
                        <a:buNone/>
                      </a:pPr>
                      <a:r>
                        <a:rPr lang="pl-PL" sz="1600" dirty="0">
                          <a:effectLst/>
                        </a:rPr>
                        <a:t>Struktura macierzowa</a:t>
                      </a:r>
                      <a:endParaRPr lang="pl-PL" sz="1600" dirty="0">
                        <a:effectLst/>
                        <a:latin typeface="Google Sans Text"/>
                      </a:endParaRPr>
                    </a:p>
                  </a:txBody>
                  <a:tcPr anchor="ctr"/>
                </a:tc>
                <a:tc>
                  <a:txBody>
                    <a:bodyPr/>
                    <a:lstStyle/>
                    <a:p>
                      <a:pPr>
                        <a:buNone/>
                      </a:pPr>
                      <a:r>
                        <a:rPr lang="pl-PL" sz="1600" dirty="0" err="1">
                          <a:effectLst/>
                        </a:rPr>
                        <a:t>Matrixed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314507729"/>
                  </a:ext>
                </a:extLst>
              </a:tr>
              <a:tr h="0">
                <a:tc>
                  <a:txBody>
                    <a:bodyPr/>
                    <a:lstStyle/>
                    <a:p>
                      <a:pPr>
                        <a:buNone/>
                      </a:pPr>
                      <a:r>
                        <a:rPr lang="pl-PL" sz="1600" dirty="0">
                          <a:effectLst/>
                        </a:rPr>
                        <a:t>Struktura oparta na produkcie</a:t>
                      </a:r>
                      <a:endParaRPr lang="pl-PL" sz="1600" dirty="0">
                        <a:effectLst/>
                        <a:latin typeface="Google Sans Text"/>
                      </a:endParaRPr>
                    </a:p>
                  </a:txBody>
                  <a:tcPr anchor="ctr"/>
                </a:tc>
                <a:tc>
                  <a:txBody>
                    <a:bodyPr/>
                    <a:lstStyle/>
                    <a:p>
                      <a:pPr>
                        <a:buNone/>
                      </a:pPr>
                      <a:r>
                        <a:rPr lang="pl-PL" sz="1600" dirty="0">
                          <a:effectLst/>
                        </a:rPr>
                        <a:t>Product-</a:t>
                      </a:r>
                      <a:r>
                        <a:rPr lang="pl-PL" sz="1600" dirty="0" err="1">
                          <a:effectLst/>
                        </a:rPr>
                        <a:t>Based</a:t>
                      </a:r>
                      <a:r>
                        <a:rPr lang="pl-PL" sz="1600" dirty="0">
                          <a:effectLst/>
                        </a:rPr>
                        <a:t> Organization </a:t>
                      </a:r>
                      <a:endParaRPr lang="pl-PL" sz="1600" dirty="0">
                        <a:effectLst/>
                        <a:latin typeface="Google Sans Text"/>
                      </a:endParaRPr>
                    </a:p>
                  </a:txBody>
                  <a:tcPr anchor="ctr"/>
                </a:tc>
                <a:extLst>
                  <a:ext uri="{0D108BD9-81ED-4DB2-BD59-A6C34878D82A}">
                    <a16:rowId xmlns:a16="http://schemas.microsoft.com/office/drawing/2014/main" val="1815792134"/>
                  </a:ext>
                </a:extLst>
              </a:tr>
              <a:tr h="0">
                <a:tc>
                  <a:txBody>
                    <a:bodyPr/>
                    <a:lstStyle/>
                    <a:p>
                      <a:pPr>
                        <a:buNone/>
                      </a:pPr>
                      <a:r>
                        <a:rPr lang="pl-PL" sz="1600" dirty="0">
                          <a:effectLst/>
                        </a:rPr>
                        <a:t>Struktura federacyjna</a:t>
                      </a:r>
                      <a:endParaRPr lang="pl-PL" sz="1600" dirty="0">
                        <a:effectLst/>
                        <a:latin typeface="Google Sans Text"/>
                      </a:endParaRPr>
                    </a:p>
                  </a:txBody>
                  <a:tcPr anchor="ctr"/>
                </a:tc>
                <a:tc>
                  <a:txBody>
                    <a:bodyPr/>
                    <a:lstStyle/>
                    <a:p>
                      <a:pPr>
                        <a:buNone/>
                      </a:pPr>
                      <a:r>
                        <a:rPr lang="pl-PL" sz="1600" dirty="0">
                          <a:effectLst/>
                        </a:rPr>
                        <a:t>Federated Organization </a:t>
                      </a:r>
                      <a:endParaRPr lang="pl-PL" sz="1600" dirty="0">
                        <a:effectLst/>
                        <a:latin typeface="Google Sans Text"/>
                      </a:endParaRPr>
                    </a:p>
                  </a:txBody>
                  <a:tcPr anchor="ctr"/>
                </a:tc>
                <a:extLst>
                  <a:ext uri="{0D108BD9-81ED-4DB2-BD59-A6C34878D82A}">
                    <a16:rowId xmlns:a16="http://schemas.microsoft.com/office/drawing/2014/main" val="2926361108"/>
                  </a:ext>
                </a:extLst>
              </a:tr>
              <a:tr h="0">
                <a:tc>
                  <a:txBody>
                    <a:bodyPr/>
                    <a:lstStyle/>
                    <a:p>
                      <a:pPr>
                        <a:buNone/>
                      </a:pPr>
                      <a:r>
                        <a:rPr lang="pl-PL" sz="1600" dirty="0">
                          <a:effectLst/>
                        </a:rPr>
                        <a:t>Młodszy programista </a:t>
                      </a:r>
                      <a:endParaRPr lang="pl-PL" sz="1600" dirty="0">
                        <a:effectLst/>
                        <a:latin typeface="Google Sans Text"/>
                      </a:endParaRPr>
                    </a:p>
                  </a:txBody>
                  <a:tcPr anchor="ctr"/>
                </a:tc>
                <a:tc>
                  <a:txBody>
                    <a:bodyPr/>
                    <a:lstStyle/>
                    <a:p>
                      <a:pPr>
                        <a:buNone/>
                      </a:pPr>
                      <a:r>
                        <a:rPr lang="pl-PL" sz="1600">
                          <a:effectLst/>
                        </a:rPr>
                        <a:t>Junior Developer </a:t>
                      </a:r>
                      <a:endParaRPr lang="pl-PL" sz="1600">
                        <a:effectLst/>
                        <a:latin typeface="Google Sans Text"/>
                      </a:endParaRPr>
                    </a:p>
                  </a:txBody>
                  <a:tcPr anchor="ctr"/>
                </a:tc>
                <a:extLst>
                  <a:ext uri="{0D108BD9-81ED-4DB2-BD59-A6C34878D82A}">
                    <a16:rowId xmlns:a16="http://schemas.microsoft.com/office/drawing/2014/main" val="1679999116"/>
                  </a:ext>
                </a:extLst>
              </a:tr>
              <a:tr h="0">
                <a:tc>
                  <a:txBody>
                    <a:bodyPr/>
                    <a:lstStyle/>
                    <a:p>
                      <a:pPr>
                        <a:buNone/>
                      </a:pPr>
                      <a:r>
                        <a:rPr lang="pl-PL" sz="1600" dirty="0">
                          <a:effectLst/>
                        </a:rPr>
                        <a:t>Programista </a:t>
                      </a:r>
                      <a:endParaRPr lang="pl-PL" sz="1600" dirty="0">
                        <a:effectLst/>
                        <a:latin typeface="Google Sans Text"/>
                      </a:endParaRPr>
                    </a:p>
                  </a:txBody>
                  <a:tcPr anchor="ctr"/>
                </a:tc>
                <a:tc>
                  <a:txBody>
                    <a:bodyPr/>
                    <a:lstStyle/>
                    <a:p>
                      <a:pPr>
                        <a:buNone/>
                      </a:pPr>
                      <a:r>
                        <a:rPr lang="pl-PL" sz="1600" dirty="0" err="1">
                          <a:effectLst/>
                        </a:rPr>
                        <a:t>Mid</a:t>
                      </a:r>
                      <a:r>
                        <a:rPr lang="pl-PL" sz="1600" dirty="0">
                          <a:effectLst/>
                        </a:rPr>
                        <a:t> Developer </a:t>
                      </a:r>
                      <a:endParaRPr lang="pl-PL" sz="1600" dirty="0">
                        <a:effectLst/>
                        <a:latin typeface="Google Sans Text"/>
                      </a:endParaRPr>
                    </a:p>
                  </a:txBody>
                  <a:tcPr anchor="ctr"/>
                </a:tc>
                <a:extLst>
                  <a:ext uri="{0D108BD9-81ED-4DB2-BD59-A6C34878D82A}">
                    <a16:rowId xmlns:a16="http://schemas.microsoft.com/office/drawing/2014/main" val="2604679402"/>
                  </a:ext>
                </a:extLst>
              </a:tr>
              <a:tr h="0">
                <a:tc>
                  <a:txBody>
                    <a:bodyPr/>
                    <a:lstStyle/>
                    <a:p>
                      <a:pPr>
                        <a:buNone/>
                      </a:pPr>
                      <a:r>
                        <a:rPr lang="pl-PL" sz="1600">
                          <a:effectLst/>
                        </a:rPr>
                        <a:t>Starszy programista </a:t>
                      </a:r>
                      <a:endParaRPr lang="pl-PL" sz="1600">
                        <a:effectLst/>
                        <a:latin typeface="Google Sans Text"/>
                      </a:endParaRPr>
                    </a:p>
                  </a:txBody>
                  <a:tcPr anchor="ctr"/>
                </a:tc>
                <a:tc>
                  <a:txBody>
                    <a:bodyPr/>
                    <a:lstStyle/>
                    <a:p>
                      <a:pPr>
                        <a:buNone/>
                      </a:pPr>
                      <a:r>
                        <a:rPr lang="pl-PL" sz="1600" dirty="0">
                          <a:effectLst/>
                        </a:rPr>
                        <a:t>Senior Developer </a:t>
                      </a:r>
                      <a:endParaRPr lang="pl-PL" sz="1600" dirty="0">
                        <a:effectLst/>
                        <a:latin typeface="Google Sans Text"/>
                      </a:endParaRPr>
                    </a:p>
                  </a:txBody>
                  <a:tcPr anchor="ctr"/>
                </a:tc>
                <a:extLst>
                  <a:ext uri="{0D108BD9-81ED-4DB2-BD59-A6C34878D82A}">
                    <a16:rowId xmlns:a16="http://schemas.microsoft.com/office/drawing/2014/main" val="1641580823"/>
                  </a:ext>
                </a:extLst>
              </a:tr>
              <a:tr h="0">
                <a:tc>
                  <a:txBody>
                    <a:bodyPr/>
                    <a:lstStyle/>
                    <a:p>
                      <a:pPr>
                        <a:buNone/>
                      </a:pPr>
                      <a:r>
                        <a:rPr lang="pl-PL" sz="1600" dirty="0">
                          <a:effectLst/>
                          <a:latin typeface="Google Sans Text"/>
                        </a:rPr>
                        <a:t>Dyrektor ds. informacji</a:t>
                      </a:r>
                    </a:p>
                  </a:txBody>
                  <a:tcPr anchor="ctr"/>
                </a:tc>
                <a:tc>
                  <a:txBody>
                    <a:bodyPr/>
                    <a:lstStyle/>
                    <a:p>
                      <a:pPr>
                        <a:buNone/>
                      </a:pPr>
                      <a:r>
                        <a:rPr lang="pl-PL" sz="1600" dirty="0">
                          <a:effectLst/>
                          <a:latin typeface="Google Sans Text"/>
                        </a:rPr>
                        <a:t>Chief Information </a:t>
                      </a:r>
                      <a:r>
                        <a:rPr lang="pl-PL" sz="1600" dirty="0" err="1">
                          <a:effectLst/>
                          <a:latin typeface="Google Sans Text"/>
                        </a:rPr>
                        <a:t>Officer</a:t>
                      </a:r>
                      <a:r>
                        <a:rPr lang="pl-PL" sz="1600" dirty="0">
                          <a:effectLst/>
                          <a:latin typeface="Google Sans Text"/>
                        </a:rPr>
                        <a:t> (CIO) </a:t>
                      </a:r>
                    </a:p>
                  </a:txBody>
                  <a:tcPr anchor="ctr"/>
                </a:tc>
                <a:extLst>
                  <a:ext uri="{0D108BD9-81ED-4DB2-BD59-A6C34878D82A}">
                    <a16:rowId xmlns:a16="http://schemas.microsoft.com/office/drawing/2014/main" val="3938703947"/>
                  </a:ext>
                </a:extLst>
              </a:tr>
              <a:tr h="0">
                <a:tc>
                  <a:txBody>
                    <a:bodyPr/>
                    <a:lstStyle/>
                    <a:p>
                      <a:pPr>
                        <a:buNone/>
                      </a:pPr>
                      <a:r>
                        <a:rPr lang="pl-PL" sz="1600" dirty="0">
                          <a:effectLst/>
                          <a:latin typeface="Google Sans Text"/>
                        </a:rPr>
                        <a:t>Prezes / dyrektor generalny</a:t>
                      </a:r>
                    </a:p>
                  </a:txBody>
                  <a:tcPr anchor="ctr"/>
                </a:tc>
                <a:tc>
                  <a:txBody>
                    <a:bodyPr/>
                    <a:lstStyle/>
                    <a:p>
                      <a:pPr>
                        <a:buNone/>
                      </a:pPr>
                      <a:r>
                        <a:rPr lang="pl-PL" sz="1600" dirty="0">
                          <a:effectLst/>
                          <a:latin typeface="Google Sans Text"/>
                        </a:rPr>
                        <a:t>Chief </a:t>
                      </a:r>
                      <a:r>
                        <a:rPr lang="pl-PL" sz="1600" dirty="0" err="1">
                          <a:effectLst/>
                          <a:latin typeface="Google Sans Text"/>
                        </a:rPr>
                        <a:t>Executive</a:t>
                      </a:r>
                      <a:r>
                        <a:rPr lang="pl-PL" sz="1600" dirty="0">
                          <a:effectLst/>
                          <a:latin typeface="Google Sans Text"/>
                        </a:rPr>
                        <a:t> </a:t>
                      </a:r>
                      <a:r>
                        <a:rPr lang="pl-PL" sz="1600" dirty="0" err="1">
                          <a:effectLst/>
                          <a:latin typeface="Google Sans Text"/>
                        </a:rPr>
                        <a:t>Officer</a:t>
                      </a:r>
                      <a:r>
                        <a:rPr lang="pl-PL" sz="1600" dirty="0">
                          <a:effectLst/>
                          <a:latin typeface="Google Sans Text"/>
                        </a:rPr>
                        <a:t> (CEO) </a:t>
                      </a:r>
                    </a:p>
                  </a:txBody>
                  <a:tcPr anchor="ctr"/>
                </a:tc>
                <a:extLst>
                  <a:ext uri="{0D108BD9-81ED-4DB2-BD59-A6C34878D82A}">
                    <a16:rowId xmlns:a16="http://schemas.microsoft.com/office/drawing/2014/main" val="572434317"/>
                  </a:ext>
                </a:extLst>
              </a:tr>
              <a:tr h="0">
                <a:tc>
                  <a:txBody>
                    <a:bodyPr/>
                    <a:lstStyle/>
                    <a:p>
                      <a:pPr>
                        <a:buNone/>
                      </a:pPr>
                      <a:r>
                        <a:rPr lang="pl-PL" sz="1600" dirty="0">
                          <a:effectLst/>
                          <a:latin typeface="Google Sans Text"/>
                        </a:rPr>
                        <a:t>Dyrektor IT</a:t>
                      </a:r>
                    </a:p>
                  </a:txBody>
                  <a:tcPr anchor="ctr"/>
                </a:tc>
                <a:tc>
                  <a:txBody>
                    <a:bodyPr/>
                    <a:lstStyle/>
                    <a:p>
                      <a:pPr>
                        <a:buNone/>
                      </a:pPr>
                      <a:r>
                        <a:rPr lang="pl-PL" sz="1600" dirty="0">
                          <a:effectLst/>
                          <a:latin typeface="Google Sans Text"/>
                        </a:rPr>
                        <a:t>IT </a:t>
                      </a:r>
                      <a:r>
                        <a:rPr lang="pl-PL" sz="1600" dirty="0" err="1">
                          <a:effectLst/>
                          <a:latin typeface="Google Sans Text"/>
                        </a:rPr>
                        <a:t>Director</a:t>
                      </a:r>
                      <a:r>
                        <a:rPr lang="pl-PL" sz="1600" dirty="0">
                          <a:effectLst/>
                          <a:latin typeface="Google Sans Text"/>
                        </a:rPr>
                        <a:t> </a:t>
                      </a:r>
                    </a:p>
                  </a:txBody>
                  <a:tcPr anchor="ctr"/>
                </a:tc>
                <a:extLst>
                  <a:ext uri="{0D108BD9-81ED-4DB2-BD59-A6C34878D82A}">
                    <a16:rowId xmlns:a16="http://schemas.microsoft.com/office/drawing/2014/main" val="1612125494"/>
                  </a:ext>
                </a:extLst>
              </a:tr>
            </a:tbl>
          </a:graphicData>
        </a:graphic>
      </p:graphicFrame>
      <p:graphicFrame>
        <p:nvGraphicFramePr>
          <p:cNvPr id="5" name="Tabela 4">
            <a:extLst>
              <a:ext uri="{FF2B5EF4-FFF2-40B4-BE49-F238E27FC236}">
                <a16:creationId xmlns:a16="http://schemas.microsoft.com/office/drawing/2014/main" id="{3DA8E835-A877-F973-DBB1-E8E7036ECC0D}"/>
              </a:ext>
            </a:extLst>
          </p:cNvPr>
          <p:cNvGraphicFramePr>
            <a:graphicFrameLocks noGrp="1"/>
          </p:cNvGraphicFramePr>
          <p:nvPr>
            <p:extLst>
              <p:ext uri="{D42A27DB-BD31-4B8C-83A1-F6EECF244321}">
                <p14:modId xmlns:p14="http://schemas.microsoft.com/office/powerpoint/2010/main" val="1550594705"/>
              </p:ext>
            </p:extLst>
          </p:nvPr>
        </p:nvGraphicFramePr>
        <p:xfrm>
          <a:off x="6457953" y="488315"/>
          <a:ext cx="5245098" cy="6004560"/>
        </p:xfrm>
        <a:graphic>
          <a:graphicData uri="http://schemas.openxmlformats.org/drawingml/2006/table">
            <a:tbl>
              <a:tblPr>
                <a:tableStyleId>{5940675A-B579-460E-94D1-54222C63F5DA}</a:tableStyleId>
              </a:tblPr>
              <a:tblGrid>
                <a:gridCol w="2622549">
                  <a:extLst>
                    <a:ext uri="{9D8B030D-6E8A-4147-A177-3AD203B41FA5}">
                      <a16:colId xmlns:a16="http://schemas.microsoft.com/office/drawing/2014/main" val="2487429538"/>
                    </a:ext>
                  </a:extLst>
                </a:gridCol>
                <a:gridCol w="2622549">
                  <a:extLst>
                    <a:ext uri="{9D8B030D-6E8A-4147-A177-3AD203B41FA5}">
                      <a16:colId xmlns:a16="http://schemas.microsoft.com/office/drawing/2014/main" val="446003577"/>
                    </a:ext>
                  </a:extLst>
                </a:gridCol>
              </a:tblGrid>
              <a:tr h="0">
                <a:tc>
                  <a:txBody>
                    <a:bodyPr/>
                    <a:lstStyle/>
                    <a:p>
                      <a:pPr>
                        <a:buNone/>
                      </a:pPr>
                      <a:r>
                        <a:rPr lang="pl-PL" sz="1600" b="1" dirty="0">
                          <a:effectLst/>
                        </a:rPr>
                        <a:t>Termin polski</a:t>
                      </a:r>
                      <a:endParaRPr lang="pl-PL" sz="1600" dirty="0">
                        <a:effectLst/>
                        <a:latin typeface="Google Sans Text"/>
                      </a:endParaRPr>
                    </a:p>
                  </a:txBody>
                  <a:tcPr anchor="ctr"/>
                </a:tc>
                <a:tc>
                  <a:txBody>
                    <a:bodyPr/>
                    <a:lstStyle/>
                    <a:p>
                      <a:pPr>
                        <a:buNone/>
                      </a:pPr>
                      <a:r>
                        <a:rPr lang="pl-PL" sz="1600" b="1" dirty="0">
                          <a:effectLst/>
                        </a:rPr>
                        <a:t>Termin angielski</a:t>
                      </a:r>
                      <a:endParaRPr lang="pl-PL" sz="1600" dirty="0">
                        <a:effectLst/>
                        <a:latin typeface="Google Sans Text"/>
                      </a:endParaRPr>
                    </a:p>
                  </a:txBody>
                  <a:tcPr anchor="ctr"/>
                </a:tc>
                <a:extLst>
                  <a:ext uri="{0D108BD9-81ED-4DB2-BD59-A6C34878D82A}">
                    <a16:rowId xmlns:a16="http://schemas.microsoft.com/office/drawing/2014/main" val="1251428748"/>
                  </a:ext>
                </a:extLst>
              </a:tr>
              <a:tr h="0">
                <a:tc>
                  <a:txBody>
                    <a:bodyPr/>
                    <a:lstStyle/>
                    <a:p>
                      <a:pPr>
                        <a:buNone/>
                      </a:pPr>
                      <a:r>
                        <a:rPr lang="pl-PL" sz="1600">
                          <a:effectLst/>
                          <a:latin typeface="Google Sans Text"/>
                        </a:rPr>
                        <a:t>Infrastruktura</a:t>
                      </a:r>
                    </a:p>
                  </a:txBody>
                  <a:tcPr anchor="ctr"/>
                </a:tc>
                <a:tc>
                  <a:txBody>
                    <a:bodyPr/>
                    <a:lstStyle/>
                    <a:p>
                      <a:pPr>
                        <a:buNone/>
                      </a:pPr>
                      <a:r>
                        <a:rPr lang="pl-PL" sz="1600" dirty="0" err="1">
                          <a:effectLst/>
                          <a:latin typeface="Google Sans Text"/>
                        </a:rPr>
                        <a:t>Infrastructure</a:t>
                      </a:r>
                      <a:r>
                        <a:rPr lang="pl-PL" sz="1600" dirty="0">
                          <a:effectLst/>
                          <a:latin typeface="Google Sans Text"/>
                        </a:rPr>
                        <a:t> </a:t>
                      </a:r>
                    </a:p>
                  </a:txBody>
                  <a:tcPr anchor="ctr"/>
                </a:tc>
                <a:extLst>
                  <a:ext uri="{0D108BD9-81ED-4DB2-BD59-A6C34878D82A}">
                    <a16:rowId xmlns:a16="http://schemas.microsoft.com/office/drawing/2014/main" val="107702467"/>
                  </a:ext>
                </a:extLst>
              </a:tr>
              <a:tr h="0">
                <a:tc>
                  <a:txBody>
                    <a:bodyPr/>
                    <a:lstStyle/>
                    <a:p>
                      <a:pPr>
                        <a:buNone/>
                      </a:pPr>
                      <a:r>
                        <a:rPr lang="pl-PL" sz="1600">
                          <a:effectLst/>
                          <a:latin typeface="Google Sans Text"/>
                        </a:rPr>
                        <a:t>Rozwój oprogramowania</a:t>
                      </a:r>
                    </a:p>
                  </a:txBody>
                  <a:tcPr anchor="ctr"/>
                </a:tc>
                <a:tc>
                  <a:txBody>
                    <a:bodyPr/>
                    <a:lstStyle/>
                    <a:p>
                      <a:pPr>
                        <a:buNone/>
                      </a:pPr>
                      <a:r>
                        <a:rPr lang="pl-PL" sz="1600">
                          <a:effectLst/>
                          <a:latin typeface="Google Sans Text"/>
                        </a:rPr>
                        <a:t>Software Development </a:t>
                      </a:r>
                    </a:p>
                  </a:txBody>
                  <a:tcPr anchor="ctr"/>
                </a:tc>
                <a:extLst>
                  <a:ext uri="{0D108BD9-81ED-4DB2-BD59-A6C34878D82A}">
                    <a16:rowId xmlns:a16="http://schemas.microsoft.com/office/drawing/2014/main" val="3946231857"/>
                  </a:ext>
                </a:extLst>
              </a:tr>
              <a:tr h="0">
                <a:tc>
                  <a:txBody>
                    <a:bodyPr/>
                    <a:lstStyle/>
                    <a:p>
                      <a:pPr>
                        <a:buNone/>
                      </a:pPr>
                      <a:r>
                        <a:rPr lang="pl-PL" sz="1600">
                          <a:effectLst/>
                          <a:latin typeface="Google Sans Text"/>
                        </a:rPr>
                        <a:t>Cyberbezpieczeństwo</a:t>
                      </a:r>
                    </a:p>
                  </a:txBody>
                  <a:tcPr anchor="ctr"/>
                </a:tc>
                <a:tc>
                  <a:txBody>
                    <a:bodyPr/>
                    <a:lstStyle/>
                    <a:p>
                      <a:pPr>
                        <a:buNone/>
                      </a:pPr>
                      <a:r>
                        <a:rPr lang="pl-PL" sz="1600" dirty="0" err="1">
                          <a:effectLst/>
                          <a:latin typeface="Google Sans Text"/>
                        </a:rPr>
                        <a:t>Cybersecurity</a:t>
                      </a:r>
                      <a:r>
                        <a:rPr lang="pl-PL" sz="1600" dirty="0">
                          <a:effectLst/>
                          <a:latin typeface="Google Sans Text"/>
                        </a:rPr>
                        <a:t> </a:t>
                      </a:r>
                    </a:p>
                  </a:txBody>
                  <a:tcPr anchor="ctr"/>
                </a:tc>
                <a:extLst>
                  <a:ext uri="{0D108BD9-81ED-4DB2-BD59-A6C34878D82A}">
                    <a16:rowId xmlns:a16="http://schemas.microsoft.com/office/drawing/2014/main" val="2839804070"/>
                  </a:ext>
                </a:extLst>
              </a:tr>
              <a:tr h="0">
                <a:tc>
                  <a:txBody>
                    <a:bodyPr/>
                    <a:lstStyle/>
                    <a:p>
                      <a:pPr>
                        <a:buNone/>
                      </a:pPr>
                      <a:r>
                        <a:rPr lang="pl-PL" sz="1600">
                          <a:effectLst/>
                          <a:latin typeface="Google Sans Text"/>
                        </a:rPr>
                        <a:t>Dane i analityka</a:t>
                      </a:r>
                    </a:p>
                  </a:txBody>
                  <a:tcPr anchor="ctr"/>
                </a:tc>
                <a:tc>
                  <a:txBody>
                    <a:bodyPr/>
                    <a:lstStyle/>
                    <a:p>
                      <a:pPr>
                        <a:buNone/>
                      </a:pPr>
                      <a:r>
                        <a:rPr lang="pl-PL" sz="1600">
                          <a:effectLst/>
                          <a:latin typeface="Google Sans Text"/>
                        </a:rPr>
                        <a:t>Data &amp; Analytics </a:t>
                      </a:r>
                    </a:p>
                  </a:txBody>
                  <a:tcPr anchor="ctr"/>
                </a:tc>
                <a:extLst>
                  <a:ext uri="{0D108BD9-81ED-4DB2-BD59-A6C34878D82A}">
                    <a16:rowId xmlns:a16="http://schemas.microsoft.com/office/drawing/2014/main" val="4196220772"/>
                  </a:ext>
                </a:extLst>
              </a:tr>
              <a:tr h="0">
                <a:tc>
                  <a:txBody>
                    <a:bodyPr/>
                    <a:lstStyle/>
                    <a:p>
                      <a:pPr>
                        <a:buNone/>
                      </a:pPr>
                      <a:r>
                        <a:rPr lang="pl-PL" sz="1600">
                          <a:effectLst/>
                          <a:latin typeface="Google Sans Text"/>
                        </a:rPr>
                        <a:t>Zarządzanie produktem i projektem</a:t>
                      </a:r>
                    </a:p>
                  </a:txBody>
                  <a:tcPr anchor="ctr"/>
                </a:tc>
                <a:tc>
                  <a:txBody>
                    <a:bodyPr/>
                    <a:lstStyle/>
                    <a:p>
                      <a:pPr>
                        <a:buNone/>
                      </a:pPr>
                      <a:r>
                        <a:rPr lang="pl-PL" sz="1600" dirty="0">
                          <a:effectLst/>
                          <a:latin typeface="Google Sans Text"/>
                        </a:rPr>
                        <a:t>Product &amp; Project Management </a:t>
                      </a:r>
                    </a:p>
                  </a:txBody>
                  <a:tcPr anchor="ctr"/>
                </a:tc>
                <a:extLst>
                  <a:ext uri="{0D108BD9-81ED-4DB2-BD59-A6C34878D82A}">
                    <a16:rowId xmlns:a16="http://schemas.microsoft.com/office/drawing/2014/main" val="3523877386"/>
                  </a:ext>
                </a:extLst>
              </a:tr>
              <a:tr h="0">
                <a:tc>
                  <a:txBody>
                    <a:bodyPr/>
                    <a:lstStyle/>
                    <a:p>
                      <a:pPr>
                        <a:buNone/>
                      </a:pPr>
                      <a:r>
                        <a:rPr lang="pl-PL">
                          <a:effectLst/>
                          <a:latin typeface="Google Sans Text"/>
                        </a:rPr>
                        <a:t>Administrator systemów </a:t>
                      </a:r>
                    </a:p>
                  </a:txBody>
                  <a:tcPr anchor="ctr"/>
                </a:tc>
                <a:tc>
                  <a:txBody>
                    <a:bodyPr/>
                    <a:lstStyle/>
                    <a:p>
                      <a:pPr>
                        <a:buNone/>
                      </a:pPr>
                      <a:r>
                        <a:rPr lang="pl-PL" dirty="0">
                          <a:effectLst/>
                          <a:latin typeface="Google Sans Text"/>
                        </a:rPr>
                        <a:t>System Administrator </a:t>
                      </a:r>
                    </a:p>
                  </a:txBody>
                  <a:tcPr anchor="ctr"/>
                </a:tc>
                <a:extLst>
                  <a:ext uri="{0D108BD9-81ED-4DB2-BD59-A6C34878D82A}">
                    <a16:rowId xmlns:a16="http://schemas.microsoft.com/office/drawing/2014/main" val="1570037275"/>
                  </a:ext>
                </a:extLst>
              </a:tr>
              <a:tr h="0">
                <a:tc>
                  <a:txBody>
                    <a:bodyPr/>
                    <a:lstStyle/>
                    <a:p>
                      <a:pPr>
                        <a:buNone/>
                      </a:pPr>
                      <a:r>
                        <a:rPr lang="pl-PL">
                          <a:effectLst/>
                          <a:latin typeface="Google Sans Text"/>
                        </a:rPr>
                        <a:t>Inżynier ds. sieci </a:t>
                      </a:r>
                    </a:p>
                  </a:txBody>
                  <a:tcPr anchor="ctr"/>
                </a:tc>
                <a:tc>
                  <a:txBody>
                    <a:bodyPr/>
                    <a:lstStyle/>
                    <a:p>
                      <a:pPr>
                        <a:buNone/>
                      </a:pPr>
                      <a:r>
                        <a:rPr lang="pl-PL">
                          <a:effectLst/>
                          <a:latin typeface="Google Sans Text"/>
                        </a:rPr>
                        <a:t>Network Engineer </a:t>
                      </a:r>
                    </a:p>
                  </a:txBody>
                  <a:tcPr anchor="ctr"/>
                </a:tc>
                <a:extLst>
                  <a:ext uri="{0D108BD9-81ED-4DB2-BD59-A6C34878D82A}">
                    <a16:rowId xmlns:a16="http://schemas.microsoft.com/office/drawing/2014/main" val="1377500240"/>
                  </a:ext>
                </a:extLst>
              </a:tr>
              <a:tr h="0">
                <a:tc>
                  <a:txBody>
                    <a:bodyPr/>
                    <a:lstStyle/>
                    <a:p>
                      <a:pPr>
                        <a:buNone/>
                      </a:pPr>
                      <a:r>
                        <a:rPr lang="pl-PL">
                          <a:effectLst/>
                          <a:latin typeface="Google Sans Text"/>
                        </a:rPr>
                        <a:t>Architekt oprogramowania </a:t>
                      </a:r>
                    </a:p>
                  </a:txBody>
                  <a:tcPr anchor="ctr"/>
                </a:tc>
                <a:tc>
                  <a:txBody>
                    <a:bodyPr/>
                    <a:lstStyle/>
                    <a:p>
                      <a:pPr>
                        <a:buNone/>
                      </a:pPr>
                      <a:r>
                        <a:rPr lang="pl-PL">
                          <a:effectLst/>
                          <a:latin typeface="Google Sans Text"/>
                        </a:rPr>
                        <a:t>Software Architect </a:t>
                      </a:r>
                    </a:p>
                  </a:txBody>
                  <a:tcPr anchor="ctr"/>
                </a:tc>
                <a:extLst>
                  <a:ext uri="{0D108BD9-81ED-4DB2-BD59-A6C34878D82A}">
                    <a16:rowId xmlns:a16="http://schemas.microsoft.com/office/drawing/2014/main" val="2957881292"/>
                  </a:ext>
                </a:extLst>
              </a:tr>
              <a:tr h="0">
                <a:tc>
                  <a:txBody>
                    <a:bodyPr/>
                    <a:lstStyle/>
                    <a:p>
                      <a:pPr>
                        <a:buNone/>
                      </a:pPr>
                      <a:r>
                        <a:rPr lang="pl-PL">
                          <a:effectLst/>
                          <a:latin typeface="Google Sans Text"/>
                        </a:rPr>
                        <a:t>Kierownik zespołu programistów </a:t>
                      </a:r>
                    </a:p>
                  </a:txBody>
                  <a:tcPr anchor="ctr"/>
                </a:tc>
                <a:tc>
                  <a:txBody>
                    <a:bodyPr/>
                    <a:lstStyle/>
                    <a:p>
                      <a:pPr>
                        <a:buNone/>
                      </a:pPr>
                      <a:r>
                        <a:rPr lang="pl-PL">
                          <a:effectLst/>
                          <a:latin typeface="Google Sans Text"/>
                        </a:rPr>
                        <a:t>Team Lead / Technical Lead </a:t>
                      </a:r>
                    </a:p>
                  </a:txBody>
                  <a:tcPr anchor="ctr"/>
                </a:tc>
                <a:extLst>
                  <a:ext uri="{0D108BD9-81ED-4DB2-BD59-A6C34878D82A}">
                    <a16:rowId xmlns:a16="http://schemas.microsoft.com/office/drawing/2014/main" val="2491183602"/>
                  </a:ext>
                </a:extLst>
              </a:tr>
              <a:tr h="0">
                <a:tc>
                  <a:txBody>
                    <a:bodyPr/>
                    <a:lstStyle/>
                    <a:p>
                      <a:pPr>
                        <a:buNone/>
                      </a:pPr>
                      <a:r>
                        <a:rPr lang="pl-PL">
                          <a:effectLst/>
                          <a:latin typeface="Google Sans Text"/>
                        </a:rPr>
                        <a:t>Analityk ds. cyberbezpieczeństwa </a:t>
                      </a:r>
                    </a:p>
                  </a:txBody>
                  <a:tcPr anchor="ctr"/>
                </a:tc>
                <a:tc>
                  <a:txBody>
                    <a:bodyPr/>
                    <a:lstStyle/>
                    <a:p>
                      <a:pPr>
                        <a:buNone/>
                      </a:pPr>
                      <a:r>
                        <a:rPr lang="pl-PL">
                          <a:effectLst/>
                          <a:latin typeface="Google Sans Text"/>
                        </a:rPr>
                        <a:t>Cybersecurity Analyst </a:t>
                      </a:r>
                    </a:p>
                  </a:txBody>
                  <a:tcPr anchor="ctr"/>
                </a:tc>
                <a:extLst>
                  <a:ext uri="{0D108BD9-81ED-4DB2-BD59-A6C34878D82A}">
                    <a16:rowId xmlns:a16="http://schemas.microsoft.com/office/drawing/2014/main" val="4272742125"/>
                  </a:ext>
                </a:extLst>
              </a:tr>
              <a:tr h="0">
                <a:tc>
                  <a:txBody>
                    <a:bodyPr/>
                    <a:lstStyle/>
                    <a:p>
                      <a:pPr>
                        <a:buNone/>
                      </a:pPr>
                      <a:r>
                        <a:rPr lang="pl-PL">
                          <a:effectLst/>
                          <a:latin typeface="Google Sans Text"/>
                        </a:rPr>
                        <a:t>Kierownik produktu </a:t>
                      </a:r>
                    </a:p>
                  </a:txBody>
                  <a:tcPr anchor="ctr"/>
                </a:tc>
                <a:tc>
                  <a:txBody>
                    <a:bodyPr/>
                    <a:lstStyle/>
                    <a:p>
                      <a:pPr>
                        <a:buNone/>
                      </a:pPr>
                      <a:r>
                        <a:rPr lang="pl-PL">
                          <a:effectLst/>
                          <a:latin typeface="Google Sans Text"/>
                        </a:rPr>
                        <a:t>Product Manager </a:t>
                      </a:r>
                    </a:p>
                  </a:txBody>
                  <a:tcPr anchor="ctr"/>
                </a:tc>
                <a:extLst>
                  <a:ext uri="{0D108BD9-81ED-4DB2-BD59-A6C34878D82A}">
                    <a16:rowId xmlns:a16="http://schemas.microsoft.com/office/drawing/2014/main" val="3767582057"/>
                  </a:ext>
                </a:extLst>
              </a:tr>
              <a:tr h="0">
                <a:tc>
                  <a:txBody>
                    <a:bodyPr/>
                    <a:lstStyle/>
                    <a:p>
                      <a:pPr>
                        <a:buNone/>
                      </a:pPr>
                      <a:r>
                        <a:rPr lang="pl-PL">
                          <a:effectLst/>
                          <a:latin typeface="Google Sans Text"/>
                        </a:rPr>
                        <a:t>Kierownik projektu </a:t>
                      </a:r>
                    </a:p>
                  </a:txBody>
                  <a:tcPr anchor="ctr"/>
                </a:tc>
                <a:tc>
                  <a:txBody>
                    <a:bodyPr/>
                    <a:lstStyle/>
                    <a:p>
                      <a:pPr>
                        <a:buNone/>
                      </a:pPr>
                      <a:r>
                        <a:rPr lang="pl-PL">
                          <a:effectLst/>
                          <a:latin typeface="Google Sans Text"/>
                        </a:rPr>
                        <a:t>Project Manager </a:t>
                      </a:r>
                    </a:p>
                  </a:txBody>
                  <a:tcPr anchor="ctr"/>
                </a:tc>
                <a:extLst>
                  <a:ext uri="{0D108BD9-81ED-4DB2-BD59-A6C34878D82A}">
                    <a16:rowId xmlns:a16="http://schemas.microsoft.com/office/drawing/2014/main" val="2680875925"/>
                  </a:ext>
                </a:extLst>
              </a:tr>
              <a:tr h="0">
                <a:tc>
                  <a:txBody>
                    <a:bodyPr/>
                    <a:lstStyle/>
                    <a:p>
                      <a:pPr>
                        <a:buNone/>
                      </a:pPr>
                      <a:r>
                        <a:rPr lang="pl-PL">
                          <a:effectLst/>
                          <a:latin typeface="Google Sans Text"/>
                        </a:rPr>
                        <a:t>Analityk biznesowy </a:t>
                      </a:r>
                    </a:p>
                  </a:txBody>
                  <a:tcPr anchor="ctr"/>
                </a:tc>
                <a:tc>
                  <a:txBody>
                    <a:bodyPr/>
                    <a:lstStyle/>
                    <a:p>
                      <a:pPr>
                        <a:buNone/>
                      </a:pPr>
                      <a:r>
                        <a:rPr lang="pl-PL" dirty="0">
                          <a:effectLst/>
                          <a:latin typeface="Google Sans Text"/>
                        </a:rPr>
                        <a:t>Business </a:t>
                      </a:r>
                      <a:r>
                        <a:rPr lang="pl-PL" dirty="0" err="1">
                          <a:effectLst/>
                          <a:latin typeface="Google Sans Text"/>
                        </a:rPr>
                        <a:t>Analyst</a:t>
                      </a:r>
                      <a:r>
                        <a:rPr lang="pl-PL" dirty="0">
                          <a:effectLst/>
                          <a:latin typeface="Google Sans Text"/>
                        </a:rPr>
                        <a:t> </a:t>
                      </a:r>
                    </a:p>
                  </a:txBody>
                  <a:tcPr anchor="ctr"/>
                </a:tc>
                <a:extLst>
                  <a:ext uri="{0D108BD9-81ED-4DB2-BD59-A6C34878D82A}">
                    <a16:rowId xmlns:a16="http://schemas.microsoft.com/office/drawing/2014/main" val="3025700933"/>
                  </a:ext>
                </a:extLst>
              </a:tr>
            </a:tbl>
          </a:graphicData>
        </a:graphic>
      </p:graphicFrame>
    </p:spTree>
    <p:extLst>
      <p:ext uri="{BB962C8B-B14F-4D97-AF65-F5344CB8AC3E}">
        <p14:creationId xmlns:p14="http://schemas.microsoft.com/office/powerpoint/2010/main" val="2814769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7CE5EB52-1847-4C92-DFDF-28A0749A933D}"/>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Rodzaje struktur organizacyjnych</a:t>
            </a:r>
          </a:p>
        </p:txBody>
      </p:sp>
      <p:sp>
        <p:nvSpPr>
          <p:cNvPr id="3" name="Symbol zastępczy zawartości 2">
            <a:extLst>
              <a:ext uri="{FF2B5EF4-FFF2-40B4-BE49-F238E27FC236}">
                <a16:creationId xmlns:a16="http://schemas.microsoft.com/office/drawing/2014/main" id="{4D11D6EA-1FF5-26BA-0168-FB2C32DCDC8D}"/>
              </a:ext>
            </a:extLst>
          </p:cNvPr>
          <p:cNvSpPr>
            <a:spLocks noGrp="1"/>
          </p:cNvSpPr>
          <p:nvPr>
            <p:ph idx="1"/>
          </p:nvPr>
        </p:nvSpPr>
        <p:spPr>
          <a:xfrm>
            <a:off x="6172200" y="804672"/>
            <a:ext cx="5221224" cy="5230368"/>
          </a:xfrm>
        </p:spPr>
        <p:txBody>
          <a:bodyPr anchor="ctr">
            <a:normAutofit/>
          </a:bodyPr>
          <a:lstStyle/>
          <a:p>
            <a:pPr fontAlgn="ctr"/>
            <a:r>
              <a:rPr lang="pl-PL" sz="1800">
                <a:solidFill>
                  <a:schemeClr val="tx2"/>
                </a:solidFill>
              </a:rPr>
              <a:t>Struktura scentralizowana</a:t>
            </a:r>
          </a:p>
          <a:p>
            <a:pPr fontAlgn="ctr"/>
            <a:r>
              <a:rPr lang="pl-PL" sz="1800">
                <a:solidFill>
                  <a:schemeClr val="tx2"/>
                </a:solidFill>
              </a:rPr>
              <a:t>Struktura zdecentralizowana</a:t>
            </a:r>
          </a:p>
          <a:p>
            <a:pPr fontAlgn="ctr"/>
            <a:r>
              <a:rPr lang="pl-PL" sz="1800">
                <a:solidFill>
                  <a:schemeClr val="tx2"/>
                </a:solidFill>
              </a:rPr>
              <a:t>Struktura funkcjonalna</a:t>
            </a:r>
          </a:p>
          <a:p>
            <a:pPr fontAlgn="ctr"/>
            <a:r>
              <a:rPr lang="pl-PL" sz="1800">
                <a:solidFill>
                  <a:schemeClr val="tx2"/>
                </a:solidFill>
              </a:rPr>
              <a:t>Struktura macierzowa</a:t>
            </a:r>
          </a:p>
          <a:p>
            <a:pPr fontAlgn="ctr"/>
            <a:r>
              <a:rPr lang="pl-PL" sz="1800">
                <a:solidFill>
                  <a:schemeClr val="tx2"/>
                </a:solidFill>
              </a:rPr>
              <a:t>Struktura oparta na produkcie</a:t>
            </a:r>
          </a:p>
          <a:p>
            <a:pPr fontAlgn="ctr"/>
            <a:r>
              <a:rPr lang="pl-PL" sz="1800">
                <a:solidFill>
                  <a:schemeClr val="tx2"/>
                </a:solidFill>
              </a:rPr>
              <a:t>Struktura federacyjna</a:t>
            </a:r>
          </a:p>
          <a:p>
            <a:endParaRPr lang="pl-PL" sz="1800">
              <a:solidFill>
                <a:schemeClr val="tx2"/>
              </a:solidFill>
            </a:endParaRPr>
          </a:p>
        </p:txBody>
      </p:sp>
    </p:spTree>
    <p:extLst>
      <p:ext uri="{BB962C8B-B14F-4D97-AF65-F5344CB8AC3E}">
        <p14:creationId xmlns:p14="http://schemas.microsoft.com/office/powerpoint/2010/main" val="1637860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D56532ED-8D3D-B088-BCF7-D78AA4A80C59}"/>
              </a:ext>
            </a:extLst>
          </p:cNvPr>
          <p:cNvSpPr>
            <a:spLocks noGrp="1"/>
          </p:cNvSpPr>
          <p:nvPr>
            <p:ph type="title"/>
          </p:nvPr>
        </p:nvSpPr>
        <p:spPr>
          <a:xfrm>
            <a:off x="1179576" y="1261423"/>
            <a:ext cx="9829800" cy="1325880"/>
          </a:xfrm>
        </p:spPr>
        <p:txBody>
          <a:bodyPr anchor="b">
            <a:normAutofit/>
          </a:bodyPr>
          <a:lstStyle/>
          <a:p>
            <a:pPr algn="ctr" fontAlgn="ctr"/>
            <a:r>
              <a:rPr lang="pl-PL" sz="3600" dirty="0">
                <a:solidFill>
                  <a:schemeClr val="tx2"/>
                </a:solidFill>
              </a:rPr>
              <a:t>Struktura scentralizowana</a:t>
            </a:r>
          </a:p>
        </p:txBody>
      </p:sp>
      <p:grpSp>
        <p:nvGrpSpPr>
          <p:cNvPr id="1037" name="Group 1036">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038" name="Freeform: Shape 1037">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Freeform: Shape 1039">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1" name="Freeform: Shape 1040">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71D5D486-4273-86CA-922B-96FD4068028C}"/>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Wszystkie zadania związane z IT są wykonywane przez jeden zespół.</a:t>
            </a:r>
          </a:p>
          <a:p>
            <a:r>
              <a:rPr lang="pl-PL" sz="1800">
                <a:solidFill>
                  <a:schemeClr val="tx2"/>
                </a:solidFill>
              </a:rPr>
              <a:t>Decyzje są podejmowane w jednym miejscu.</a:t>
            </a:r>
          </a:p>
          <a:p>
            <a:r>
              <a:rPr lang="pl-PL" sz="1800">
                <a:solidFill>
                  <a:schemeClr val="tx2"/>
                </a:solidFill>
              </a:rPr>
              <a:t>Efektywność i bezpieczeństwo są ważniejsze niż łatwość wprowadzania zmian.</a:t>
            </a:r>
          </a:p>
        </p:txBody>
      </p:sp>
      <p:grpSp>
        <p:nvGrpSpPr>
          <p:cNvPr id="1043" name="Group 1042">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1044" name="Freeform: Shape 1043">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Freeform: Shape 1044">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Freeform: Shape 1045">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47" name="Freeform: Shape 1046">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8" name="Picture 4">
            <a:extLst>
              <a:ext uri="{FF2B5EF4-FFF2-40B4-BE49-F238E27FC236}">
                <a16:creationId xmlns:a16="http://schemas.microsoft.com/office/drawing/2014/main" id="{78DA749D-9A1F-9D99-3888-A98A871F9F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858009"/>
            <a:ext cx="4954693" cy="1176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57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4D19D61D-1E26-3B2E-EDA2-AAD5CB6BD75A}"/>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Cechy struktury scentralizowanej</a:t>
            </a:r>
          </a:p>
        </p:txBody>
      </p:sp>
      <p:sp>
        <p:nvSpPr>
          <p:cNvPr id="3" name="Symbol zastępczy zawartości 2">
            <a:extLst>
              <a:ext uri="{FF2B5EF4-FFF2-40B4-BE49-F238E27FC236}">
                <a16:creationId xmlns:a16="http://schemas.microsoft.com/office/drawing/2014/main" id="{A2578827-A53C-6C39-717F-2380A549471B}"/>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Potrzeba dużej kontroli nad infrastrukturą IT</a:t>
            </a:r>
          </a:p>
          <a:p>
            <a:r>
              <a:rPr lang="pl-PL" sz="1800">
                <a:solidFill>
                  <a:schemeClr val="tx2"/>
                </a:solidFill>
              </a:rPr>
              <a:t>Używana przy wymaganiu zgodności z przepisami</a:t>
            </a:r>
          </a:p>
          <a:p>
            <a:r>
              <a:rPr lang="pl-PL" sz="1800">
                <a:solidFill>
                  <a:schemeClr val="tx2"/>
                </a:solidFill>
              </a:rPr>
              <a:t>Wysokie standardy bezpieczeństwa</a:t>
            </a:r>
          </a:p>
          <a:p>
            <a:r>
              <a:rPr lang="pl-PL" sz="1800">
                <a:solidFill>
                  <a:schemeClr val="tx2"/>
                </a:solidFill>
              </a:rPr>
              <a:t>Wydajność i bezbłędność jest ważniejsza niż szybkość wdrożenia</a:t>
            </a:r>
          </a:p>
        </p:txBody>
      </p:sp>
    </p:spTree>
    <p:extLst>
      <p:ext uri="{BB962C8B-B14F-4D97-AF65-F5344CB8AC3E}">
        <p14:creationId xmlns:p14="http://schemas.microsoft.com/office/powerpoint/2010/main" val="2504129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294C43B1-C87D-328F-8930-A9B14E92DC2F}"/>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zdecentralizowana</a:t>
            </a:r>
          </a:p>
        </p:txBody>
      </p:sp>
      <p:grpSp>
        <p:nvGrpSpPr>
          <p:cNvPr id="2061" name="Group 206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062" name="Freeform: Shape 206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4" name="Freeform: Shape 206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5" name="Freeform: Shape 206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1F286E99-767A-A03B-66D5-DAB51451B035}"/>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Każda jednostka biznesowa posiada własny zespół IT.</a:t>
            </a:r>
          </a:p>
          <a:p>
            <a:r>
              <a:rPr lang="pl-PL" sz="1800">
                <a:solidFill>
                  <a:schemeClr val="tx2"/>
                </a:solidFill>
              </a:rPr>
              <a:t>Zespoły są niezależne od siebie i podejmują większość decyzji samodzielnie.</a:t>
            </a:r>
          </a:p>
          <a:p>
            <a:r>
              <a:rPr lang="pl-PL" sz="1800">
                <a:solidFill>
                  <a:schemeClr val="tx2"/>
                </a:solidFill>
              </a:rPr>
              <a:t>Podejmowane decyzje skupiają się na potrzebach danej jednostki biznesowej, mniej na utrzymywaniu standardów.</a:t>
            </a:r>
          </a:p>
        </p:txBody>
      </p:sp>
      <p:grpSp>
        <p:nvGrpSpPr>
          <p:cNvPr id="2067" name="Group 206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068" name="Freeform: Shape 206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Freeform: Shape 206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Freeform: Shape 206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071" name="Freeform: Shape 207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52" name="Picture 4">
            <a:extLst>
              <a:ext uri="{FF2B5EF4-FFF2-40B4-BE49-F238E27FC236}">
                <a16:creationId xmlns:a16="http://schemas.microsoft.com/office/drawing/2014/main" id="{F68AAE98-4739-3DF2-A23D-DA0998090A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482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817CEFE-4B64-EF79-A740-912D6C83E1B9}"/>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zdecentralizowanej</a:t>
            </a:r>
          </a:p>
        </p:txBody>
      </p:sp>
      <p:sp>
        <p:nvSpPr>
          <p:cNvPr id="3" name="Symbol zastępczy zawartości 2">
            <a:extLst>
              <a:ext uri="{FF2B5EF4-FFF2-40B4-BE49-F238E27FC236}">
                <a16:creationId xmlns:a16="http://schemas.microsoft.com/office/drawing/2014/main" id="{7F2F74AA-48F5-50F4-6F83-1F25B8627A53}"/>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Duże organizacje posiadające wiele niezwiązanych obszarów działalności.</a:t>
            </a:r>
          </a:p>
          <a:p>
            <a:r>
              <a:rPr lang="pl-PL" sz="1800">
                <a:solidFill>
                  <a:schemeClr val="tx2"/>
                </a:solidFill>
              </a:rPr>
              <a:t>Wymaganie szybkiej implementacji nie zależnej od innych jednostek.</a:t>
            </a:r>
          </a:p>
          <a:p>
            <a:r>
              <a:rPr lang="pl-PL" sz="1800">
                <a:solidFill>
                  <a:schemeClr val="tx2"/>
                </a:solidFill>
              </a:rPr>
              <a:t>Dedykowane technologie i brak standaryzacji </a:t>
            </a:r>
          </a:p>
          <a:p>
            <a:r>
              <a:rPr lang="pl-PL" sz="1800">
                <a:solidFill>
                  <a:schemeClr val="tx2"/>
                </a:solidFill>
              </a:rPr>
              <a:t>Wyższy koszt z powodu redundancji</a:t>
            </a:r>
          </a:p>
        </p:txBody>
      </p:sp>
    </p:spTree>
    <p:extLst>
      <p:ext uri="{BB962C8B-B14F-4D97-AF65-F5344CB8AC3E}">
        <p14:creationId xmlns:p14="http://schemas.microsoft.com/office/powerpoint/2010/main" val="4260619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0052494-A5C7-EB68-7F68-F0165D912B74}"/>
              </a:ext>
            </a:extLst>
          </p:cNvPr>
          <p:cNvSpPr>
            <a:spLocks noGrp="1"/>
          </p:cNvSpPr>
          <p:nvPr>
            <p:ph type="title"/>
          </p:nvPr>
        </p:nvSpPr>
        <p:spPr>
          <a:xfrm>
            <a:off x="1179576" y="1163848"/>
            <a:ext cx="9829800" cy="1325880"/>
          </a:xfrm>
        </p:spPr>
        <p:txBody>
          <a:bodyPr anchor="b">
            <a:normAutofit/>
          </a:bodyPr>
          <a:lstStyle/>
          <a:p>
            <a:pPr algn="ctr" fontAlgn="ctr"/>
            <a:r>
              <a:rPr lang="pl-PL" sz="3600">
                <a:solidFill>
                  <a:schemeClr val="tx2"/>
                </a:solidFill>
              </a:rPr>
              <a:t>Struktura funkcjonalna</a:t>
            </a:r>
          </a:p>
        </p:txBody>
      </p:sp>
      <p:grpSp>
        <p:nvGrpSpPr>
          <p:cNvPr id="3085" name="Group 3084">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3086" name="Freeform: Shape 3085">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8" name="Freeform: Shape 3087">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9" name="Freeform: Shape 3088">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76" name="Picture 4">
            <a:extLst>
              <a:ext uri="{FF2B5EF4-FFF2-40B4-BE49-F238E27FC236}">
                <a16:creationId xmlns:a16="http://schemas.microsoft.com/office/drawing/2014/main" id="{6E45400B-63CA-C5C7-024B-2D91FE93921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4671"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
        <p:nvSpPr>
          <p:cNvPr id="3" name="Symbol zastępczy zawartości 2">
            <a:extLst>
              <a:ext uri="{FF2B5EF4-FFF2-40B4-BE49-F238E27FC236}">
                <a16:creationId xmlns:a16="http://schemas.microsoft.com/office/drawing/2014/main" id="{6C49DDEC-2AFE-3032-59A6-43AD83355AB2}"/>
              </a:ext>
            </a:extLst>
          </p:cNvPr>
          <p:cNvSpPr>
            <a:spLocks noGrp="1"/>
          </p:cNvSpPr>
          <p:nvPr>
            <p:ph idx="1"/>
          </p:nvPr>
        </p:nvSpPr>
        <p:spPr>
          <a:xfrm>
            <a:off x="6354871" y="2827419"/>
            <a:ext cx="5029200" cy="3227626"/>
          </a:xfrm>
        </p:spPr>
        <p:txBody>
          <a:bodyPr anchor="ctr">
            <a:normAutofit/>
          </a:bodyPr>
          <a:lstStyle/>
          <a:p>
            <a:r>
              <a:rPr lang="pl-PL" sz="1800">
                <a:solidFill>
                  <a:schemeClr val="tx2"/>
                </a:solidFill>
              </a:rPr>
              <a:t>Struktura jest podzielona według kompetencji zespołów, nie jednostek biznesowych.</a:t>
            </a:r>
          </a:p>
          <a:p>
            <a:r>
              <a:rPr lang="pl-PL" sz="1800">
                <a:solidFill>
                  <a:schemeClr val="tx2"/>
                </a:solidFill>
              </a:rPr>
              <a:t>Sprzyja budowaniu wiedzy eksperckiej w wąskich dziedzinach</a:t>
            </a:r>
          </a:p>
          <a:p>
            <a:endParaRPr lang="pl-PL" sz="1800">
              <a:solidFill>
                <a:schemeClr val="tx2"/>
              </a:solidFill>
            </a:endParaRPr>
          </a:p>
        </p:txBody>
      </p:sp>
      <p:grpSp>
        <p:nvGrpSpPr>
          <p:cNvPr id="3091" name="Group 3090">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3092" name="Freeform: Shape 3091">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Freeform: Shape 3092">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Freeform: Shape 3093">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95" name="Freeform: Shape 3094">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6037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B86C9B9-3362-6C0C-5B78-F9B8A75DF833}"/>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funkcjonalnej</a:t>
            </a:r>
          </a:p>
        </p:txBody>
      </p:sp>
      <p:sp>
        <p:nvSpPr>
          <p:cNvPr id="3" name="Symbol zastępczy zawartości 2">
            <a:extLst>
              <a:ext uri="{FF2B5EF4-FFF2-40B4-BE49-F238E27FC236}">
                <a16:creationId xmlns:a16="http://schemas.microsoft.com/office/drawing/2014/main" id="{7DB7D298-6BE7-8E39-472E-3AE18BC7E845}"/>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stabilnych firm z ustanowionymi procesami.</a:t>
            </a:r>
          </a:p>
          <a:p>
            <a:r>
              <a:rPr lang="pl-PL" sz="1800">
                <a:solidFill>
                  <a:schemeClr val="tx2"/>
                </a:solidFill>
              </a:rPr>
              <a:t>Potrzeba ekspertyzy w wąskiej dziedzinie.</a:t>
            </a:r>
          </a:p>
          <a:p>
            <a:r>
              <a:rPr lang="pl-PL" sz="1800">
                <a:solidFill>
                  <a:schemeClr val="tx2"/>
                </a:solidFill>
              </a:rPr>
              <a:t>Efektywność operacji jest ważniejsza niż szybkość wdrożenia nowych rozwiązań</a:t>
            </a:r>
          </a:p>
          <a:p>
            <a:endParaRPr lang="pl-PL" sz="1800">
              <a:solidFill>
                <a:schemeClr val="tx2"/>
              </a:solidFill>
            </a:endParaRPr>
          </a:p>
          <a:p>
            <a:endParaRPr lang="pl-PL" sz="1800">
              <a:solidFill>
                <a:schemeClr val="tx2"/>
              </a:solidFill>
            </a:endParaRPr>
          </a:p>
        </p:txBody>
      </p:sp>
    </p:spTree>
    <p:extLst>
      <p:ext uri="{BB962C8B-B14F-4D97-AF65-F5344CB8AC3E}">
        <p14:creationId xmlns:p14="http://schemas.microsoft.com/office/powerpoint/2010/main" val="3682927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C8AAE988-9E00-AF6E-4CAB-E60007D2A402}"/>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macierzowa</a:t>
            </a:r>
          </a:p>
        </p:txBody>
      </p:sp>
      <p:grpSp>
        <p:nvGrpSpPr>
          <p:cNvPr id="4107" name="Group 4106">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4108" name="Freeform: Shape 4107">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Freeform: Shape 4108">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0" name="Freeform: Shape 4109">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Freeform: Shape 4110">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42027E9D-7C98-0343-B4AD-B5C95977F25E}"/>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Pracownicy podlegają jednocześnie kierownictwu technicznemu oraz liderom jednostek biznesowych.</a:t>
            </a:r>
          </a:p>
          <a:p>
            <a:r>
              <a:rPr lang="pl-PL" sz="1800">
                <a:solidFill>
                  <a:schemeClr val="tx2"/>
                </a:solidFill>
              </a:rPr>
              <a:t>Umożliwia ścisłą współprace z daną jednostką biznesową</a:t>
            </a:r>
          </a:p>
          <a:p>
            <a:r>
              <a:rPr lang="pl-PL" sz="1800">
                <a:solidFill>
                  <a:schemeClr val="tx2"/>
                </a:solidFill>
              </a:rPr>
              <a:t>Jednocześnie umożliwia utrzymywanie ogólnych standardów i bezpieczeństwa.</a:t>
            </a:r>
          </a:p>
        </p:txBody>
      </p:sp>
      <p:grpSp>
        <p:nvGrpSpPr>
          <p:cNvPr id="4113" name="Group 4112">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4114" name="Freeform: Shape 4113">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Freeform: Shape 4114">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Freeform: Shape 4115">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17" name="Freeform: Shape 4116">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098" name="Picture 2">
            <a:extLst>
              <a:ext uri="{FF2B5EF4-FFF2-40B4-BE49-F238E27FC236}">
                <a16:creationId xmlns:a16="http://schemas.microsoft.com/office/drawing/2014/main" id="{3C2037DE-9747-63A9-9C9C-169286DC51F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337766"/>
            <a:ext cx="4954693" cy="221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23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EB40F8CD-2D34-E14A-58C3-29E9039572D2}"/>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macierzowej</a:t>
            </a:r>
          </a:p>
        </p:txBody>
      </p:sp>
      <p:sp>
        <p:nvSpPr>
          <p:cNvPr id="3" name="Symbol zastępczy zawartości 2">
            <a:extLst>
              <a:ext uri="{FF2B5EF4-FFF2-40B4-BE49-F238E27FC236}">
                <a16:creationId xmlns:a16="http://schemas.microsoft.com/office/drawing/2014/main" id="{01A5FF47-3002-1B56-AF4A-F24B568C011B}"/>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organizacji które posiadają wiele jednostek biznesowych, które powinny posiadać wspólne standardy.</a:t>
            </a:r>
          </a:p>
          <a:p>
            <a:r>
              <a:rPr lang="pl-PL" sz="1800">
                <a:solidFill>
                  <a:schemeClr val="tx2"/>
                </a:solidFill>
              </a:rPr>
              <a:t>Potrzeba szybkiej implementacji oraz zgodności z normami prawnymi lub polityką bezpieczeństwa.</a:t>
            </a:r>
          </a:p>
          <a:p>
            <a:r>
              <a:rPr lang="pl-PL" sz="1800">
                <a:solidFill>
                  <a:schemeClr val="tx2"/>
                </a:solidFill>
              </a:rPr>
              <a:t>Podejmowanie decyzji jest wolniejsze ponieważ zespół musi komunikować się z dwoma zarządami</a:t>
            </a:r>
          </a:p>
        </p:txBody>
      </p:sp>
    </p:spTree>
    <p:extLst>
      <p:ext uri="{BB962C8B-B14F-4D97-AF65-F5344CB8AC3E}">
        <p14:creationId xmlns:p14="http://schemas.microsoft.com/office/powerpoint/2010/main" val="396538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E4102AD-FBAF-4386-9B3E-9E1223B86252}"/>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oparta na produkcie</a:t>
            </a:r>
          </a:p>
        </p:txBody>
      </p:sp>
      <p:grpSp>
        <p:nvGrpSpPr>
          <p:cNvPr id="5131" name="Group 513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5132" name="Freeform: Shape 513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Freeform: Shape 513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4" name="Freeform: Shape 513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5" name="Freeform: Shape 513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0B0D0C5B-FD55-C508-683F-684C17E19338}"/>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Struktura jest budowana wokół rozwiązań i produktów wytwarzanych przez firmę.</a:t>
            </a:r>
          </a:p>
          <a:p>
            <a:r>
              <a:rPr lang="pl-PL" sz="1800">
                <a:solidFill>
                  <a:schemeClr val="tx2"/>
                </a:solidFill>
              </a:rPr>
              <a:t>Każdy produkt jest samowystarczalny i posiada odrębny zespół IT.</a:t>
            </a:r>
          </a:p>
          <a:p>
            <a:r>
              <a:rPr lang="pl-PL" sz="1800">
                <a:solidFill>
                  <a:schemeClr val="tx2"/>
                </a:solidFill>
              </a:rPr>
              <a:t>Każdy zespół jest odpowiedzialny za swój produkt od początku do końca.</a:t>
            </a:r>
          </a:p>
        </p:txBody>
      </p:sp>
      <p:grpSp>
        <p:nvGrpSpPr>
          <p:cNvPr id="5137" name="Group 513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5138" name="Freeform: Shape 513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9" name="Freeform: Shape 513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0" name="Freeform: Shape 513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41" name="Freeform: Shape 514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122" name="Picture 2">
            <a:extLst>
              <a:ext uri="{FF2B5EF4-FFF2-40B4-BE49-F238E27FC236}">
                <a16:creationId xmlns:a16="http://schemas.microsoft.com/office/drawing/2014/main" id="{63527320-F014-E68C-DA78-FE2646381EE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319186"/>
            <a:ext cx="4954693" cy="2254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75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4A491535-AE55-ABCF-E377-5DE45B1D1BA5}"/>
              </a:ext>
            </a:extLst>
          </p:cNvPr>
          <p:cNvSpPr>
            <a:spLocks noGrp="1"/>
          </p:cNvSpPr>
          <p:nvPr>
            <p:ph type="title"/>
          </p:nvPr>
        </p:nvSpPr>
        <p:spPr>
          <a:xfrm>
            <a:off x="640080" y="1243013"/>
            <a:ext cx="3855720" cy="4371974"/>
          </a:xfrm>
        </p:spPr>
        <p:txBody>
          <a:bodyPr>
            <a:normAutofit/>
          </a:bodyPr>
          <a:lstStyle/>
          <a:p>
            <a:pPr fontAlgn="ctr"/>
            <a:r>
              <a:rPr lang="pl-PL" sz="3600">
                <a:solidFill>
                  <a:schemeClr val="tx2"/>
                </a:solidFill>
              </a:rPr>
              <a:t>Cechy struktury opartej na produkcie</a:t>
            </a:r>
          </a:p>
        </p:txBody>
      </p:sp>
      <p:sp>
        <p:nvSpPr>
          <p:cNvPr id="3" name="Symbol zastępczy zawartości 2">
            <a:extLst>
              <a:ext uri="{FF2B5EF4-FFF2-40B4-BE49-F238E27FC236}">
                <a16:creationId xmlns:a16="http://schemas.microsoft.com/office/drawing/2014/main" id="{F8C1E45B-2DCD-AFBF-4099-3679F09127CA}"/>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organizacji które wytwarzają produkty cyfrowe np. Netflix.</a:t>
            </a:r>
          </a:p>
          <a:p>
            <a:r>
              <a:rPr lang="pl-PL" sz="1800">
                <a:solidFill>
                  <a:schemeClr val="tx2"/>
                </a:solidFill>
              </a:rPr>
              <a:t>Innowacyjność i szybkość działania zespołu są ważniejsze od utrzymywania standardów.</a:t>
            </a:r>
          </a:p>
          <a:p>
            <a:r>
              <a:rPr lang="pl-PL" sz="1800">
                <a:solidFill>
                  <a:schemeClr val="tx2"/>
                </a:solidFill>
              </a:rPr>
              <a:t>Każdy zespół jest odpowiedzialny za osobny produkt więc może dochodzić do redundancji.</a:t>
            </a:r>
          </a:p>
        </p:txBody>
      </p:sp>
    </p:spTree>
    <p:extLst>
      <p:ext uri="{BB962C8B-B14F-4D97-AF65-F5344CB8AC3E}">
        <p14:creationId xmlns:p14="http://schemas.microsoft.com/office/powerpoint/2010/main" val="29836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98D20E6-2D5E-D723-FA02-535A775E5E93}"/>
              </a:ext>
            </a:extLst>
          </p:cNvPr>
          <p:cNvSpPr>
            <a:spLocks noGrp="1"/>
          </p:cNvSpPr>
          <p:nvPr>
            <p:ph type="title"/>
          </p:nvPr>
        </p:nvSpPr>
        <p:spPr>
          <a:xfrm>
            <a:off x="1179576" y="1261423"/>
            <a:ext cx="9829800" cy="1325880"/>
          </a:xfrm>
        </p:spPr>
        <p:txBody>
          <a:bodyPr anchor="b">
            <a:normAutofit/>
          </a:bodyPr>
          <a:lstStyle/>
          <a:p>
            <a:pPr algn="ctr" fontAlgn="ctr"/>
            <a:r>
              <a:rPr lang="pl-PL" sz="3600">
                <a:solidFill>
                  <a:schemeClr val="tx2"/>
                </a:solidFill>
              </a:rPr>
              <a:t>Struktura federacyjna</a:t>
            </a:r>
          </a:p>
        </p:txBody>
      </p:sp>
      <p:grpSp>
        <p:nvGrpSpPr>
          <p:cNvPr id="6155" name="Group 6154">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6156" name="Freeform: Shape 6155">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Freeform: Shape 6156">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8" name="Freeform: Shape 6157">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9" name="Freeform: Shape 6158">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3C3C26BA-91BF-C96A-2587-F938C53E92E7}"/>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Połączenie zcentralizowanej i zdecentralizowanej struktury.</a:t>
            </a:r>
          </a:p>
          <a:p>
            <a:r>
              <a:rPr lang="pl-PL" sz="1800">
                <a:solidFill>
                  <a:schemeClr val="tx2"/>
                </a:solidFill>
              </a:rPr>
              <a:t>Krytyczne usługi są nadzorowane centralnie, zapewniając standaryzacje i bezpieczeństwo.</a:t>
            </a:r>
          </a:p>
          <a:p>
            <a:r>
              <a:rPr lang="pl-PL" sz="1800">
                <a:solidFill>
                  <a:schemeClr val="tx2"/>
                </a:solidFill>
              </a:rPr>
              <a:t>Każda jednostka ma również swój zespół IT co pozwala na niezależne realizowanie codziennych zadań.</a:t>
            </a:r>
          </a:p>
        </p:txBody>
      </p:sp>
      <p:grpSp>
        <p:nvGrpSpPr>
          <p:cNvPr id="6161" name="Group 6160">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6162" name="Freeform: Shape 6161">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3" name="Freeform: Shape 6162">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4" name="Freeform: Shape 6163">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65" name="Freeform: Shape 6164">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146" name="Picture 2">
            <a:extLst>
              <a:ext uri="{FF2B5EF4-FFF2-40B4-BE49-F238E27FC236}">
                <a16:creationId xmlns:a16="http://schemas.microsoft.com/office/drawing/2014/main" id="{D22EF723-5717-D2FD-D32D-049E608EE18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597887"/>
            <a:ext cx="4954693" cy="1696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21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6D60A795-8221-50D4-FDBB-547B163B3839}"/>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Cechy struktury federacyjnej</a:t>
            </a:r>
          </a:p>
        </p:txBody>
      </p:sp>
      <p:sp>
        <p:nvSpPr>
          <p:cNvPr id="3" name="Symbol zastępczy zawartości 2">
            <a:extLst>
              <a:ext uri="{FF2B5EF4-FFF2-40B4-BE49-F238E27FC236}">
                <a16:creationId xmlns:a16="http://schemas.microsoft.com/office/drawing/2014/main" id="{B727EC79-078D-660D-6A80-D46C90A48C4D}"/>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Preferowane dla międzynarodowych korporacji, które potrzebują utrzymywać globalne standardy.</a:t>
            </a:r>
          </a:p>
          <a:p>
            <a:r>
              <a:rPr lang="pl-PL" sz="1800">
                <a:solidFill>
                  <a:schemeClr val="tx2"/>
                </a:solidFill>
              </a:rPr>
              <a:t>Ale także dostosowywać się do lokalnych potrzeb</a:t>
            </a:r>
          </a:p>
          <a:p>
            <a:r>
              <a:rPr lang="pl-PL" sz="1800">
                <a:solidFill>
                  <a:schemeClr val="tx2"/>
                </a:solidFill>
              </a:rPr>
              <a:t>Również dla firm które są innowacyjne jednak muszą spełniać przepisy i regulacje oraz dbać o bezpieczeństwo.</a:t>
            </a:r>
          </a:p>
        </p:txBody>
      </p:sp>
    </p:spTree>
    <p:extLst>
      <p:ext uri="{BB962C8B-B14F-4D97-AF65-F5344CB8AC3E}">
        <p14:creationId xmlns:p14="http://schemas.microsoft.com/office/powerpoint/2010/main" val="1136144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43A7A40-1AE6-4218-A8E0-8248174A5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D8AB40A-4374-4897-B5EE-9F8913476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09DF341E-E254-3101-FACF-20445AD7CB21}"/>
              </a:ext>
            </a:extLst>
          </p:cNvPr>
          <p:cNvSpPr>
            <a:spLocks noGrp="1"/>
          </p:cNvSpPr>
          <p:nvPr>
            <p:ph type="title"/>
          </p:nvPr>
        </p:nvSpPr>
        <p:spPr>
          <a:xfrm>
            <a:off x="8325852" y="1118937"/>
            <a:ext cx="3404937" cy="2683187"/>
          </a:xfrm>
        </p:spPr>
        <p:txBody>
          <a:bodyPr vert="horz" lIns="91440" tIns="45720" rIns="91440" bIns="45720" rtlCol="0" anchor="b">
            <a:normAutofit/>
          </a:bodyPr>
          <a:lstStyle/>
          <a:p>
            <a:r>
              <a:rPr lang="en-US" sz="4000" kern="1200">
                <a:solidFill>
                  <a:schemeClr val="tx2"/>
                </a:solidFill>
                <a:latin typeface="+mj-lt"/>
                <a:ea typeface="+mj-ea"/>
                <a:cs typeface="+mj-cs"/>
              </a:rPr>
              <a:t>Stanowiska pracy ze względu na doświadczenie</a:t>
            </a:r>
          </a:p>
        </p:txBody>
      </p:sp>
      <p:grpSp>
        <p:nvGrpSpPr>
          <p:cNvPr id="13" name="Group 12">
            <a:extLst>
              <a:ext uri="{FF2B5EF4-FFF2-40B4-BE49-F238E27FC236}">
                <a16:creationId xmlns:a16="http://schemas.microsoft.com/office/drawing/2014/main" id="{2783379C-045E-4010-ABDC-A270A0AA1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1" y="170308"/>
            <a:ext cx="2514948" cy="2174333"/>
            <a:chOff x="-305" y="-4155"/>
            <a:chExt cx="2514948" cy="2174333"/>
          </a:xfrm>
        </p:grpSpPr>
        <p:sp>
          <p:nvSpPr>
            <p:cNvPr id="14" name="Freeform: Shape 13">
              <a:extLst>
                <a:ext uri="{FF2B5EF4-FFF2-40B4-BE49-F238E27FC236}">
                  <a16:creationId xmlns:a16="http://schemas.microsoft.com/office/drawing/2014/main" id="{0B0AB1BF-11AE-4CFF-85EC-E51DBD316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26548A0-953E-4FBA-97A5-592ACAF42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84FA27B-CD1F-421B-BB4F-B141F02FF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3CDBD6AB-1AC7-4807-9C34-01139BB7C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F5FDDF18-F156-4D2D-82C6-F55008E338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3" y="4560734"/>
            <a:ext cx="3061446" cy="2297265"/>
            <a:chOff x="-305" y="-1"/>
            <a:chExt cx="3832880" cy="2876136"/>
          </a:xfrm>
        </p:grpSpPr>
        <p:sp>
          <p:nvSpPr>
            <p:cNvPr id="20" name="Freeform: Shape 19">
              <a:extLst>
                <a:ext uri="{FF2B5EF4-FFF2-40B4-BE49-F238E27FC236}">
                  <a16:creationId xmlns:a16="http://schemas.microsoft.com/office/drawing/2014/main" id="{3822C29E-FFDD-45BC-A286-9C00C8E2D2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9E2381D-1763-4D42-A3A2-B2345DD35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D2A622D5-9532-4E0C-B9A8-DAEDD4646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5C0ABE88-5ADF-4A31-8505-78968DBB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Tabela 3">
            <a:extLst>
              <a:ext uri="{FF2B5EF4-FFF2-40B4-BE49-F238E27FC236}">
                <a16:creationId xmlns:a16="http://schemas.microsoft.com/office/drawing/2014/main" id="{45AF9473-758B-289D-13B6-9BF2E300A8E9}"/>
              </a:ext>
            </a:extLst>
          </p:cNvPr>
          <p:cNvGraphicFramePr>
            <a:graphicFrameLocks noGrp="1"/>
          </p:cNvGraphicFramePr>
          <p:nvPr>
            <p:extLst>
              <p:ext uri="{D42A27DB-BD31-4B8C-83A1-F6EECF244321}">
                <p14:modId xmlns:p14="http://schemas.microsoft.com/office/powerpoint/2010/main" val="288953782"/>
              </p:ext>
            </p:extLst>
          </p:nvPr>
        </p:nvGraphicFramePr>
        <p:xfrm>
          <a:off x="1094150" y="1718665"/>
          <a:ext cx="6137551" cy="4166918"/>
        </p:xfrm>
        <a:graphic>
          <a:graphicData uri="http://schemas.openxmlformats.org/drawingml/2006/table">
            <a:tbl>
              <a:tblPr>
                <a:tableStyleId>{5940675A-B579-460E-94D1-54222C63F5DA}</a:tableStyleId>
              </a:tblPr>
              <a:tblGrid>
                <a:gridCol w="1405609">
                  <a:extLst>
                    <a:ext uri="{9D8B030D-6E8A-4147-A177-3AD203B41FA5}">
                      <a16:colId xmlns:a16="http://schemas.microsoft.com/office/drawing/2014/main" val="1065434078"/>
                    </a:ext>
                  </a:extLst>
                </a:gridCol>
                <a:gridCol w="1822606">
                  <a:extLst>
                    <a:ext uri="{9D8B030D-6E8A-4147-A177-3AD203B41FA5}">
                      <a16:colId xmlns:a16="http://schemas.microsoft.com/office/drawing/2014/main" val="3988042970"/>
                    </a:ext>
                  </a:extLst>
                </a:gridCol>
                <a:gridCol w="1437686">
                  <a:extLst>
                    <a:ext uri="{9D8B030D-6E8A-4147-A177-3AD203B41FA5}">
                      <a16:colId xmlns:a16="http://schemas.microsoft.com/office/drawing/2014/main" val="4280691139"/>
                    </a:ext>
                  </a:extLst>
                </a:gridCol>
                <a:gridCol w="1471650">
                  <a:extLst>
                    <a:ext uri="{9D8B030D-6E8A-4147-A177-3AD203B41FA5}">
                      <a16:colId xmlns:a16="http://schemas.microsoft.com/office/drawing/2014/main" val="802791284"/>
                    </a:ext>
                  </a:extLst>
                </a:gridCol>
              </a:tblGrid>
              <a:tr h="284750">
                <a:tc>
                  <a:txBody>
                    <a:bodyPr/>
                    <a:lstStyle/>
                    <a:p>
                      <a:pPr>
                        <a:buNone/>
                      </a:pPr>
                      <a:r>
                        <a:rPr lang="pl-PL" sz="1200" b="1">
                          <a:effectLst/>
                        </a:rPr>
                        <a:t>Kryterium</a:t>
                      </a:r>
                      <a:endParaRPr lang="pl-PL" sz="1200">
                        <a:effectLst/>
                        <a:latin typeface="Google Sans Text"/>
                      </a:endParaRPr>
                    </a:p>
                  </a:txBody>
                  <a:tcPr marL="60138" marR="60138" marT="30069" marB="30069" anchor="ctr"/>
                </a:tc>
                <a:tc>
                  <a:txBody>
                    <a:bodyPr/>
                    <a:lstStyle/>
                    <a:p>
                      <a:pPr>
                        <a:buNone/>
                      </a:pPr>
                      <a:r>
                        <a:rPr lang="pl-PL" sz="1200" b="1">
                          <a:effectLst/>
                        </a:rPr>
                        <a:t>Junior Developer</a:t>
                      </a:r>
                      <a:endParaRPr lang="pl-PL" sz="1200">
                        <a:effectLst/>
                        <a:latin typeface="Google Sans Text"/>
                      </a:endParaRPr>
                    </a:p>
                  </a:txBody>
                  <a:tcPr marL="60138" marR="60138" marT="30069" marB="30069" anchor="ctr"/>
                </a:tc>
                <a:tc>
                  <a:txBody>
                    <a:bodyPr/>
                    <a:lstStyle/>
                    <a:p>
                      <a:pPr>
                        <a:buNone/>
                      </a:pPr>
                      <a:r>
                        <a:rPr lang="pl-PL" sz="1200" b="1">
                          <a:effectLst/>
                        </a:rPr>
                        <a:t>Mid Developer</a:t>
                      </a:r>
                      <a:endParaRPr lang="pl-PL" sz="1200">
                        <a:effectLst/>
                        <a:latin typeface="Google Sans Text"/>
                      </a:endParaRPr>
                    </a:p>
                  </a:txBody>
                  <a:tcPr marL="60138" marR="60138" marT="30069" marB="30069" anchor="ctr"/>
                </a:tc>
                <a:tc>
                  <a:txBody>
                    <a:bodyPr/>
                    <a:lstStyle/>
                    <a:p>
                      <a:pPr>
                        <a:buNone/>
                      </a:pPr>
                      <a:r>
                        <a:rPr lang="pl-PL" sz="1200" b="1">
                          <a:effectLst/>
                        </a:rPr>
                        <a:t>Senior Developer</a:t>
                      </a:r>
                      <a:endParaRPr lang="pl-PL" sz="1200">
                        <a:effectLst/>
                        <a:latin typeface="Google Sans Text"/>
                      </a:endParaRPr>
                    </a:p>
                  </a:txBody>
                  <a:tcPr marL="60138" marR="60138" marT="30069" marB="30069" anchor="ctr"/>
                </a:tc>
                <a:extLst>
                  <a:ext uri="{0D108BD9-81ED-4DB2-BD59-A6C34878D82A}">
                    <a16:rowId xmlns:a16="http://schemas.microsoft.com/office/drawing/2014/main" val="2207069694"/>
                  </a:ext>
                </a:extLst>
              </a:tr>
              <a:tr h="284750">
                <a:tc>
                  <a:txBody>
                    <a:bodyPr/>
                    <a:lstStyle/>
                    <a:p>
                      <a:pPr>
                        <a:buNone/>
                      </a:pPr>
                      <a:r>
                        <a:rPr lang="pl-PL" sz="1200" b="1">
                          <a:effectLst/>
                        </a:rPr>
                        <a:t>Doświadczenie</a:t>
                      </a:r>
                      <a:endParaRPr lang="pl-PL" sz="1200">
                        <a:effectLst/>
                        <a:latin typeface="Google Sans Text"/>
                      </a:endParaRPr>
                    </a:p>
                  </a:txBody>
                  <a:tcPr marL="60138" marR="60138" marT="30069" marB="30069" anchor="ctr"/>
                </a:tc>
                <a:tc>
                  <a:txBody>
                    <a:bodyPr/>
                    <a:lstStyle/>
                    <a:p>
                      <a:pPr>
                        <a:buNone/>
                      </a:pPr>
                      <a:r>
                        <a:rPr lang="pl-PL" sz="1200">
                          <a:effectLst/>
                        </a:rPr>
                        <a:t>0 – 1,5 roku</a:t>
                      </a:r>
                      <a:endParaRPr lang="pl-PL" sz="1200">
                        <a:effectLst/>
                        <a:latin typeface="Google Sans Text"/>
                      </a:endParaRPr>
                    </a:p>
                  </a:txBody>
                  <a:tcPr marL="60138" marR="60138" marT="30069" marB="30069" anchor="ctr"/>
                </a:tc>
                <a:tc>
                  <a:txBody>
                    <a:bodyPr/>
                    <a:lstStyle/>
                    <a:p>
                      <a:pPr>
                        <a:buNone/>
                      </a:pPr>
                      <a:r>
                        <a:rPr lang="pl-PL" sz="1200">
                          <a:effectLst/>
                        </a:rPr>
                        <a:t>2 – 4 lata</a:t>
                      </a:r>
                      <a:endParaRPr lang="pl-PL" sz="1200">
                        <a:effectLst/>
                        <a:latin typeface="Google Sans Text"/>
                      </a:endParaRPr>
                    </a:p>
                  </a:txBody>
                  <a:tcPr marL="60138" marR="60138" marT="30069" marB="30069" anchor="ctr"/>
                </a:tc>
                <a:tc>
                  <a:txBody>
                    <a:bodyPr/>
                    <a:lstStyle/>
                    <a:p>
                      <a:pPr>
                        <a:buNone/>
                      </a:pPr>
                      <a:r>
                        <a:rPr lang="pl-PL" sz="1200">
                          <a:effectLst/>
                        </a:rPr>
                        <a:t>5 – 8 lat</a:t>
                      </a:r>
                      <a:endParaRPr lang="pl-PL" sz="1200">
                        <a:effectLst/>
                        <a:latin typeface="Google Sans Text"/>
                      </a:endParaRPr>
                    </a:p>
                  </a:txBody>
                  <a:tcPr marL="60138" marR="60138" marT="30069" marB="30069" anchor="ctr"/>
                </a:tc>
                <a:extLst>
                  <a:ext uri="{0D108BD9-81ED-4DB2-BD59-A6C34878D82A}">
                    <a16:rowId xmlns:a16="http://schemas.microsoft.com/office/drawing/2014/main" val="657617820"/>
                  </a:ext>
                </a:extLst>
              </a:tr>
              <a:tr h="647028">
                <a:tc>
                  <a:txBody>
                    <a:bodyPr/>
                    <a:lstStyle/>
                    <a:p>
                      <a:pPr>
                        <a:buNone/>
                      </a:pPr>
                      <a:r>
                        <a:rPr lang="pl-PL" sz="1200" b="1">
                          <a:effectLst/>
                        </a:rPr>
                        <a:t>Poziom samodzielności pracy</a:t>
                      </a:r>
                      <a:endParaRPr lang="pl-PL" sz="1200">
                        <a:effectLst/>
                        <a:latin typeface="Google Sans Text"/>
                      </a:endParaRPr>
                    </a:p>
                  </a:txBody>
                  <a:tcPr marL="60138" marR="60138" marT="30069" marB="30069" anchor="ctr"/>
                </a:tc>
                <a:tc>
                  <a:txBody>
                    <a:bodyPr/>
                    <a:lstStyle/>
                    <a:p>
                      <a:pPr>
                        <a:buNone/>
                      </a:pPr>
                      <a:r>
                        <a:rPr lang="pl-PL" sz="1200">
                          <a:effectLst/>
                        </a:rPr>
                        <a:t>Pod nadzorem</a:t>
                      </a:r>
                      <a:endParaRPr lang="pl-PL" sz="1200">
                        <a:effectLst/>
                        <a:latin typeface="Google Sans Text"/>
                      </a:endParaRPr>
                    </a:p>
                  </a:txBody>
                  <a:tcPr marL="60138" marR="60138" marT="30069" marB="30069" anchor="ctr"/>
                </a:tc>
                <a:tc>
                  <a:txBody>
                    <a:bodyPr/>
                    <a:lstStyle/>
                    <a:p>
                      <a:pPr>
                        <a:buNone/>
                      </a:pPr>
                      <a:r>
                        <a:rPr lang="pl-PL" sz="1200">
                          <a:effectLst/>
                          <a:latin typeface="Google Sans Text"/>
                        </a:rPr>
                        <a:t>Samodzielna / niewielki nadzór</a:t>
                      </a:r>
                    </a:p>
                  </a:txBody>
                  <a:tcPr marL="60138" marR="60138" marT="30069" marB="30069" anchor="ctr"/>
                </a:tc>
                <a:tc>
                  <a:txBody>
                    <a:bodyPr/>
                    <a:lstStyle/>
                    <a:p>
                      <a:pPr>
                        <a:buNone/>
                      </a:pPr>
                      <a:r>
                        <a:rPr lang="pl-PL" sz="1200">
                          <a:effectLst/>
                        </a:rPr>
                        <a:t>W pełni samodzielna</a:t>
                      </a:r>
                      <a:endParaRPr lang="pl-PL" sz="1200">
                        <a:effectLst/>
                        <a:latin typeface="Google Sans Text"/>
                      </a:endParaRPr>
                    </a:p>
                  </a:txBody>
                  <a:tcPr marL="60138" marR="60138" marT="30069" marB="30069" anchor="ctr"/>
                </a:tc>
                <a:extLst>
                  <a:ext uri="{0D108BD9-81ED-4DB2-BD59-A6C34878D82A}">
                    <a16:rowId xmlns:a16="http://schemas.microsoft.com/office/drawing/2014/main" val="3458626437"/>
                  </a:ext>
                </a:extLst>
              </a:tr>
              <a:tr h="828167">
                <a:tc>
                  <a:txBody>
                    <a:bodyPr/>
                    <a:lstStyle/>
                    <a:p>
                      <a:pPr>
                        <a:buNone/>
                      </a:pPr>
                      <a:r>
                        <a:rPr lang="pl-PL" sz="1200" b="1">
                          <a:effectLst/>
                        </a:rPr>
                        <a:t>Charakter zadań</a:t>
                      </a:r>
                      <a:endParaRPr lang="pl-PL" sz="1200">
                        <a:effectLst/>
                        <a:latin typeface="Google Sans Text"/>
                      </a:endParaRPr>
                    </a:p>
                  </a:txBody>
                  <a:tcPr marL="60138" marR="60138" marT="30069" marB="30069" anchor="ctr"/>
                </a:tc>
                <a:tc>
                  <a:txBody>
                    <a:bodyPr/>
                    <a:lstStyle/>
                    <a:p>
                      <a:pPr>
                        <a:buNone/>
                      </a:pPr>
                      <a:r>
                        <a:rPr lang="pl-PL" sz="1200">
                          <a:effectLst/>
                        </a:rPr>
                        <a:t>Proste, z góry narzucone czynności</a:t>
                      </a:r>
                      <a:endParaRPr lang="pl-PL" sz="1200">
                        <a:effectLst/>
                        <a:latin typeface="Google Sans Text"/>
                      </a:endParaRPr>
                    </a:p>
                  </a:txBody>
                  <a:tcPr marL="60138" marR="60138" marT="30069" marB="30069" anchor="ctr"/>
                </a:tc>
                <a:tc>
                  <a:txBody>
                    <a:bodyPr/>
                    <a:lstStyle/>
                    <a:p>
                      <a:pPr>
                        <a:buNone/>
                      </a:pPr>
                      <a:r>
                        <a:rPr lang="pl-PL" sz="1200">
                          <a:effectLst/>
                        </a:rPr>
                        <a:t>Rozwiązuje problemy na podstawie celów biznesowych</a:t>
                      </a:r>
                      <a:endParaRPr lang="pl-PL" sz="1200">
                        <a:effectLst/>
                        <a:latin typeface="Google Sans Text"/>
                      </a:endParaRPr>
                    </a:p>
                  </a:txBody>
                  <a:tcPr marL="60138" marR="60138" marT="30069" marB="30069" anchor="ctr"/>
                </a:tc>
                <a:tc>
                  <a:txBody>
                    <a:bodyPr/>
                    <a:lstStyle/>
                    <a:p>
                      <a:pPr>
                        <a:buNone/>
                      </a:pPr>
                      <a:r>
                        <a:rPr lang="pl-PL" sz="1200">
                          <a:effectLst/>
                        </a:rPr>
                        <a:t>Planowanie dalszych możliwości rozwoju projektu</a:t>
                      </a:r>
                      <a:endParaRPr lang="pl-PL" sz="1200">
                        <a:effectLst/>
                        <a:latin typeface="Google Sans Text"/>
                      </a:endParaRPr>
                    </a:p>
                  </a:txBody>
                  <a:tcPr marL="60138" marR="60138" marT="30069" marB="30069" anchor="ctr"/>
                </a:tc>
                <a:extLst>
                  <a:ext uri="{0D108BD9-81ED-4DB2-BD59-A6C34878D82A}">
                    <a16:rowId xmlns:a16="http://schemas.microsoft.com/office/drawing/2014/main" val="3080005211"/>
                  </a:ext>
                </a:extLst>
              </a:tr>
              <a:tr h="828167">
                <a:tc>
                  <a:txBody>
                    <a:bodyPr/>
                    <a:lstStyle/>
                    <a:p>
                      <a:pPr>
                        <a:buNone/>
                      </a:pPr>
                      <a:r>
                        <a:rPr lang="pl-PL" sz="1200" b="1">
                          <a:effectLst/>
                        </a:rPr>
                        <a:t>Decyzyjność</a:t>
                      </a:r>
                      <a:endParaRPr lang="pl-PL" sz="1200">
                        <a:effectLst/>
                        <a:latin typeface="Google Sans Text"/>
                      </a:endParaRPr>
                    </a:p>
                  </a:txBody>
                  <a:tcPr marL="60138" marR="60138" marT="30069" marB="30069" anchor="ctr"/>
                </a:tc>
                <a:tc>
                  <a:txBody>
                    <a:bodyPr/>
                    <a:lstStyle/>
                    <a:p>
                      <a:pPr>
                        <a:buNone/>
                      </a:pPr>
                      <a:r>
                        <a:rPr lang="pl-PL" sz="1200">
                          <a:effectLst/>
                        </a:rPr>
                        <a:t>Brak</a:t>
                      </a:r>
                      <a:endParaRPr lang="pl-PL" sz="1200">
                        <a:effectLst/>
                        <a:latin typeface="Google Sans Text"/>
                      </a:endParaRPr>
                    </a:p>
                  </a:txBody>
                  <a:tcPr marL="60138" marR="60138" marT="30069" marB="30069" anchor="ctr"/>
                </a:tc>
                <a:tc>
                  <a:txBody>
                    <a:bodyPr/>
                    <a:lstStyle/>
                    <a:p>
                      <a:pPr>
                        <a:buNone/>
                      </a:pPr>
                      <a:r>
                        <a:rPr lang="pl-PL" sz="1200">
                          <a:effectLst/>
                        </a:rPr>
                        <a:t>Podejmowanie bieżących decyzji projektowych.</a:t>
                      </a:r>
                      <a:endParaRPr lang="pl-PL" sz="1200">
                        <a:effectLst/>
                        <a:latin typeface="Google Sans Text"/>
                      </a:endParaRPr>
                    </a:p>
                  </a:txBody>
                  <a:tcPr marL="60138" marR="60138" marT="30069" marB="30069" anchor="ctr"/>
                </a:tc>
                <a:tc>
                  <a:txBody>
                    <a:bodyPr/>
                    <a:lstStyle/>
                    <a:p>
                      <a:pPr>
                        <a:buNone/>
                      </a:pPr>
                      <a:r>
                        <a:rPr lang="pl-PL" sz="1200">
                          <a:effectLst/>
                        </a:rPr>
                        <a:t>Podejmowanie </a:t>
                      </a:r>
                      <a:r>
                        <a:rPr lang="pl-PL" sz="1200" b="1">
                          <a:effectLst/>
                        </a:rPr>
                        <a:t>strategicznych</a:t>
                      </a:r>
                      <a:r>
                        <a:rPr lang="pl-PL" sz="1200">
                          <a:effectLst/>
                        </a:rPr>
                        <a:t> decyzji dla całego projektu.</a:t>
                      </a:r>
                      <a:endParaRPr lang="pl-PL" sz="1200">
                        <a:effectLst/>
                        <a:latin typeface="Google Sans Text"/>
                      </a:endParaRPr>
                    </a:p>
                  </a:txBody>
                  <a:tcPr marL="60138" marR="60138" marT="30069" marB="30069" anchor="ctr"/>
                </a:tc>
                <a:extLst>
                  <a:ext uri="{0D108BD9-81ED-4DB2-BD59-A6C34878D82A}">
                    <a16:rowId xmlns:a16="http://schemas.microsoft.com/office/drawing/2014/main" val="1181004110"/>
                  </a:ext>
                </a:extLst>
              </a:tr>
              <a:tr h="828167">
                <a:tc>
                  <a:txBody>
                    <a:bodyPr/>
                    <a:lstStyle/>
                    <a:p>
                      <a:pPr>
                        <a:buNone/>
                      </a:pPr>
                      <a:r>
                        <a:rPr lang="pl-PL" sz="1200" b="1">
                          <a:effectLst/>
                        </a:rPr>
                        <a:t>Kontakt z klientem</a:t>
                      </a:r>
                      <a:endParaRPr lang="pl-PL" sz="1200">
                        <a:effectLst/>
                        <a:latin typeface="Google Sans Text"/>
                      </a:endParaRPr>
                    </a:p>
                  </a:txBody>
                  <a:tcPr marL="60138" marR="60138" marT="30069" marB="30069" anchor="ctr"/>
                </a:tc>
                <a:tc>
                  <a:txBody>
                    <a:bodyPr/>
                    <a:lstStyle/>
                    <a:p>
                      <a:pPr>
                        <a:buNone/>
                      </a:pPr>
                      <a:r>
                        <a:rPr lang="pl-PL" sz="1200">
                          <a:effectLst/>
                        </a:rPr>
                        <a:t>Brak komunikacji z klientem.</a:t>
                      </a:r>
                      <a:endParaRPr lang="pl-PL" sz="1200">
                        <a:effectLst/>
                        <a:latin typeface="Google Sans Text"/>
                      </a:endParaRPr>
                    </a:p>
                  </a:txBody>
                  <a:tcPr marL="60138" marR="60138" marT="30069" marB="30069" anchor="ctr"/>
                </a:tc>
                <a:tc>
                  <a:txBody>
                    <a:bodyPr/>
                    <a:lstStyle/>
                    <a:p>
                      <a:pPr>
                        <a:buNone/>
                      </a:pPr>
                      <a:r>
                        <a:rPr lang="pl-PL" sz="1200">
                          <a:effectLst/>
                        </a:rPr>
                        <a:t>Omawianie z klientem założeń i rozwiązań projektowych.</a:t>
                      </a:r>
                      <a:endParaRPr lang="pl-PL" sz="1200">
                        <a:effectLst/>
                        <a:latin typeface="Google Sans Text"/>
                      </a:endParaRPr>
                    </a:p>
                  </a:txBody>
                  <a:tcPr marL="60138" marR="60138" marT="30069" marB="30069" anchor="ctr"/>
                </a:tc>
                <a:tc>
                  <a:txBody>
                    <a:bodyPr/>
                    <a:lstStyle/>
                    <a:p>
                      <a:pPr>
                        <a:buNone/>
                      </a:pPr>
                      <a:r>
                        <a:rPr lang="pl-PL" sz="1200">
                          <a:effectLst/>
                        </a:rPr>
                        <a:t>Bezpośrednie doradztwo technologiczne wspierające.</a:t>
                      </a:r>
                      <a:endParaRPr lang="pl-PL" sz="1200">
                        <a:effectLst/>
                        <a:latin typeface="Google Sans Text"/>
                      </a:endParaRPr>
                    </a:p>
                  </a:txBody>
                  <a:tcPr marL="60138" marR="60138" marT="30069" marB="30069" anchor="ctr"/>
                </a:tc>
                <a:extLst>
                  <a:ext uri="{0D108BD9-81ED-4DB2-BD59-A6C34878D82A}">
                    <a16:rowId xmlns:a16="http://schemas.microsoft.com/office/drawing/2014/main" val="2833374070"/>
                  </a:ext>
                </a:extLst>
              </a:tr>
              <a:tr h="465889">
                <a:tc>
                  <a:txBody>
                    <a:bodyPr/>
                    <a:lstStyle/>
                    <a:p>
                      <a:pPr>
                        <a:buNone/>
                      </a:pPr>
                      <a:r>
                        <a:rPr lang="pl-PL" sz="1200" b="1">
                          <a:effectLst/>
                        </a:rPr>
                        <a:t>Wymagania i wiedza</a:t>
                      </a:r>
                      <a:endParaRPr lang="pl-PL" sz="1200">
                        <a:effectLst/>
                        <a:latin typeface="Google Sans Text"/>
                      </a:endParaRPr>
                    </a:p>
                  </a:txBody>
                  <a:tcPr marL="60138" marR="60138" marT="30069" marB="30069" anchor="ctr"/>
                </a:tc>
                <a:tc>
                  <a:txBody>
                    <a:bodyPr/>
                    <a:lstStyle/>
                    <a:p>
                      <a:pPr>
                        <a:buNone/>
                      </a:pPr>
                      <a:r>
                        <a:rPr lang="pl-PL" sz="1200">
                          <a:effectLst/>
                        </a:rPr>
                        <a:t>Podstawy technologii/frameworku.</a:t>
                      </a:r>
                      <a:endParaRPr lang="pl-PL" sz="1200">
                        <a:effectLst/>
                        <a:latin typeface="Google Sans Text"/>
                      </a:endParaRPr>
                    </a:p>
                  </a:txBody>
                  <a:tcPr marL="60138" marR="60138" marT="30069" marB="30069" anchor="ctr"/>
                </a:tc>
                <a:tc>
                  <a:txBody>
                    <a:bodyPr/>
                    <a:lstStyle/>
                    <a:p>
                      <a:pPr>
                        <a:buNone/>
                      </a:pPr>
                      <a:r>
                        <a:rPr lang="pl-PL" sz="1200">
                          <a:effectLst/>
                        </a:rPr>
                        <a:t>Biegłość w narzędziach.</a:t>
                      </a:r>
                      <a:endParaRPr lang="pl-PL" sz="1200">
                        <a:effectLst/>
                        <a:latin typeface="Google Sans Text"/>
                      </a:endParaRPr>
                    </a:p>
                  </a:txBody>
                  <a:tcPr marL="60138" marR="60138" marT="30069" marB="30069" anchor="ctr"/>
                </a:tc>
                <a:tc>
                  <a:txBody>
                    <a:bodyPr/>
                    <a:lstStyle/>
                    <a:p>
                      <a:pPr>
                        <a:buNone/>
                      </a:pPr>
                      <a:r>
                        <a:rPr lang="pl-PL" sz="1200" dirty="0">
                          <a:effectLst/>
                        </a:rPr>
                        <a:t>Ekspercka wiedza i doświadczenie</a:t>
                      </a:r>
                      <a:endParaRPr lang="pl-PL" sz="1200" dirty="0">
                        <a:effectLst/>
                        <a:latin typeface="Google Sans Text"/>
                      </a:endParaRPr>
                    </a:p>
                  </a:txBody>
                  <a:tcPr marL="60138" marR="60138" marT="30069" marB="30069" anchor="ctr"/>
                </a:tc>
                <a:extLst>
                  <a:ext uri="{0D108BD9-81ED-4DB2-BD59-A6C34878D82A}">
                    <a16:rowId xmlns:a16="http://schemas.microsoft.com/office/drawing/2014/main" val="1945309273"/>
                  </a:ext>
                </a:extLst>
              </a:tr>
            </a:tbl>
          </a:graphicData>
        </a:graphic>
      </p:graphicFrame>
    </p:spTree>
    <p:extLst>
      <p:ext uri="{BB962C8B-B14F-4D97-AF65-F5344CB8AC3E}">
        <p14:creationId xmlns:p14="http://schemas.microsoft.com/office/powerpoint/2010/main" val="385611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DC6C5C9E-44B7-B1C8-19C8-7C8247E598E3}"/>
              </a:ext>
            </a:extLst>
          </p:cNvPr>
          <p:cNvSpPr>
            <a:spLocks noGrp="1"/>
          </p:cNvSpPr>
          <p:nvPr>
            <p:ph type="title"/>
          </p:nvPr>
        </p:nvSpPr>
        <p:spPr>
          <a:xfrm>
            <a:off x="640080" y="1243013"/>
            <a:ext cx="3855720" cy="4371974"/>
          </a:xfrm>
        </p:spPr>
        <p:txBody>
          <a:bodyPr>
            <a:normAutofit/>
          </a:bodyPr>
          <a:lstStyle/>
          <a:p>
            <a:r>
              <a:rPr lang="pl-PL" sz="3600" dirty="0">
                <a:solidFill>
                  <a:schemeClr val="tx2"/>
                </a:solidFill>
              </a:rPr>
              <a:t>Podział ról i stanowisk według specjalizacji</a:t>
            </a:r>
          </a:p>
        </p:txBody>
      </p:sp>
      <p:sp>
        <p:nvSpPr>
          <p:cNvPr id="3" name="Symbol zastępczy zawartości 2">
            <a:extLst>
              <a:ext uri="{FF2B5EF4-FFF2-40B4-BE49-F238E27FC236}">
                <a16:creationId xmlns:a16="http://schemas.microsoft.com/office/drawing/2014/main" id="{C54F4A1D-3F56-8042-6729-C3EC5C70FFBE}"/>
              </a:ext>
            </a:extLst>
          </p:cNvPr>
          <p:cNvSpPr>
            <a:spLocks noGrp="1"/>
          </p:cNvSpPr>
          <p:nvPr>
            <p:ph idx="1"/>
          </p:nvPr>
        </p:nvSpPr>
        <p:spPr>
          <a:xfrm>
            <a:off x="6172200" y="804672"/>
            <a:ext cx="5221224" cy="5230368"/>
          </a:xfrm>
        </p:spPr>
        <p:txBody>
          <a:bodyPr anchor="ctr">
            <a:normAutofit/>
          </a:bodyPr>
          <a:lstStyle/>
          <a:p>
            <a:r>
              <a:rPr lang="pl-PL" sz="1800" dirty="0">
                <a:solidFill>
                  <a:schemeClr val="tx2"/>
                </a:solidFill>
              </a:rPr>
              <a:t>Infrastruktura </a:t>
            </a:r>
          </a:p>
          <a:p>
            <a:r>
              <a:rPr lang="pl-PL" sz="1800" dirty="0">
                <a:solidFill>
                  <a:schemeClr val="tx2"/>
                </a:solidFill>
              </a:rPr>
              <a:t>Rozwój oprogramowania</a:t>
            </a:r>
          </a:p>
          <a:p>
            <a:r>
              <a:rPr lang="pl-PL" sz="1800" dirty="0" err="1">
                <a:solidFill>
                  <a:schemeClr val="tx2"/>
                </a:solidFill>
              </a:rPr>
              <a:t>Cyberbezpieczeństwo</a:t>
            </a:r>
            <a:endParaRPr lang="pl-PL" sz="1800" dirty="0">
              <a:solidFill>
                <a:schemeClr val="tx2"/>
              </a:solidFill>
            </a:endParaRPr>
          </a:p>
          <a:p>
            <a:r>
              <a:rPr lang="pl-PL" sz="1800" dirty="0">
                <a:solidFill>
                  <a:schemeClr val="tx2"/>
                </a:solidFill>
              </a:rPr>
              <a:t>Dane i analityka</a:t>
            </a:r>
          </a:p>
          <a:p>
            <a:r>
              <a:rPr lang="pl-PL" sz="1800" dirty="0">
                <a:solidFill>
                  <a:schemeClr val="tx2"/>
                </a:solidFill>
              </a:rPr>
              <a:t>Zarządzanie produktem i projektem</a:t>
            </a:r>
          </a:p>
        </p:txBody>
      </p:sp>
    </p:spTree>
    <p:extLst>
      <p:ext uri="{BB962C8B-B14F-4D97-AF65-F5344CB8AC3E}">
        <p14:creationId xmlns:p14="http://schemas.microsoft.com/office/powerpoint/2010/main" val="1990089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41" name="Rectangle 29">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1">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3" name="Group 33">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44" name="Freeform: Shape 34">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35">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36">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37">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38">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5B263E66-1C5F-05A2-A709-64AFC720CAA7}"/>
              </a:ext>
            </a:extLst>
          </p:cNvPr>
          <p:cNvSpPr>
            <a:spLocks noGrp="1"/>
          </p:cNvSpPr>
          <p:nvPr>
            <p:ph type="title"/>
          </p:nvPr>
        </p:nvSpPr>
        <p:spPr>
          <a:xfrm>
            <a:off x="804672" y="2023236"/>
            <a:ext cx="3659777" cy="2820908"/>
          </a:xfrm>
        </p:spPr>
        <p:txBody>
          <a:bodyPr vert="horz" lIns="91440" tIns="45720" rIns="91440" bIns="45720" rtlCol="0">
            <a:normAutofit/>
          </a:bodyPr>
          <a:lstStyle/>
          <a:p>
            <a:r>
              <a:rPr lang="pl-PL" sz="4000" kern="1200" dirty="0">
                <a:solidFill>
                  <a:schemeClr val="tx2"/>
                </a:solidFill>
                <a:latin typeface="+mj-lt"/>
                <a:ea typeface="+mj-ea"/>
                <a:cs typeface="+mj-cs"/>
              </a:rPr>
              <a:t>Infrastruktura</a:t>
            </a:r>
            <a:endParaRPr lang="en-US" sz="4000" kern="1200" dirty="0">
              <a:solidFill>
                <a:schemeClr val="tx2"/>
              </a:solidFill>
              <a:latin typeface="+mj-lt"/>
              <a:ea typeface="+mj-ea"/>
              <a:cs typeface="+mj-cs"/>
            </a:endParaRPr>
          </a:p>
        </p:txBody>
      </p:sp>
      <p:graphicFrame>
        <p:nvGraphicFramePr>
          <p:cNvPr id="6" name="Symbol zastępczy zawartości 5">
            <a:extLst>
              <a:ext uri="{FF2B5EF4-FFF2-40B4-BE49-F238E27FC236}">
                <a16:creationId xmlns:a16="http://schemas.microsoft.com/office/drawing/2014/main" id="{5B8E5A85-A604-6E95-3DDE-F9FE4B476A99}"/>
              </a:ext>
            </a:extLst>
          </p:cNvPr>
          <p:cNvGraphicFramePr>
            <a:graphicFrameLocks noGrp="1"/>
          </p:cNvGraphicFramePr>
          <p:nvPr>
            <p:ph idx="1"/>
            <p:extLst>
              <p:ext uri="{D42A27DB-BD31-4B8C-83A1-F6EECF244321}">
                <p14:modId xmlns:p14="http://schemas.microsoft.com/office/powerpoint/2010/main" val="1449879599"/>
              </p:ext>
            </p:extLst>
          </p:nvPr>
        </p:nvGraphicFramePr>
        <p:xfrm>
          <a:off x="6091238" y="1296283"/>
          <a:ext cx="5115492" cy="4266561"/>
        </p:xfrm>
        <a:graphic>
          <a:graphicData uri="http://schemas.openxmlformats.org/drawingml/2006/table">
            <a:tbl>
              <a:tblPr>
                <a:tableStyleId>{5940675A-B579-460E-94D1-54222C63F5DA}</a:tableStyleId>
              </a:tblPr>
              <a:tblGrid>
                <a:gridCol w="2430907">
                  <a:extLst>
                    <a:ext uri="{9D8B030D-6E8A-4147-A177-3AD203B41FA5}">
                      <a16:colId xmlns:a16="http://schemas.microsoft.com/office/drawing/2014/main" val="3717093120"/>
                    </a:ext>
                  </a:extLst>
                </a:gridCol>
                <a:gridCol w="2684585">
                  <a:extLst>
                    <a:ext uri="{9D8B030D-6E8A-4147-A177-3AD203B41FA5}">
                      <a16:colId xmlns:a16="http://schemas.microsoft.com/office/drawing/2014/main" val="3777117450"/>
                    </a:ext>
                  </a:extLst>
                </a:gridCol>
              </a:tblGrid>
              <a:tr h="439139">
                <a:tc>
                  <a:txBody>
                    <a:bodyPr/>
                    <a:lstStyle/>
                    <a:p>
                      <a:pPr>
                        <a:buNone/>
                      </a:pPr>
                      <a:r>
                        <a:rPr lang="pl-PL" sz="1900" b="1">
                          <a:effectLst/>
                        </a:rPr>
                        <a:t>Stanowisko / rola</a:t>
                      </a:r>
                      <a:endParaRPr lang="pl-PL" sz="1900">
                        <a:effectLst/>
                        <a:latin typeface="Google Sans Text"/>
                      </a:endParaRPr>
                    </a:p>
                  </a:txBody>
                  <a:tcPr marL="98927" marR="98927" marT="49463" marB="49463" anchor="ctr"/>
                </a:tc>
                <a:tc>
                  <a:txBody>
                    <a:bodyPr/>
                    <a:lstStyle/>
                    <a:p>
                      <a:pPr>
                        <a:buNone/>
                      </a:pPr>
                      <a:r>
                        <a:rPr lang="pl-PL" sz="1900" b="1">
                          <a:effectLst/>
                        </a:rPr>
                        <a:t>Główne zadania</a:t>
                      </a:r>
                      <a:endParaRPr lang="pl-PL" sz="1900">
                        <a:effectLst/>
                        <a:latin typeface="Google Sans Text"/>
                      </a:endParaRPr>
                    </a:p>
                  </a:txBody>
                  <a:tcPr marL="98927" marR="98927" marT="49463" marB="49463" anchor="ctr"/>
                </a:tc>
                <a:extLst>
                  <a:ext uri="{0D108BD9-81ED-4DB2-BD59-A6C34878D82A}">
                    <a16:rowId xmlns:a16="http://schemas.microsoft.com/office/drawing/2014/main" val="825622662"/>
                  </a:ext>
                </a:extLst>
              </a:tr>
              <a:tr h="1030815">
                <a:tc>
                  <a:txBody>
                    <a:bodyPr/>
                    <a:lstStyle/>
                    <a:p>
                      <a:pPr>
                        <a:buNone/>
                      </a:pPr>
                      <a:r>
                        <a:rPr lang="pl-PL" sz="1900" b="1">
                          <a:effectLst/>
                        </a:rPr>
                        <a:t>System Administrator</a:t>
                      </a:r>
                      <a:endParaRPr lang="pl-PL" sz="1900">
                        <a:effectLst/>
                        <a:latin typeface="Google Sans Text"/>
                      </a:endParaRPr>
                    </a:p>
                  </a:txBody>
                  <a:tcPr marL="98927" marR="98927" marT="49463" marB="49463" anchor="ctr"/>
                </a:tc>
                <a:tc>
                  <a:txBody>
                    <a:bodyPr/>
                    <a:lstStyle/>
                    <a:p>
                      <a:pPr>
                        <a:buNone/>
                      </a:pPr>
                      <a:r>
                        <a:rPr lang="pl-PL" sz="1900">
                          <a:effectLst/>
                        </a:rPr>
                        <a:t>Zarządza serwerami i systemami operacyjnymi.</a:t>
                      </a:r>
                      <a:endParaRPr lang="pl-PL" sz="1900">
                        <a:effectLst/>
                        <a:latin typeface="Google Sans Text"/>
                      </a:endParaRPr>
                    </a:p>
                  </a:txBody>
                  <a:tcPr marL="98927" marR="98927" marT="49463" marB="49463" anchor="ctr"/>
                </a:tc>
                <a:extLst>
                  <a:ext uri="{0D108BD9-81ED-4DB2-BD59-A6C34878D82A}">
                    <a16:rowId xmlns:a16="http://schemas.microsoft.com/office/drawing/2014/main" val="3919380888"/>
                  </a:ext>
                </a:extLst>
              </a:tr>
              <a:tr h="734977">
                <a:tc>
                  <a:txBody>
                    <a:bodyPr/>
                    <a:lstStyle/>
                    <a:p>
                      <a:pPr>
                        <a:buNone/>
                      </a:pPr>
                      <a:r>
                        <a:rPr lang="pl-PL" sz="1900" b="1">
                          <a:effectLst/>
                        </a:rPr>
                        <a:t>Network Engineer</a:t>
                      </a:r>
                      <a:endParaRPr lang="pl-PL" sz="1900">
                        <a:effectLst/>
                        <a:latin typeface="Google Sans Text"/>
                      </a:endParaRPr>
                    </a:p>
                  </a:txBody>
                  <a:tcPr marL="98927" marR="98927" marT="49463" marB="49463" anchor="ctr"/>
                </a:tc>
                <a:tc>
                  <a:txBody>
                    <a:bodyPr/>
                    <a:lstStyle/>
                    <a:p>
                      <a:pPr>
                        <a:buNone/>
                      </a:pPr>
                      <a:r>
                        <a:rPr lang="pl-PL" sz="1900">
                          <a:effectLst/>
                        </a:rPr>
                        <a:t>Projektuje i utrzymuje sieci komputerowe.</a:t>
                      </a:r>
                      <a:endParaRPr lang="pl-PL" sz="1900">
                        <a:effectLst/>
                        <a:latin typeface="Google Sans Text"/>
                      </a:endParaRPr>
                    </a:p>
                  </a:txBody>
                  <a:tcPr marL="98927" marR="98927" marT="49463" marB="49463" anchor="ctr"/>
                </a:tc>
                <a:extLst>
                  <a:ext uri="{0D108BD9-81ED-4DB2-BD59-A6C34878D82A}">
                    <a16:rowId xmlns:a16="http://schemas.microsoft.com/office/drawing/2014/main" val="2050378085"/>
                  </a:ext>
                </a:extLst>
              </a:tr>
              <a:tr h="1030815">
                <a:tc>
                  <a:txBody>
                    <a:bodyPr/>
                    <a:lstStyle/>
                    <a:p>
                      <a:pPr>
                        <a:buNone/>
                      </a:pPr>
                      <a:r>
                        <a:rPr lang="pl-PL" sz="1900" b="1">
                          <a:effectLst/>
                        </a:rPr>
                        <a:t>Cloud Engineer</a:t>
                      </a:r>
                      <a:endParaRPr lang="pl-PL" sz="1900">
                        <a:effectLst/>
                        <a:latin typeface="Google Sans Text"/>
                      </a:endParaRPr>
                    </a:p>
                  </a:txBody>
                  <a:tcPr marL="98927" marR="98927" marT="49463" marB="49463" anchor="ctr"/>
                </a:tc>
                <a:tc>
                  <a:txBody>
                    <a:bodyPr/>
                    <a:lstStyle/>
                    <a:p>
                      <a:pPr>
                        <a:buNone/>
                      </a:pPr>
                      <a:r>
                        <a:rPr lang="pl-PL" sz="1900">
                          <a:effectLst/>
                        </a:rPr>
                        <a:t>Zarządza infrastrukturą w chmurze.</a:t>
                      </a:r>
                      <a:endParaRPr lang="pl-PL" sz="1900">
                        <a:effectLst/>
                        <a:latin typeface="Google Sans Text"/>
                      </a:endParaRPr>
                    </a:p>
                  </a:txBody>
                  <a:tcPr marL="98927" marR="98927" marT="49463" marB="49463" anchor="ctr"/>
                </a:tc>
                <a:extLst>
                  <a:ext uri="{0D108BD9-81ED-4DB2-BD59-A6C34878D82A}">
                    <a16:rowId xmlns:a16="http://schemas.microsoft.com/office/drawing/2014/main" val="4138772112"/>
                  </a:ext>
                </a:extLst>
              </a:tr>
              <a:tr h="1030815">
                <a:tc>
                  <a:txBody>
                    <a:bodyPr/>
                    <a:lstStyle/>
                    <a:p>
                      <a:pPr>
                        <a:buNone/>
                      </a:pPr>
                      <a:r>
                        <a:rPr lang="pl-PL" sz="1900" b="1">
                          <a:effectLst/>
                        </a:rPr>
                        <a:t>DevOps Engineer</a:t>
                      </a:r>
                      <a:endParaRPr lang="pl-PL" sz="1900">
                        <a:effectLst/>
                        <a:latin typeface="Google Sans Text"/>
                      </a:endParaRPr>
                    </a:p>
                  </a:txBody>
                  <a:tcPr marL="98927" marR="98927" marT="49463" marB="49463" anchor="ctr"/>
                </a:tc>
                <a:tc>
                  <a:txBody>
                    <a:bodyPr/>
                    <a:lstStyle/>
                    <a:p>
                      <a:pPr>
                        <a:buNone/>
                      </a:pPr>
                      <a:r>
                        <a:rPr lang="pl-PL" sz="1900">
                          <a:effectLst/>
                        </a:rPr>
                        <a:t>Automatyzuje procesy budowania i wdrażania aplikacji.</a:t>
                      </a:r>
                      <a:endParaRPr lang="pl-PL" sz="1900">
                        <a:effectLst/>
                        <a:latin typeface="Google Sans Text"/>
                      </a:endParaRPr>
                    </a:p>
                  </a:txBody>
                  <a:tcPr marL="98927" marR="98927" marT="49463" marB="49463" anchor="ctr"/>
                </a:tc>
                <a:extLst>
                  <a:ext uri="{0D108BD9-81ED-4DB2-BD59-A6C34878D82A}">
                    <a16:rowId xmlns:a16="http://schemas.microsoft.com/office/drawing/2014/main" val="2643940177"/>
                  </a:ext>
                </a:extLst>
              </a:tr>
            </a:tbl>
          </a:graphicData>
        </a:graphic>
      </p:graphicFrame>
    </p:spTree>
    <p:extLst>
      <p:ext uri="{BB962C8B-B14F-4D97-AF65-F5344CB8AC3E}">
        <p14:creationId xmlns:p14="http://schemas.microsoft.com/office/powerpoint/2010/main" val="158239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25">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27" name="Freeform: Shape 26">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7A6FF128-F332-0751-155D-13FB0D5D0CC3}"/>
              </a:ext>
            </a:extLst>
          </p:cNvPr>
          <p:cNvSpPr>
            <a:spLocks noGrp="1"/>
          </p:cNvSpPr>
          <p:nvPr>
            <p:ph type="title"/>
          </p:nvPr>
        </p:nvSpPr>
        <p:spPr>
          <a:xfrm>
            <a:off x="804672" y="2023236"/>
            <a:ext cx="3659777" cy="2820908"/>
          </a:xfrm>
        </p:spPr>
        <p:txBody>
          <a:bodyPr vert="horz" lIns="91440" tIns="45720" rIns="91440" bIns="45720" rtlCol="0">
            <a:normAutofit/>
          </a:bodyPr>
          <a:lstStyle/>
          <a:p>
            <a:r>
              <a:rPr lang="pl-PL" sz="4000" kern="1200" dirty="0">
                <a:solidFill>
                  <a:schemeClr val="tx2"/>
                </a:solidFill>
                <a:latin typeface="+mj-lt"/>
                <a:ea typeface="+mj-ea"/>
                <a:cs typeface="+mj-cs"/>
              </a:rPr>
              <a:t>Rozwój oprogramowania</a:t>
            </a:r>
            <a:endParaRPr lang="en-US" sz="4000" kern="1200" dirty="0">
              <a:solidFill>
                <a:schemeClr val="tx2"/>
              </a:solidFill>
              <a:latin typeface="+mj-lt"/>
              <a:ea typeface="+mj-ea"/>
              <a:cs typeface="+mj-cs"/>
            </a:endParaRPr>
          </a:p>
        </p:txBody>
      </p:sp>
      <p:graphicFrame>
        <p:nvGraphicFramePr>
          <p:cNvPr id="5" name="Symbol zastępczy zawartości 4">
            <a:extLst>
              <a:ext uri="{FF2B5EF4-FFF2-40B4-BE49-F238E27FC236}">
                <a16:creationId xmlns:a16="http://schemas.microsoft.com/office/drawing/2014/main" id="{678FF867-6BCB-35CA-5706-EA17935C81DF}"/>
              </a:ext>
            </a:extLst>
          </p:cNvPr>
          <p:cNvGraphicFramePr>
            <a:graphicFrameLocks noGrp="1"/>
          </p:cNvGraphicFramePr>
          <p:nvPr>
            <p:ph idx="1"/>
            <p:extLst>
              <p:ext uri="{D42A27DB-BD31-4B8C-83A1-F6EECF244321}">
                <p14:modId xmlns:p14="http://schemas.microsoft.com/office/powerpoint/2010/main" val="922555381"/>
              </p:ext>
            </p:extLst>
          </p:nvPr>
        </p:nvGraphicFramePr>
        <p:xfrm>
          <a:off x="6091238" y="1138742"/>
          <a:ext cx="5115492" cy="4581643"/>
        </p:xfrm>
        <a:graphic>
          <a:graphicData uri="http://schemas.openxmlformats.org/drawingml/2006/table">
            <a:tbl>
              <a:tblPr>
                <a:tableStyleId>{5940675A-B579-460E-94D1-54222C63F5DA}</a:tableStyleId>
              </a:tblPr>
              <a:tblGrid>
                <a:gridCol w="2464966">
                  <a:extLst>
                    <a:ext uri="{9D8B030D-6E8A-4147-A177-3AD203B41FA5}">
                      <a16:colId xmlns:a16="http://schemas.microsoft.com/office/drawing/2014/main" val="4209469967"/>
                    </a:ext>
                  </a:extLst>
                </a:gridCol>
                <a:gridCol w="2650526">
                  <a:extLst>
                    <a:ext uri="{9D8B030D-6E8A-4147-A177-3AD203B41FA5}">
                      <a16:colId xmlns:a16="http://schemas.microsoft.com/office/drawing/2014/main" val="2530866511"/>
                    </a:ext>
                  </a:extLst>
                </a:gridCol>
              </a:tblGrid>
              <a:tr h="418827">
                <a:tc>
                  <a:txBody>
                    <a:bodyPr/>
                    <a:lstStyle/>
                    <a:p>
                      <a:pPr>
                        <a:buNone/>
                      </a:pPr>
                      <a:r>
                        <a:rPr lang="pl-PL" sz="1300" b="1" cap="none" spc="0" dirty="0">
                          <a:solidFill>
                            <a:schemeClr val="tx1"/>
                          </a:solidFill>
                          <a:effectLst/>
                        </a:rPr>
                        <a:t>Stanowisko / rola</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b="1" cap="none" spc="0" dirty="0">
                          <a:solidFill>
                            <a:schemeClr val="tx1"/>
                          </a:solidFill>
                          <a:effectLst/>
                        </a:rPr>
                        <a:t>Główne zadania</a:t>
                      </a:r>
                      <a:endParaRPr lang="pl-PL" sz="1300" cap="none" spc="0" dirty="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3579736643"/>
                  </a:ext>
                </a:extLst>
              </a:tr>
              <a:tr h="418827">
                <a:tc>
                  <a:txBody>
                    <a:bodyPr/>
                    <a:lstStyle/>
                    <a:p>
                      <a:pPr>
                        <a:buNone/>
                      </a:pPr>
                      <a:r>
                        <a:rPr lang="pl-PL" sz="1300" b="1" cap="none" spc="0" dirty="0" err="1">
                          <a:solidFill>
                            <a:schemeClr val="tx1"/>
                          </a:solidFill>
                          <a:effectLst/>
                        </a:rPr>
                        <a:t>Frontend</a:t>
                      </a:r>
                      <a:r>
                        <a:rPr lang="pl-PL" sz="1300" b="1" cap="none" spc="0" dirty="0">
                          <a:solidFill>
                            <a:schemeClr val="tx1"/>
                          </a:solidFill>
                          <a:effectLst/>
                        </a:rPr>
                        <a:t> Developer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Tworzy interfejs użytkownika.</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2538232757"/>
                  </a:ext>
                </a:extLst>
              </a:tr>
              <a:tr h="418827">
                <a:tc>
                  <a:txBody>
                    <a:bodyPr/>
                    <a:lstStyle/>
                    <a:p>
                      <a:pPr>
                        <a:buNone/>
                      </a:pPr>
                      <a:r>
                        <a:rPr lang="pl-PL" sz="1300" b="1" cap="none" spc="0" dirty="0" err="1">
                          <a:solidFill>
                            <a:schemeClr val="tx1"/>
                          </a:solidFill>
                          <a:effectLst/>
                        </a:rPr>
                        <a:t>Backend</a:t>
                      </a:r>
                      <a:r>
                        <a:rPr lang="pl-PL" sz="1300" b="1" cap="none" spc="0" dirty="0">
                          <a:solidFill>
                            <a:schemeClr val="tx1"/>
                          </a:solidFill>
                          <a:effectLst/>
                        </a:rPr>
                        <a:t> Developer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Tworzy logikę aplikacji i API.</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3826318499"/>
                  </a:ext>
                </a:extLst>
              </a:tr>
              <a:tr h="621877">
                <a:tc>
                  <a:txBody>
                    <a:bodyPr/>
                    <a:lstStyle/>
                    <a:p>
                      <a:pPr>
                        <a:buNone/>
                      </a:pPr>
                      <a:r>
                        <a:rPr lang="pl-PL" sz="1300" b="1" cap="none" spc="0" dirty="0">
                          <a:solidFill>
                            <a:schemeClr val="tx1"/>
                          </a:solidFill>
                          <a:effectLst/>
                        </a:rPr>
                        <a:t>Full-</a:t>
                      </a:r>
                      <a:r>
                        <a:rPr lang="pl-PL" sz="1300" b="1" cap="none" spc="0" dirty="0" err="1">
                          <a:solidFill>
                            <a:schemeClr val="tx1"/>
                          </a:solidFill>
                          <a:effectLst/>
                        </a:rPr>
                        <a:t>Stack</a:t>
                      </a:r>
                      <a:r>
                        <a:rPr lang="pl-PL" sz="1300" b="1" cap="none" spc="0" dirty="0">
                          <a:solidFill>
                            <a:schemeClr val="tx1"/>
                          </a:solidFill>
                          <a:effectLst/>
                        </a:rPr>
                        <a:t> Developer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Pracuje nad frontendem i backendem.</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4035288136"/>
                  </a:ext>
                </a:extLst>
              </a:tr>
              <a:tr h="418827">
                <a:tc>
                  <a:txBody>
                    <a:bodyPr/>
                    <a:lstStyle/>
                    <a:p>
                      <a:pPr>
                        <a:buNone/>
                      </a:pPr>
                      <a:r>
                        <a:rPr lang="pl-PL" sz="1300" b="1" cap="none" spc="0" dirty="0">
                          <a:solidFill>
                            <a:schemeClr val="tx1"/>
                          </a:solidFill>
                          <a:effectLst/>
                        </a:rPr>
                        <a:t>Mobile Developer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Tworzy aplikacje mobilne.</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1518477908"/>
                  </a:ext>
                </a:extLst>
              </a:tr>
              <a:tr h="418827">
                <a:tc>
                  <a:txBody>
                    <a:bodyPr/>
                    <a:lstStyle/>
                    <a:p>
                      <a:pPr>
                        <a:buNone/>
                      </a:pPr>
                      <a:r>
                        <a:rPr lang="pl-PL" sz="1300" b="1" cap="none" spc="0" dirty="0">
                          <a:solidFill>
                            <a:schemeClr val="tx1"/>
                          </a:solidFill>
                          <a:effectLst/>
                        </a:rPr>
                        <a:t>Software Architect</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Projektuje architekturę systemu.</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3378478630"/>
                  </a:ext>
                </a:extLst>
              </a:tr>
              <a:tr h="418827">
                <a:tc>
                  <a:txBody>
                    <a:bodyPr/>
                    <a:lstStyle/>
                    <a:p>
                      <a:pPr>
                        <a:buNone/>
                      </a:pPr>
                      <a:r>
                        <a:rPr lang="pl-PL" sz="1300" b="1" cap="none" spc="0">
                          <a:solidFill>
                            <a:schemeClr val="tx1"/>
                          </a:solidFill>
                          <a:effectLst/>
                        </a:rPr>
                        <a:t>Team / Technical Lead</a:t>
                      </a:r>
                      <a:endParaRPr lang="pl-PL" sz="1300" cap="none" spc="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Prowadzi zespół programistów.</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1423827104"/>
                  </a:ext>
                </a:extLst>
              </a:tr>
              <a:tr h="824927">
                <a:tc>
                  <a:txBody>
                    <a:bodyPr/>
                    <a:lstStyle/>
                    <a:p>
                      <a:pPr>
                        <a:buNone/>
                      </a:pPr>
                      <a:r>
                        <a:rPr lang="pl-PL" sz="1300" b="1" cap="none" spc="0" dirty="0">
                          <a:solidFill>
                            <a:schemeClr val="tx1"/>
                          </a:solidFill>
                          <a:effectLst/>
                        </a:rPr>
                        <a:t>QA </a:t>
                      </a:r>
                      <a:r>
                        <a:rPr lang="pl-PL" sz="1300" b="1" cap="none" spc="0" dirty="0" err="1">
                          <a:solidFill>
                            <a:schemeClr val="tx1"/>
                          </a:solidFill>
                          <a:effectLst/>
                        </a:rPr>
                        <a:t>Engineer</a:t>
                      </a:r>
                      <a:r>
                        <a:rPr lang="pl-PL" sz="1300" b="1" cap="none" spc="0" dirty="0">
                          <a:solidFill>
                            <a:schemeClr val="tx1"/>
                          </a:solidFill>
                          <a:effectLst/>
                        </a:rPr>
                        <a:t> / Tester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a:solidFill>
                            <a:schemeClr val="tx1"/>
                          </a:solidFill>
                          <a:effectLst/>
                        </a:rPr>
                        <a:t>Odpowiada za testowanie oprogramowania i zapewnienie jakości.</a:t>
                      </a:r>
                      <a:endParaRPr lang="pl-PL" sz="1300" cap="none" spc="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2611511072"/>
                  </a:ext>
                </a:extLst>
              </a:tr>
              <a:tr h="621877">
                <a:tc>
                  <a:txBody>
                    <a:bodyPr/>
                    <a:lstStyle/>
                    <a:p>
                      <a:pPr>
                        <a:buNone/>
                      </a:pPr>
                      <a:r>
                        <a:rPr lang="pl-PL" sz="1300" b="1" cap="none" spc="0" dirty="0">
                          <a:solidFill>
                            <a:schemeClr val="tx1"/>
                          </a:solidFill>
                          <a:effectLst/>
                        </a:rPr>
                        <a:t>UI/UX Designer</a:t>
                      </a:r>
                      <a:endParaRPr lang="pl-PL" sz="1300" cap="none" spc="0" dirty="0">
                        <a:solidFill>
                          <a:schemeClr val="tx1"/>
                        </a:solidFill>
                        <a:effectLst/>
                        <a:latin typeface="Google Sans Text"/>
                      </a:endParaRPr>
                    </a:p>
                  </a:txBody>
                  <a:tcPr marL="111459" marR="54400" marT="85738" marB="85738" anchor="ctr"/>
                </a:tc>
                <a:tc>
                  <a:txBody>
                    <a:bodyPr/>
                    <a:lstStyle/>
                    <a:p>
                      <a:pPr>
                        <a:buNone/>
                      </a:pPr>
                      <a:r>
                        <a:rPr lang="pl-PL" sz="1300" cap="none" spc="0" dirty="0">
                          <a:solidFill>
                            <a:schemeClr val="tx1"/>
                          </a:solidFill>
                          <a:effectLst/>
                        </a:rPr>
                        <a:t>Projektuje ścieżki użytkownika i makiety wizualne.</a:t>
                      </a:r>
                      <a:endParaRPr lang="pl-PL" sz="1300" cap="none" spc="0" dirty="0">
                        <a:solidFill>
                          <a:schemeClr val="tx1"/>
                        </a:solidFill>
                        <a:effectLst/>
                        <a:latin typeface="Google Sans Text"/>
                      </a:endParaRPr>
                    </a:p>
                  </a:txBody>
                  <a:tcPr marL="111459" marR="54400" marT="85738" marB="85738" anchor="ctr"/>
                </a:tc>
                <a:extLst>
                  <a:ext uri="{0D108BD9-81ED-4DB2-BD59-A6C34878D82A}">
                    <a16:rowId xmlns:a16="http://schemas.microsoft.com/office/drawing/2014/main" val="410190119"/>
                  </a:ext>
                </a:extLst>
              </a:tr>
            </a:tbl>
          </a:graphicData>
        </a:graphic>
      </p:graphicFrame>
    </p:spTree>
    <p:extLst>
      <p:ext uri="{BB962C8B-B14F-4D97-AF65-F5344CB8AC3E}">
        <p14:creationId xmlns:p14="http://schemas.microsoft.com/office/powerpoint/2010/main" val="732423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8086AEC-04C2-4BC4-BFB8-0135965C7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0C3BE3F-B8A9-4DC9-A867-EC91736FA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25">
            <a:extLst>
              <a:ext uri="{FF2B5EF4-FFF2-40B4-BE49-F238E27FC236}">
                <a16:creationId xmlns:a16="http://schemas.microsoft.com/office/drawing/2014/main" id="{0CA2F3D1-53F2-478B-949B-6D4EA2E4E4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55386"/>
            <a:ext cx="5378624" cy="6402614"/>
            <a:chOff x="-19221" y="197691"/>
            <a:chExt cx="5378624" cy="6402614"/>
          </a:xfrm>
        </p:grpSpPr>
        <p:sp>
          <p:nvSpPr>
            <p:cNvPr id="27" name="Freeform: Shape 26">
              <a:extLst>
                <a:ext uri="{FF2B5EF4-FFF2-40B4-BE49-F238E27FC236}">
                  <a16:creationId xmlns:a16="http://schemas.microsoft.com/office/drawing/2014/main" id="{6E53A4EE-6F9B-4EC8-9840-708F509D9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CD8289AA-777C-4230-BABC-203458BF6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39D76777-71BF-4FFF-B568-E58E46EB1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72CDCD53-6393-431A-9E75-109BC8362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DA62198F-7D76-4A2A-9669-40E5E8A3C8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97691"/>
              <a:ext cx="5378623" cy="6402614"/>
            </a:xfrm>
            <a:custGeom>
              <a:avLst/>
              <a:gdLst>
                <a:gd name="connsiteX0" fmla="*/ 2220349 w 5378623"/>
                <a:gd name="connsiteY0" fmla="*/ 67 h 6402614"/>
                <a:gd name="connsiteX1" fmla="*/ 3018161 w 5378623"/>
                <a:gd name="connsiteY1" fmla="*/ 108191 h 6402614"/>
                <a:gd name="connsiteX2" fmla="*/ 5265831 w 5378623"/>
                <a:gd name="connsiteY2" fmla="*/ 4066338 h 6402614"/>
                <a:gd name="connsiteX3" fmla="*/ 2912752 w 5378623"/>
                <a:gd name="connsiteY3" fmla="*/ 6386691 h 6402614"/>
                <a:gd name="connsiteX4" fmla="*/ 2840648 w 5378623"/>
                <a:gd name="connsiteY4" fmla="*/ 6402614 h 6402614"/>
                <a:gd name="connsiteX5" fmla="*/ 1474249 w 5378623"/>
                <a:gd name="connsiteY5" fmla="*/ 6402614 h 6402614"/>
                <a:gd name="connsiteX6" fmla="*/ 1340218 w 5378623"/>
                <a:gd name="connsiteY6" fmla="*/ 6370360 h 6402614"/>
                <a:gd name="connsiteX7" fmla="*/ 204687 w 5378623"/>
                <a:gd name="connsiteY7" fmla="*/ 5802379 h 6402614"/>
                <a:gd name="connsiteX8" fmla="*/ 0 w 5378623"/>
                <a:gd name="connsiteY8" fmla="*/ 5624181 h 6402614"/>
                <a:gd name="connsiteX9" fmla="*/ 0 w 5378623"/>
                <a:gd name="connsiteY9" fmla="*/ 5197118 h 6402614"/>
                <a:gd name="connsiteX10" fmla="*/ 120950 w 5378623"/>
                <a:gd name="connsiteY10" fmla="*/ 5327736 h 6402614"/>
                <a:gd name="connsiteX11" fmla="*/ 553277 w 5378623"/>
                <a:gd name="connsiteY11" fmla="*/ 5674143 h 6402614"/>
                <a:gd name="connsiteX12" fmla="*/ 1048951 w 5378623"/>
                <a:gd name="connsiteY12" fmla="*/ 5913372 h 6402614"/>
                <a:gd name="connsiteX13" fmla="*/ 1114406 w 5378623"/>
                <a:gd name="connsiteY13" fmla="*/ 5935664 h 6402614"/>
                <a:gd name="connsiteX14" fmla="*/ 1180375 w 5378623"/>
                <a:gd name="connsiteY14" fmla="*/ 5956470 h 6402614"/>
                <a:gd name="connsiteX15" fmla="*/ 1247107 w 5378623"/>
                <a:gd name="connsiteY15" fmla="*/ 5975278 h 6402614"/>
                <a:gd name="connsiteX16" fmla="*/ 1313053 w 5378623"/>
                <a:gd name="connsiteY16" fmla="*/ 5991905 h 6402614"/>
                <a:gd name="connsiteX17" fmla="*/ 1578771 w 5378623"/>
                <a:gd name="connsiteY17" fmla="*/ 6035400 h 6402614"/>
                <a:gd name="connsiteX18" fmla="*/ 2116969 w 5378623"/>
                <a:gd name="connsiteY18" fmla="*/ 6005033 h 6402614"/>
                <a:gd name="connsiteX19" fmla="*/ 2648341 w 5378623"/>
                <a:gd name="connsiteY19" fmla="*/ 5837212 h 6402614"/>
                <a:gd name="connsiteX20" fmla="*/ 3166862 w 5378623"/>
                <a:gd name="connsiteY20" fmla="*/ 5582136 h 6402614"/>
                <a:gd name="connsiteX21" fmla="*/ 3295551 w 5378623"/>
                <a:gd name="connsiteY21" fmla="*/ 5510900 h 6402614"/>
                <a:gd name="connsiteX22" fmla="*/ 3426292 w 5378623"/>
                <a:gd name="connsiteY22" fmla="*/ 5437546 h 6402614"/>
                <a:gd name="connsiteX23" fmla="*/ 3693498 w 5378623"/>
                <a:gd name="connsiteY23" fmla="*/ 5296779 h 6402614"/>
                <a:gd name="connsiteX24" fmla="*/ 3957511 w 5378623"/>
                <a:gd name="connsiteY24" fmla="*/ 5162806 h 6402614"/>
                <a:gd name="connsiteX25" fmla="*/ 4212170 w 5378623"/>
                <a:gd name="connsiteY25" fmla="*/ 5024936 h 6402614"/>
                <a:gd name="connsiteX26" fmla="*/ 4449651 w 5378623"/>
                <a:gd name="connsiteY26" fmla="*/ 4870986 h 6402614"/>
                <a:gd name="connsiteX27" fmla="*/ 4659728 w 5378623"/>
                <a:gd name="connsiteY27" fmla="*/ 4689640 h 6402614"/>
                <a:gd name="connsiteX28" fmla="*/ 4830457 w 5378623"/>
                <a:gd name="connsiteY28" fmla="*/ 4472596 h 6402614"/>
                <a:gd name="connsiteX29" fmla="*/ 4955705 w 5378623"/>
                <a:gd name="connsiteY29" fmla="*/ 4222268 h 6402614"/>
                <a:gd name="connsiteX30" fmla="*/ 4968352 w 5378623"/>
                <a:gd name="connsiteY30" fmla="*/ 4189141 h 6402614"/>
                <a:gd name="connsiteX31" fmla="*/ 4979564 w 5378623"/>
                <a:gd name="connsiteY31" fmla="*/ 4155400 h 6402614"/>
                <a:gd name="connsiteX32" fmla="*/ 4990913 w 5378623"/>
                <a:gd name="connsiteY32" fmla="*/ 4121577 h 6402614"/>
                <a:gd name="connsiteX33" fmla="*/ 5000865 w 5378623"/>
                <a:gd name="connsiteY33" fmla="*/ 4086570 h 6402614"/>
                <a:gd name="connsiteX34" fmla="*/ 5020612 w 5378623"/>
                <a:gd name="connsiteY34" fmla="*/ 4016281 h 6402614"/>
                <a:gd name="connsiteX35" fmla="*/ 5030486 w 5378623"/>
                <a:gd name="connsiteY35" fmla="*/ 3981137 h 6402614"/>
                <a:gd name="connsiteX36" fmla="*/ 5035423 w 5378623"/>
                <a:gd name="connsiteY36" fmla="*/ 3963565 h 6402614"/>
                <a:gd name="connsiteX37" fmla="*/ 5039507 w 5378623"/>
                <a:gd name="connsiteY37" fmla="*/ 3945765 h 6402614"/>
                <a:gd name="connsiteX38" fmla="*/ 5071597 w 5378623"/>
                <a:gd name="connsiteY38" fmla="*/ 3802972 h 6402614"/>
                <a:gd name="connsiteX39" fmla="*/ 5096108 w 5378623"/>
                <a:gd name="connsiteY39" fmla="*/ 3658610 h 6402614"/>
                <a:gd name="connsiteX40" fmla="*/ 5113299 w 5378623"/>
                <a:gd name="connsiteY40" fmla="*/ 3512985 h 6402614"/>
                <a:gd name="connsiteX41" fmla="*/ 5115328 w 5378623"/>
                <a:gd name="connsiteY41" fmla="*/ 3494749 h 6402614"/>
                <a:gd name="connsiteX42" fmla="*/ 5116446 w 5378623"/>
                <a:gd name="connsiteY42" fmla="*/ 3476502 h 6402614"/>
                <a:gd name="connsiteX43" fmla="*/ 5118711 w 5378623"/>
                <a:gd name="connsiteY43" fmla="*/ 3439898 h 6402614"/>
                <a:gd name="connsiteX44" fmla="*/ 5123270 w 5378623"/>
                <a:gd name="connsiteY44" fmla="*/ 3366583 h 6402614"/>
                <a:gd name="connsiteX45" fmla="*/ 5121172 w 5378623"/>
                <a:gd name="connsiteY45" fmla="*/ 3072860 h 6402614"/>
                <a:gd name="connsiteX46" fmla="*/ 5119473 w 5378623"/>
                <a:gd name="connsiteY46" fmla="*/ 3036121 h 6402614"/>
                <a:gd name="connsiteX47" fmla="*/ 5116244 w 5378623"/>
                <a:gd name="connsiteY47" fmla="*/ 2999552 h 6402614"/>
                <a:gd name="connsiteX48" fmla="*/ 5109221 w 5378623"/>
                <a:gd name="connsiteY48" fmla="*/ 2926379 h 6402614"/>
                <a:gd name="connsiteX49" fmla="*/ 5089643 w 5378623"/>
                <a:gd name="connsiteY49" fmla="*/ 2780639 h 6402614"/>
                <a:gd name="connsiteX50" fmla="*/ 5084078 w 5378623"/>
                <a:gd name="connsiteY50" fmla="*/ 2744255 h 6402614"/>
                <a:gd name="connsiteX51" fmla="*/ 5077785 w 5378623"/>
                <a:gd name="connsiteY51" fmla="*/ 2708026 h 6402614"/>
                <a:gd name="connsiteX52" fmla="*/ 5063128 w 5378623"/>
                <a:gd name="connsiteY52" fmla="*/ 2636053 h 6402614"/>
                <a:gd name="connsiteX53" fmla="*/ 5047530 w 5378623"/>
                <a:gd name="connsiteY53" fmla="*/ 2564176 h 6402614"/>
                <a:gd name="connsiteX54" fmla="*/ 5028967 w 5378623"/>
                <a:gd name="connsiteY54" fmla="*/ 2493127 h 6402614"/>
                <a:gd name="connsiteX55" fmla="*/ 4822623 w 5378623"/>
                <a:gd name="connsiteY55" fmla="*/ 1944830 h 6402614"/>
                <a:gd name="connsiteX56" fmla="*/ 4108183 w 5378623"/>
                <a:gd name="connsiteY56" fmla="*/ 1038170 h 6402614"/>
                <a:gd name="connsiteX57" fmla="*/ 3638213 w 5378623"/>
                <a:gd name="connsiteY57" fmla="*/ 712395 h 6402614"/>
                <a:gd name="connsiteX58" fmla="*/ 3575480 w 5378623"/>
                <a:gd name="connsiteY58" fmla="*/ 678662 h 6402614"/>
                <a:gd name="connsiteX59" fmla="*/ 3512574 w 5378623"/>
                <a:gd name="connsiteY59" fmla="*/ 645577 h 6402614"/>
                <a:gd name="connsiteX60" fmla="*/ 3448603 w 5378623"/>
                <a:gd name="connsiteY60" fmla="*/ 614757 h 6402614"/>
                <a:gd name="connsiteX61" fmla="*/ 3416617 w 5378623"/>
                <a:gd name="connsiteY61" fmla="*/ 599347 h 6402614"/>
                <a:gd name="connsiteX62" fmla="*/ 3384352 w 5378623"/>
                <a:gd name="connsiteY62" fmla="*/ 584559 h 6402614"/>
                <a:gd name="connsiteX63" fmla="*/ 3254088 w 5378623"/>
                <a:gd name="connsiteY63" fmla="*/ 529021 h 6402614"/>
                <a:gd name="connsiteX64" fmla="*/ 3121640 w 5378623"/>
                <a:gd name="connsiteY64" fmla="*/ 479505 h 6402614"/>
                <a:gd name="connsiteX65" fmla="*/ 2987193 w 5378623"/>
                <a:gd name="connsiteY65" fmla="*/ 436176 h 6402614"/>
                <a:gd name="connsiteX66" fmla="*/ 2851296 w 5378623"/>
                <a:gd name="connsiteY66" fmla="*/ 398256 h 6402614"/>
                <a:gd name="connsiteX67" fmla="*/ 2573611 w 5378623"/>
                <a:gd name="connsiteY67" fmla="*/ 336717 h 6402614"/>
                <a:gd name="connsiteX68" fmla="*/ 2014208 w 5378623"/>
                <a:gd name="connsiteY68" fmla="*/ 276896 h 6402614"/>
                <a:gd name="connsiteX69" fmla="*/ 1457097 w 5378623"/>
                <a:gd name="connsiteY69" fmla="*/ 322828 h 6402614"/>
                <a:gd name="connsiteX70" fmla="*/ 914684 w 5378623"/>
                <a:gd name="connsiteY70" fmla="*/ 486648 h 6402614"/>
                <a:gd name="connsiteX71" fmla="*/ 848661 w 5378623"/>
                <a:gd name="connsiteY71" fmla="*/ 515093 h 6402614"/>
                <a:gd name="connsiteX72" fmla="*/ 782834 w 5378623"/>
                <a:gd name="connsiteY72" fmla="*/ 544519 h 6402614"/>
                <a:gd name="connsiteX73" fmla="*/ 717715 w 5378623"/>
                <a:gd name="connsiteY73" fmla="*/ 575988 h 6402614"/>
                <a:gd name="connsiteX74" fmla="*/ 653112 w 5378623"/>
                <a:gd name="connsiteY74" fmla="*/ 608523 h 6402614"/>
                <a:gd name="connsiteX75" fmla="*/ 406671 w 5378623"/>
                <a:gd name="connsiteY75" fmla="*/ 756246 h 6402614"/>
                <a:gd name="connsiteX76" fmla="*/ 191033 w 5378623"/>
                <a:gd name="connsiteY76" fmla="*/ 942131 h 6402614"/>
                <a:gd name="connsiteX77" fmla="*/ 143339 w 5378623"/>
                <a:gd name="connsiteY77" fmla="*/ 996006 h 6402614"/>
                <a:gd name="connsiteX78" fmla="*/ 98848 w 5378623"/>
                <a:gd name="connsiteY78" fmla="*/ 1053288 h 6402614"/>
                <a:gd name="connsiteX79" fmla="*/ 56083 w 5378623"/>
                <a:gd name="connsiteY79" fmla="*/ 1112657 h 6402614"/>
                <a:gd name="connsiteX80" fmla="*/ 14889 w 5378623"/>
                <a:gd name="connsiteY80" fmla="*/ 1173837 h 6402614"/>
                <a:gd name="connsiteX81" fmla="*/ 0 w 5378623"/>
                <a:gd name="connsiteY81" fmla="*/ 1198088 h 6402614"/>
                <a:gd name="connsiteX82" fmla="*/ 0 w 5378623"/>
                <a:gd name="connsiteY82" fmla="*/ 888809 h 6402614"/>
                <a:gd name="connsiteX83" fmla="*/ 88781 w 5378623"/>
                <a:gd name="connsiteY83" fmla="*/ 802825 h 6402614"/>
                <a:gd name="connsiteX84" fmla="*/ 2220349 w 5378623"/>
                <a:gd name="connsiteY84" fmla="*/ 67 h 640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378623" h="6402614">
                  <a:moveTo>
                    <a:pt x="2220349" y="67"/>
                  </a:moveTo>
                  <a:cubicBezTo>
                    <a:pt x="2484151" y="1784"/>
                    <a:pt x="2751801" y="36820"/>
                    <a:pt x="3018161" y="108191"/>
                  </a:cubicBezTo>
                  <a:cubicBezTo>
                    <a:pt x="4722867" y="564965"/>
                    <a:pt x="5729192" y="2337049"/>
                    <a:pt x="5265831" y="4066338"/>
                  </a:cubicBezTo>
                  <a:cubicBezTo>
                    <a:pt x="4947269" y="5255224"/>
                    <a:pt x="4017004" y="6114300"/>
                    <a:pt x="2912752" y="6386691"/>
                  </a:cubicBezTo>
                  <a:lnTo>
                    <a:pt x="2840648" y="6402614"/>
                  </a:lnTo>
                  <a:lnTo>
                    <a:pt x="1474249" y="6402614"/>
                  </a:lnTo>
                  <a:lnTo>
                    <a:pt x="1340218" y="6370360"/>
                  </a:lnTo>
                  <a:cubicBezTo>
                    <a:pt x="914042" y="6256167"/>
                    <a:pt x="531514" y="6059766"/>
                    <a:pt x="204687" y="5802379"/>
                  </a:cubicBezTo>
                  <a:lnTo>
                    <a:pt x="0" y="5624181"/>
                  </a:lnTo>
                  <a:lnTo>
                    <a:pt x="0" y="5197118"/>
                  </a:lnTo>
                  <a:lnTo>
                    <a:pt x="120950" y="5327736"/>
                  </a:lnTo>
                  <a:cubicBezTo>
                    <a:pt x="253827" y="5458395"/>
                    <a:pt x="397634" y="5575985"/>
                    <a:pt x="553277" y="5674143"/>
                  </a:cubicBezTo>
                  <a:cubicBezTo>
                    <a:pt x="708978" y="5772084"/>
                    <a:pt x="875421" y="5851690"/>
                    <a:pt x="1048951" y="5913372"/>
                  </a:cubicBezTo>
                  <a:cubicBezTo>
                    <a:pt x="1070860" y="5920750"/>
                    <a:pt x="1092382" y="5928719"/>
                    <a:pt x="1114406" y="5935664"/>
                  </a:cubicBezTo>
                  <a:lnTo>
                    <a:pt x="1180375" y="5956470"/>
                  </a:lnTo>
                  <a:lnTo>
                    <a:pt x="1247107" y="5975278"/>
                  </a:lnTo>
                  <a:cubicBezTo>
                    <a:pt x="1269462" y="5981848"/>
                    <a:pt x="1291029" y="5986236"/>
                    <a:pt x="1313053" y="5991905"/>
                  </a:cubicBezTo>
                  <a:cubicBezTo>
                    <a:pt x="1400808" y="6012869"/>
                    <a:pt x="1489584" y="6027036"/>
                    <a:pt x="1578771" y="6035400"/>
                  </a:cubicBezTo>
                  <a:cubicBezTo>
                    <a:pt x="1757312" y="6051941"/>
                    <a:pt x="1937844" y="6040152"/>
                    <a:pt x="2116969" y="6005033"/>
                  </a:cubicBezTo>
                  <a:cubicBezTo>
                    <a:pt x="2296104" y="5969454"/>
                    <a:pt x="2473717" y="5910978"/>
                    <a:pt x="2648341" y="5837212"/>
                  </a:cubicBezTo>
                  <a:cubicBezTo>
                    <a:pt x="2823148" y="5763610"/>
                    <a:pt x="2995347" y="5675863"/>
                    <a:pt x="3166862" y="5582136"/>
                  </a:cubicBezTo>
                  <a:cubicBezTo>
                    <a:pt x="3209843" y="5558645"/>
                    <a:pt x="3252667" y="5534880"/>
                    <a:pt x="3295551" y="5510900"/>
                  </a:cubicBezTo>
                  <a:lnTo>
                    <a:pt x="3426292" y="5437546"/>
                  </a:lnTo>
                  <a:cubicBezTo>
                    <a:pt x="3515217" y="5388460"/>
                    <a:pt x="3604599" y="5341930"/>
                    <a:pt x="3693498" y="5296779"/>
                  </a:cubicBezTo>
                  <a:lnTo>
                    <a:pt x="3957511" y="5162806"/>
                  </a:lnTo>
                  <a:cubicBezTo>
                    <a:pt x="4044259" y="5118005"/>
                    <a:pt x="4129592" y="5072941"/>
                    <a:pt x="4212170" y="5024936"/>
                  </a:cubicBezTo>
                  <a:cubicBezTo>
                    <a:pt x="4294563" y="4976766"/>
                    <a:pt x="4374532" y="4926554"/>
                    <a:pt x="4449651" y="4870986"/>
                  </a:cubicBezTo>
                  <a:cubicBezTo>
                    <a:pt x="4524973" y="4815937"/>
                    <a:pt x="4596075" y="4756163"/>
                    <a:pt x="4659728" y="4689640"/>
                  </a:cubicBezTo>
                  <a:cubicBezTo>
                    <a:pt x="4723566" y="4623283"/>
                    <a:pt x="4780828" y="4550758"/>
                    <a:pt x="4830457" y="4472596"/>
                  </a:cubicBezTo>
                  <a:cubicBezTo>
                    <a:pt x="4880087" y="4394434"/>
                    <a:pt x="4921716" y="4310302"/>
                    <a:pt x="4955705" y="4222268"/>
                  </a:cubicBezTo>
                  <a:lnTo>
                    <a:pt x="4968352" y="4189141"/>
                  </a:lnTo>
                  <a:lnTo>
                    <a:pt x="4979564" y="4155400"/>
                  </a:lnTo>
                  <a:lnTo>
                    <a:pt x="4990913" y="4121577"/>
                  </a:lnTo>
                  <a:cubicBezTo>
                    <a:pt x="4994441" y="4110119"/>
                    <a:pt x="4997522" y="4098194"/>
                    <a:pt x="5000865" y="4086570"/>
                  </a:cubicBezTo>
                  <a:lnTo>
                    <a:pt x="5020612" y="4016281"/>
                  </a:lnTo>
                  <a:lnTo>
                    <a:pt x="5030486" y="3981137"/>
                  </a:lnTo>
                  <a:lnTo>
                    <a:pt x="5035423" y="3963565"/>
                  </a:lnTo>
                  <a:lnTo>
                    <a:pt x="5039507" y="3945765"/>
                  </a:lnTo>
                  <a:cubicBezTo>
                    <a:pt x="5050088" y="3898175"/>
                    <a:pt x="5061308" y="3850756"/>
                    <a:pt x="5071597" y="3802972"/>
                  </a:cubicBezTo>
                  <a:lnTo>
                    <a:pt x="5096108" y="3658610"/>
                  </a:lnTo>
                  <a:cubicBezTo>
                    <a:pt x="5102684" y="3610180"/>
                    <a:pt x="5107604" y="3561536"/>
                    <a:pt x="5113299" y="3512985"/>
                  </a:cubicBezTo>
                  <a:lnTo>
                    <a:pt x="5115328" y="3494749"/>
                  </a:lnTo>
                  <a:lnTo>
                    <a:pt x="5116446" y="3476502"/>
                  </a:lnTo>
                  <a:lnTo>
                    <a:pt x="5118711" y="3439898"/>
                  </a:lnTo>
                  <a:lnTo>
                    <a:pt x="5123270" y="3366583"/>
                  </a:lnTo>
                  <a:cubicBezTo>
                    <a:pt x="5126606" y="3268829"/>
                    <a:pt x="5127431" y="3170634"/>
                    <a:pt x="5121172" y="3072860"/>
                  </a:cubicBezTo>
                  <a:lnTo>
                    <a:pt x="5119473" y="3036121"/>
                  </a:lnTo>
                  <a:cubicBezTo>
                    <a:pt x="5118968" y="3023930"/>
                    <a:pt x="5117310" y="3011778"/>
                    <a:pt x="5116244" y="2999552"/>
                  </a:cubicBezTo>
                  <a:lnTo>
                    <a:pt x="5109221" y="2926379"/>
                  </a:lnTo>
                  <a:cubicBezTo>
                    <a:pt x="5105544" y="2877404"/>
                    <a:pt x="5096760" y="2829145"/>
                    <a:pt x="5089643" y="2780639"/>
                  </a:cubicBezTo>
                  <a:lnTo>
                    <a:pt x="5084078" y="2744255"/>
                  </a:lnTo>
                  <a:cubicBezTo>
                    <a:pt x="5082420" y="2732104"/>
                    <a:pt x="5080412" y="2719974"/>
                    <a:pt x="5077785" y="2708026"/>
                  </a:cubicBezTo>
                  <a:lnTo>
                    <a:pt x="5063128" y="2636053"/>
                  </a:lnTo>
                  <a:cubicBezTo>
                    <a:pt x="5057902" y="2612048"/>
                    <a:pt x="5053511" y="2587920"/>
                    <a:pt x="5047530" y="2564176"/>
                  </a:cubicBezTo>
                  <a:lnTo>
                    <a:pt x="5028967" y="2493127"/>
                  </a:lnTo>
                  <a:cubicBezTo>
                    <a:pt x="4979424" y="2303537"/>
                    <a:pt x="4909775" y="2119458"/>
                    <a:pt x="4822623" y="1944830"/>
                  </a:cubicBezTo>
                  <a:cubicBezTo>
                    <a:pt x="4648947" y="1594931"/>
                    <a:pt x="4401749" y="1285261"/>
                    <a:pt x="4108183" y="1038170"/>
                  </a:cubicBezTo>
                  <a:cubicBezTo>
                    <a:pt x="3961444" y="914460"/>
                    <a:pt x="3803854" y="805232"/>
                    <a:pt x="3638213" y="712395"/>
                  </a:cubicBezTo>
                  <a:lnTo>
                    <a:pt x="3575480" y="678662"/>
                  </a:lnTo>
                  <a:cubicBezTo>
                    <a:pt x="3554450" y="667578"/>
                    <a:pt x="3534194" y="655311"/>
                    <a:pt x="3512574" y="645577"/>
                  </a:cubicBezTo>
                  <a:lnTo>
                    <a:pt x="3448603" y="614757"/>
                  </a:lnTo>
                  <a:lnTo>
                    <a:pt x="3416617" y="599347"/>
                  </a:lnTo>
                  <a:cubicBezTo>
                    <a:pt x="3406000" y="594185"/>
                    <a:pt x="3395413" y="588913"/>
                    <a:pt x="3384352" y="584559"/>
                  </a:cubicBezTo>
                  <a:cubicBezTo>
                    <a:pt x="3340850" y="566062"/>
                    <a:pt x="3297707" y="547083"/>
                    <a:pt x="3254088" y="529021"/>
                  </a:cubicBezTo>
                  <a:cubicBezTo>
                    <a:pt x="3209736" y="512847"/>
                    <a:pt x="3165607" y="496270"/>
                    <a:pt x="3121640" y="479505"/>
                  </a:cubicBezTo>
                  <a:lnTo>
                    <a:pt x="2987193" y="436176"/>
                  </a:lnTo>
                  <a:cubicBezTo>
                    <a:pt x="2942116" y="422708"/>
                    <a:pt x="2896575" y="410968"/>
                    <a:pt x="2851296" y="398256"/>
                  </a:cubicBezTo>
                  <a:cubicBezTo>
                    <a:pt x="2759507" y="375285"/>
                    <a:pt x="2666373" y="353923"/>
                    <a:pt x="2573611" y="336717"/>
                  </a:cubicBezTo>
                  <a:cubicBezTo>
                    <a:pt x="2387776" y="301762"/>
                    <a:pt x="2200839" y="280304"/>
                    <a:pt x="2014208" y="276896"/>
                  </a:cubicBezTo>
                  <a:cubicBezTo>
                    <a:pt x="1827605" y="273381"/>
                    <a:pt x="1641223" y="288238"/>
                    <a:pt x="1457097" y="322828"/>
                  </a:cubicBezTo>
                  <a:cubicBezTo>
                    <a:pt x="1272912" y="357634"/>
                    <a:pt x="1091595" y="413727"/>
                    <a:pt x="914684" y="486648"/>
                  </a:cubicBezTo>
                  <a:lnTo>
                    <a:pt x="848661" y="515093"/>
                  </a:lnTo>
                  <a:cubicBezTo>
                    <a:pt x="826573" y="524592"/>
                    <a:pt x="804281" y="533573"/>
                    <a:pt x="782834" y="544519"/>
                  </a:cubicBezTo>
                  <a:lnTo>
                    <a:pt x="717715" y="575988"/>
                  </a:lnTo>
                  <a:cubicBezTo>
                    <a:pt x="696005" y="586632"/>
                    <a:pt x="673986" y="596729"/>
                    <a:pt x="653112" y="608523"/>
                  </a:cubicBezTo>
                  <a:cubicBezTo>
                    <a:pt x="568070" y="653782"/>
                    <a:pt x="483901" y="700897"/>
                    <a:pt x="406671" y="756246"/>
                  </a:cubicBezTo>
                  <a:cubicBezTo>
                    <a:pt x="327441" y="809669"/>
                    <a:pt x="256836" y="872706"/>
                    <a:pt x="191033" y="942131"/>
                  </a:cubicBezTo>
                  <a:cubicBezTo>
                    <a:pt x="175048" y="959988"/>
                    <a:pt x="159064" y="977846"/>
                    <a:pt x="143339" y="996006"/>
                  </a:cubicBezTo>
                  <a:lnTo>
                    <a:pt x="98848" y="1053288"/>
                  </a:lnTo>
                  <a:cubicBezTo>
                    <a:pt x="83542" y="1072023"/>
                    <a:pt x="70312" y="1092822"/>
                    <a:pt x="56083" y="1112657"/>
                  </a:cubicBezTo>
                  <a:cubicBezTo>
                    <a:pt x="42010" y="1132765"/>
                    <a:pt x="27965" y="1152765"/>
                    <a:pt x="14889" y="1173837"/>
                  </a:cubicBezTo>
                  <a:lnTo>
                    <a:pt x="0" y="1198088"/>
                  </a:lnTo>
                  <a:lnTo>
                    <a:pt x="0" y="888809"/>
                  </a:lnTo>
                  <a:lnTo>
                    <a:pt x="88781" y="802825"/>
                  </a:lnTo>
                  <a:cubicBezTo>
                    <a:pt x="672175" y="289643"/>
                    <a:pt x="1428944" y="-5083"/>
                    <a:pt x="2220349" y="6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BFEABB6A-2974-48B6-DE12-850FAEA6C531}"/>
              </a:ext>
            </a:extLst>
          </p:cNvPr>
          <p:cNvSpPr>
            <a:spLocks noGrp="1"/>
          </p:cNvSpPr>
          <p:nvPr>
            <p:ph type="title"/>
          </p:nvPr>
        </p:nvSpPr>
        <p:spPr>
          <a:xfrm>
            <a:off x="804672" y="2023236"/>
            <a:ext cx="3659777" cy="2820908"/>
          </a:xfrm>
        </p:spPr>
        <p:txBody>
          <a:bodyPr vert="horz" lIns="91440" tIns="45720" rIns="91440" bIns="45720" rtlCol="0">
            <a:normAutofit/>
          </a:bodyPr>
          <a:lstStyle/>
          <a:p>
            <a:r>
              <a:rPr lang="pl-PL" sz="2800" kern="1200">
                <a:solidFill>
                  <a:schemeClr val="tx2"/>
                </a:solidFill>
                <a:latin typeface="+mj-lt"/>
                <a:ea typeface="+mj-ea"/>
                <a:cs typeface="+mj-cs"/>
              </a:rPr>
              <a:t>Cyberbezpieczeństwo</a:t>
            </a:r>
            <a:endParaRPr lang="en-US" sz="2800" kern="1200">
              <a:solidFill>
                <a:schemeClr val="tx2"/>
              </a:solidFill>
              <a:latin typeface="+mj-lt"/>
              <a:ea typeface="+mj-ea"/>
              <a:cs typeface="+mj-cs"/>
            </a:endParaRPr>
          </a:p>
        </p:txBody>
      </p:sp>
      <p:graphicFrame>
        <p:nvGraphicFramePr>
          <p:cNvPr id="5" name="Symbol zastępczy zawartości 4">
            <a:extLst>
              <a:ext uri="{FF2B5EF4-FFF2-40B4-BE49-F238E27FC236}">
                <a16:creationId xmlns:a16="http://schemas.microsoft.com/office/drawing/2014/main" id="{90876CA7-CD26-0475-0305-A11F1E54B10E}"/>
              </a:ext>
            </a:extLst>
          </p:cNvPr>
          <p:cNvGraphicFramePr>
            <a:graphicFrameLocks noGrp="1"/>
          </p:cNvGraphicFramePr>
          <p:nvPr>
            <p:ph idx="1"/>
            <p:extLst>
              <p:ext uri="{D42A27DB-BD31-4B8C-83A1-F6EECF244321}">
                <p14:modId xmlns:p14="http://schemas.microsoft.com/office/powerpoint/2010/main" val="429712802"/>
              </p:ext>
            </p:extLst>
          </p:nvPr>
        </p:nvGraphicFramePr>
        <p:xfrm>
          <a:off x="6355080" y="1355638"/>
          <a:ext cx="5029201" cy="4147853"/>
        </p:xfrm>
        <a:graphic>
          <a:graphicData uri="http://schemas.openxmlformats.org/drawingml/2006/table">
            <a:tbl>
              <a:tblPr>
                <a:tableStyleId>{5940675A-B579-460E-94D1-54222C63F5DA}</a:tableStyleId>
              </a:tblPr>
              <a:tblGrid>
                <a:gridCol w="2466672">
                  <a:extLst>
                    <a:ext uri="{9D8B030D-6E8A-4147-A177-3AD203B41FA5}">
                      <a16:colId xmlns:a16="http://schemas.microsoft.com/office/drawing/2014/main" val="1869350822"/>
                    </a:ext>
                  </a:extLst>
                </a:gridCol>
                <a:gridCol w="2562529">
                  <a:extLst>
                    <a:ext uri="{9D8B030D-6E8A-4147-A177-3AD203B41FA5}">
                      <a16:colId xmlns:a16="http://schemas.microsoft.com/office/drawing/2014/main" val="1383737445"/>
                    </a:ext>
                  </a:extLst>
                </a:gridCol>
              </a:tblGrid>
              <a:tr h="415000">
                <a:tc>
                  <a:txBody>
                    <a:bodyPr/>
                    <a:lstStyle/>
                    <a:p>
                      <a:pPr>
                        <a:buNone/>
                      </a:pPr>
                      <a:r>
                        <a:rPr lang="pl-PL" sz="1800" b="1">
                          <a:effectLst/>
                        </a:rPr>
                        <a:t>Stanowisko / rola</a:t>
                      </a:r>
                      <a:endParaRPr lang="pl-PL" sz="1800">
                        <a:effectLst/>
                        <a:latin typeface="Google Sans Text"/>
                      </a:endParaRPr>
                    </a:p>
                  </a:txBody>
                  <a:tcPr marL="94480" marR="94480" marT="47241" marB="47241" anchor="ctr"/>
                </a:tc>
                <a:tc>
                  <a:txBody>
                    <a:bodyPr/>
                    <a:lstStyle/>
                    <a:p>
                      <a:pPr>
                        <a:buNone/>
                      </a:pPr>
                      <a:r>
                        <a:rPr lang="pl-PL" sz="1800" b="1">
                          <a:effectLst/>
                        </a:rPr>
                        <a:t>Główne zadania</a:t>
                      </a:r>
                      <a:endParaRPr lang="pl-PL" sz="1800">
                        <a:effectLst/>
                        <a:latin typeface="Google Sans Text"/>
                      </a:endParaRPr>
                    </a:p>
                  </a:txBody>
                  <a:tcPr marL="94480" marR="94480" marT="47241" marB="47241" anchor="ctr"/>
                </a:tc>
                <a:extLst>
                  <a:ext uri="{0D108BD9-81ED-4DB2-BD59-A6C34878D82A}">
                    <a16:rowId xmlns:a16="http://schemas.microsoft.com/office/drawing/2014/main" val="1254397072"/>
                  </a:ext>
                </a:extLst>
              </a:tr>
              <a:tr h="691309">
                <a:tc>
                  <a:txBody>
                    <a:bodyPr/>
                    <a:lstStyle/>
                    <a:p>
                      <a:pPr>
                        <a:buNone/>
                      </a:pPr>
                      <a:r>
                        <a:rPr lang="pl-PL" sz="1800" b="1">
                          <a:effectLst/>
                        </a:rPr>
                        <a:t>Cybersecurity Analyst</a:t>
                      </a:r>
                      <a:endParaRPr lang="pl-PL" sz="1800">
                        <a:effectLst/>
                        <a:latin typeface="Google Sans Text"/>
                      </a:endParaRPr>
                    </a:p>
                  </a:txBody>
                  <a:tcPr marL="94480" marR="94480" marT="47241" marB="47241" anchor="ctr"/>
                </a:tc>
                <a:tc>
                  <a:txBody>
                    <a:bodyPr/>
                    <a:lstStyle/>
                    <a:p>
                      <a:pPr>
                        <a:buNone/>
                      </a:pPr>
                      <a:r>
                        <a:rPr lang="pl-PL" sz="1800">
                          <a:effectLst/>
                        </a:rPr>
                        <a:t>Analizuje zagrożenia bezpieczeństwa.</a:t>
                      </a:r>
                      <a:endParaRPr lang="pl-PL" sz="1800">
                        <a:effectLst/>
                        <a:latin typeface="Google Sans Text"/>
                      </a:endParaRPr>
                    </a:p>
                  </a:txBody>
                  <a:tcPr marL="94480" marR="94480" marT="47241" marB="47241" anchor="ctr"/>
                </a:tc>
                <a:extLst>
                  <a:ext uri="{0D108BD9-81ED-4DB2-BD59-A6C34878D82A}">
                    <a16:rowId xmlns:a16="http://schemas.microsoft.com/office/drawing/2014/main" val="242065458"/>
                  </a:ext>
                </a:extLst>
              </a:tr>
              <a:tr h="967617">
                <a:tc>
                  <a:txBody>
                    <a:bodyPr/>
                    <a:lstStyle/>
                    <a:p>
                      <a:pPr>
                        <a:buNone/>
                      </a:pPr>
                      <a:r>
                        <a:rPr lang="pl-PL" sz="1800" b="1" dirty="0">
                          <a:effectLst/>
                        </a:rPr>
                        <a:t>Security </a:t>
                      </a:r>
                      <a:r>
                        <a:rPr lang="pl-PL" sz="1800" b="1" dirty="0" err="1">
                          <a:effectLst/>
                        </a:rPr>
                        <a:t>Engineer</a:t>
                      </a:r>
                      <a:endParaRPr lang="pl-PL" sz="1800" dirty="0">
                        <a:effectLst/>
                        <a:latin typeface="Google Sans Text"/>
                      </a:endParaRPr>
                    </a:p>
                  </a:txBody>
                  <a:tcPr marL="94480" marR="94480" marT="47241" marB="47241" anchor="ctr"/>
                </a:tc>
                <a:tc>
                  <a:txBody>
                    <a:bodyPr/>
                    <a:lstStyle/>
                    <a:p>
                      <a:pPr>
                        <a:buNone/>
                      </a:pPr>
                      <a:r>
                        <a:rPr lang="pl-PL" sz="1800">
                          <a:effectLst/>
                        </a:rPr>
                        <a:t>Projektuje zabezpieczenia systemów.</a:t>
                      </a:r>
                      <a:endParaRPr lang="pl-PL" sz="1800">
                        <a:effectLst/>
                        <a:latin typeface="Google Sans Text"/>
                      </a:endParaRPr>
                    </a:p>
                  </a:txBody>
                  <a:tcPr marL="94480" marR="94480" marT="47241" marB="47241" anchor="ctr"/>
                </a:tc>
                <a:extLst>
                  <a:ext uri="{0D108BD9-81ED-4DB2-BD59-A6C34878D82A}">
                    <a16:rowId xmlns:a16="http://schemas.microsoft.com/office/drawing/2014/main" val="3842893337"/>
                  </a:ext>
                </a:extLst>
              </a:tr>
              <a:tr h="691309">
                <a:tc>
                  <a:txBody>
                    <a:bodyPr/>
                    <a:lstStyle/>
                    <a:p>
                      <a:pPr>
                        <a:buNone/>
                      </a:pPr>
                      <a:r>
                        <a:rPr lang="pl-PL" sz="1800" b="1">
                          <a:effectLst/>
                        </a:rPr>
                        <a:t>Penetration Tester</a:t>
                      </a:r>
                      <a:endParaRPr lang="pl-PL" sz="1800">
                        <a:effectLst/>
                        <a:latin typeface="Google Sans Text"/>
                      </a:endParaRPr>
                    </a:p>
                  </a:txBody>
                  <a:tcPr marL="94480" marR="94480" marT="47241" marB="47241" anchor="ctr"/>
                </a:tc>
                <a:tc>
                  <a:txBody>
                    <a:bodyPr/>
                    <a:lstStyle/>
                    <a:p>
                      <a:pPr>
                        <a:buNone/>
                      </a:pPr>
                      <a:r>
                        <a:rPr lang="pl-PL" sz="1800">
                          <a:effectLst/>
                        </a:rPr>
                        <a:t>Przeprowadza testy bezpieczeństwa.</a:t>
                      </a:r>
                      <a:endParaRPr lang="pl-PL" sz="1800">
                        <a:effectLst/>
                        <a:latin typeface="Google Sans Text"/>
                      </a:endParaRPr>
                    </a:p>
                  </a:txBody>
                  <a:tcPr marL="94480" marR="94480" marT="47241" marB="47241" anchor="ctr"/>
                </a:tc>
                <a:extLst>
                  <a:ext uri="{0D108BD9-81ED-4DB2-BD59-A6C34878D82A}">
                    <a16:rowId xmlns:a16="http://schemas.microsoft.com/office/drawing/2014/main" val="3367339996"/>
                  </a:ext>
                </a:extLst>
              </a:tr>
              <a:tr h="691309">
                <a:tc>
                  <a:txBody>
                    <a:bodyPr/>
                    <a:lstStyle/>
                    <a:p>
                      <a:pPr>
                        <a:buNone/>
                      </a:pPr>
                      <a:r>
                        <a:rPr lang="pl-PL" sz="1800" b="1">
                          <a:effectLst/>
                        </a:rPr>
                        <a:t>Security Architect</a:t>
                      </a:r>
                      <a:endParaRPr lang="pl-PL" sz="1800">
                        <a:effectLst/>
                        <a:latin typeface="Google Sans Text"/>
                      </a:endParaRPr>
                    </a:p>
                  </a:txBody>
                  <a:tcPr marL="94480" marR="94480" marT="47241" marB="47241" anchor="ctr"/>
                </a:tc>
                <a:tc>
                  <a:txBody>
                    <a:bodyPr/>
                    <a:lstStyle/>
                    <a:p>
                      <a:pPr>
                        <a:buNone/>
                      </a:pPr>
                      <a:r>
                        <a:rPr lang="pl-PL" sz="1800">
                          <a:effectLst/>
                        </a:rPr>
                        <a:t>Projektuje architekturę bezpieczeństwa.</a:t>
                      </a:r>
                      <a:endParaRPr lang="pl-PL" sz="1800">
                        <a:effectLst/>
                        <a:latin typeface="Google Sans Text"/>
                      </a:endParaRPr>
                    </a:p>
                  </a:txBody>
                  <a:tcPr marL="94480" marR="94480" marT="47241" marB="47241" anchor="ctr"/>
                </a:tc>
                <a:extLst>
                  <a:ext uri="{0D108BD9-81ED-4DB2-BD59-A6C34878D82A}">
                    <a16:rowId xmlns:a16="http://schemas.microsoft.com/office/drawing/2014/main" val="2628037357"/>
                  </a:ext>
                </a:extLst>
              </a:tr>
              <a:tr h="691309">
                <a:tc>
                  <a:txBody>
                    <a:bodyPr/>
                    <a:lstStyle/>
                    <a:p>
                      <a:pPr>
                        <a:buNone/>
                      </a:pPr>
                      <a:r>
                        <a:rPr lang="pl-PL" sz="1800" b="1">
                          <a:effectLst/>
                        </a:rPr>
                        <a:t>Incident Response Specialist</a:t>
                      </a:r>
                      <a:endParaRPr lang="pl-PL" sz="1800">
                        <a:effectLst/>
                        <a:latin typeface="Google Sans Text"/>
                      </a:endParaRPr>
                    </a:p>
                  </a:txBody>
                  <a:tcPr marL="94480" marR="94480" marT="47241" marB="47241" anchor="ctr"/>
                </a:tc>
                <a:tc>
                  <a:txBody>
                    <a:bodyPr/>
                    <a:lstStyle/>
                    <a:p>
                      <a:pPr>
                        <a:buNone/>
                      </a:pPr>
                      <a:r>
                        <a:rPr lang="pl-PL" sz="1800" dirty="0">
                          <a:effectLst/>
                        </a:rPr>
                        <a:t>Reaguje na ataki i incydenty.</a:t>
                      </a:r>
                      <a:endParaRPr lang="pl-PL" sz="1800" dirty="0">
                        <a:effectLst/>
                        <a:latin typeface="Google Sans Text"/>
                      </a:endParaRPr>
                    </a:p>
                  </a:txBody>
                  <a:tcPr marL="94480" marR="94480" marT="47241" marB="47241" anchor="ctr"/>
                </a:tc>
                <a:extLst>
                  <a:ext uri="{0D108BD9-81ED-4DB2-BD59-A6C34878D82A}">
                    <a16:rowId xmlns:a16="http://schemas.microsoft.com/office/drawing/2014/main" val="1801883722"/>
                  </a:ext>
                </a:extLst>
              </a:tr>
            </a:tbl>
          </a:graphicData>
        </a:graphic>
      </p:graphicFrame>
    </p:spTree>
    <p:extLst>
      <p:ext uri="{BB962C8B-B14F-4D97-AF65-F5344CB8AC3E}">
        <p14:creationId xmlns:p14="http://schemas.microsoft.com/office/powerpoint/2010/main" val="524509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26" name="Freeform: Shape 25">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5B997E4D-AC86-534F-3AF1-F69A187419EA}"/>
              </a:ext>
            </a:extLst>
          </p:cNvPr>
          <p:cNvSpPr>
            <a:spLocks noGrp="1"/>
          </p:cNvSpPr>
          <p:nvPr>
            <p:ph type="title"/>
          </p:nvPr>
        </p:nvSpPr>
        <p:spPr>
          <a:xfrm>
            <a:off x="804672" y="2023236"/>
            <a:ext cx="3659777" cy="2820908"/>
          </a:xfrm>
        </p:spPr>
        <p:txBody>
          <a:bodyPr vert="horz" lIns="91440" tIns="45720" rIns="91440" bIns="45720" rtlCol="0">
            <a:normAutofit/>
          </a:bodyPr>
          <a:lstStyle/>
          <a:p>
            <a:r>
              <a:rPr lang="pl-PL" sz="4000" kern="1200" dirty="0">
                <a:solidFill>
                  <a:schemeClr val="tx2"/>
                </a:solidFill>
                <a:latin typeface="+mj-lt"/>
                <a:ea typeface="+mj-ea"/>
                <a:cs typeface="+mj-cs"/>
              </a:rPr>
              <a:t>Dane i analityka</a:t>
            </a:r>
            <a:endParaRPr lang="en-US" sz="4000" kern="1200" dirty="0">
              <a:solidFill>
                <a:schemeClr val="tx2"/>
              </a:solidFill>
              <a:latin typeface="+mj-lt"/>
              <a:ea typeface="+mj-ea"/>
              <a:cs typeface="+mj-cs"/>
            </a:endParaRPr>
          </a:p>
        </p:txBody>
      </p:sp>
      <p:graphicFrame>
        <p:nvGraphicFramePr>
          <p:cNvPr id="4" name="Symbol zastępczy zawartości 3">
            <a:extLst>
              <a:ext uri="{FF2B5EF4-FFF2-40B4-BE49-F238E27FC236}">
                <a16:creationId xmlns:a16="http://schemas.microsoft.com/office/drawing/2014/main" id="{4AF4E1BF-53FE-597F-2700-153FE56AC1DE}"/>
              </a:ext>
            </a:extLst>
          </p:cNvPr>
          <p:cNvGraphicFramePr>
            <a:graphicFrameLocks noGrp="1"/>
          </p:cNvGraphicFramePr>
          <p:nvPr>
            <p:ph idx="1"/>
            <p:extLst>
              <p:ext uri="{D42A27DB-BD31-4B8C-83A1-F6EECF244321}">
                <p14:modId xmlns:p14="http://schemas.microsoft.com/office/powerpoint/2010/main" val="3201811589"/>
              </p:ext>
            </p:extLst>
          </p:nvPr>
        </p:nvGraphicFramePr>
        <p:xfrm>
          <a:off x="6091238" y="1104540"/>
          <a:ext cx="5115492" cy="4650048"/>
        </p:xfrm>
        <a:graphic>
          <a:graphicData uri="http://schemas.openxmlformats.org/drawingml/2006/table">
            <a:tbl>
              <a:tblPr>
                <a:tableStyleId>{5940675A-B579-460E-94D1-54222C63F5DA}</a:tableStyleId>
              </a:tblPr>
              <a:tblGrid>
                <a:gridCol w="2406205">
                  <a:extLst>
                    <a:ext uri="{9D8B030D-6E8A-4147-A177-3AD203B41FA5}">
                      <a16:colId xmlns:a16="http://schemas.microsoft.com/office/drawing/2014/main" val="3393016145"/>
                    </a:ext>
                  </a:extLst>
                </a:gridCol>
                <a:gridCol w="2709287">
                  <a:extLst>
                    <a:ext uri="{9D8B030D-6E8A-4147-A177-3AD203B41FA5}">
                      <a16:colId xmlns:a16="http://schemas.microsoft.com/office/drawing/2014/main" val="2790807011"/>
                    </a:ext>
                  </a:extLst>
                </a:gridCol>
              </a:tblGrid>
              <a:tr h="432246">
                <a:tc>
                  <a:txBody>
                    <a:bodyPr/>
                    <a:lstStyle/>
                    <a:p>
                      <a:pPr>
                        <a:buNone/>
                      </a:pPr>
                      <a:r>
                        <a:rPr lang="pl-PL" sz="1900" b="1">
                          <a:effectLst/>
                        </a:rPr>
                        <a:t>Stanowisko / rola</a:t>
                      </a:r>
                      <a:endParaRPr lang="pl-PL" sz="1900">
                        <a:effectLst/>
                        <a:latin typeface="Google Sans Text"/>
                      </a:endParaRPr>
                    </a:p>
                  </a:txBody>
                  <a:tcPr marL="94381" marR="94381" marT="47190" marB="47190" anchor="ctr"/>
                </a:tc>
                <a:tc>
                  <a:txBody>
                    <a:bodyPr/>
                    <a:lstStyle/>
                    <a:p>
                      <a:pPr>
                        <a:buNone/>
                      </a:pPr>
                      <a:r>
                        <a:rPr lang="pl-PL" sz="1900" b="1">
                          <a:effectLst/>
                        </a:rPr>
                        <a:t>Główne zadania</a:t>
                      </a:r>
                      <a:endParaRPr lang="pl-PL" sz="1900">
                        <a:effectLst/>
                        <a:latin typeface="Google Sans Text"/>
                      </a:endParaRPr>
                    </a:p>
                  </a:txBody>
                  <a:tcPr marL="94381" marR="94381" marT="47190" marB="47190" anchor="ctr"/>
                </a:tc>
                <a:extLst>
                  <a:ext uri="{0D108BD9-81ED-4DB2-BD59-A6C34878D82A}">
                    <a16:rowId xmlns:a16="http://schemas.microsoft.com/office/drawing/2014/main" val="515902904"/>
                  </a:ext>
                </a:extLst>
              </a:tr>
              <a:tr h="726042">
                <a:tc>
                  <a:txBody>
                    <a:bodyPr/>
                    <a:lstStyle/>
                    <a:p>
                      <a:pPr>
                        <a:buNone/>
                      </a:pPr>
                      <a:r>
                        <a:rPr lang="pl-PL" sz="1900" b="1">
                          <a:effectLst/>
                        </a:rPr>
                        <a:t>Data Analyst</a:t>
                      </a:r>
                      <a:endParaRPr lang="pl-PL" sz="1900">
                        <a:effectLst/>
                        <a:latin typeface="Google Sans Text"/>
                      </a:endParaRPr>
                    </a:p>
                  </a:txBody>
                  <a:tcPr marL="94381" marR="94381" marT="47190" marB="47190" anchor="ctr"/>
                </a:tc>
                <a:tc>
                  <a:txBody>
                    <a:bodyPr/>
                    <a:lstStyle/>
                    <a:p>
                      <a:pPr>
                        <a:buNone/>
                      </a:pPr>
                      <a:r>
                        <a:rPr lang="pl-PL" sz="1900">
                          <a:effectLst/>
                        </a:rPr>
                        <a:t>Analizuje dane i tworzy raporty.</a:t>
                      </a:r>
                      <a:endParaRPr lang="pl-PL" sz="1900">
                        <a:effectLst/>
                        <a:latin typeface="Google Sans Text"/>
                      </a:endParaRPr>
                    </a:p>
                  </a:txBody>
                  <a:tcPr marL="94381" marR="94381" marT="47190" marB="47190" anchor="ctr"/>
                </a:tc>
                <a:extLst>
                  <a:ext uri="{0D108BD9-81ED-4DB2-BD59-A6C34878D82A}">
                    <a16:rowId xmlns:a16="http://schemas.microsoft.com/office/drawing/2014/main" val="2282345724"/>
                  </a:ext>
                </a:extLst>
              </a:tr>
              <a:tr h="726042">
                <a:tc>
                  <a:txBody>
                    <a:bodyPr/>
                    <a:lstStyle/>
                    <a:p>
                      <a:pPr>
                        <a:buNone/>
                      </a:pPr>
                      <a:r>
                        <a:rPr lang="pl-PL" sz="1900" b="1">
                          <a:effectLst/>
                        </a:rPr>
                        <a:t>Data Scientist</a:t>
                      </a:r>
                      <a:endParaRPr lang="pl-PL" sz="1900">
                        <a:effectLst/>
                        <a:latin typeface="Google Sans Text"/>
                      </a:endParaRPr>
                    </a:p>
                  </a:txBody>
                  <a:tcPr marL="94381" marR="94381" marT="47190" marB="47190" anchor="ctr"/>
                </a:tc>
                <a:tc>
                  <a:txBody>
                    <a:bodyPr/>
                    <a:lstStyle/>
                    <a:p>
                      <a:pPr>
                        <a:buNone/>
                      </a:pPr>
                      <a:r>
                        <a:rPr lang="pl-PL" sz="1900">
                          <a:effectLst/>
                        </a:rPr>
                        <a:t>Buduje modele statystyczne i AI.</a:t>
                      </a:r>
                      <a:endParaRPr lang="pl-PL" sz="1900">
                        <a:effectLst/>
                        <a:latin typeface="Google Sans Text"/>
                      </a:endParaRPr>
                    </a:p>
                  </a:txBody>
                  <a:tcPr marL="94381" marR="94381" marT="47190" marB="47190" anchor="ctr"/>
                </a:tc>
                <a:extLst>
                  <a:ext uri="{0D108BD9-81ED-4DB2-BD59-A6C34878D82A}">
                    <a16:rowId xmlns:a16="http://schemas.microsoft.com/office/drawing/2014/main" val="1010551145"/>
                  </a:ext>
                </a:extLst>
              </a:tr>
              <a:tr h="726042">
                <a:tc>
                  <a:txBody>
                    <a:bodyPr/>
                    <a:lstStyle/>
                    <a:p>
                      <a:pPr>
                        <a:buNone/>
                      </a:pPr>
                      <a:r>
                        <a:rPr lang="pl-PL" sz="1900" b="1">
                          <a:effectLst/>
                        </a:rPr>
                        <a:t>Data Engineer</a:t>
                      </a:r>
                      <a:endParaRPr lang="pl-PL" sz="1900">
                        <a:effectLst/>
                        <a:latin typeface="Google Sans Text"/>
                      </a:endParaRPr>
                    </a:p>
                  </a:txBody>
                  <a:tcPr marL="94381" marR="94381" marT="47190" marB="47190" anchor="ctr"/>
                </a:tc>
                <a:tc>
                  <a:txBody>
                    <a:bodyPr/>
                    <a:lstStyle/>
                    <a:p>
                      <a:pPr>
                        <a:buNone/>
                      </a:pPr>
                      <a:r>
                        <a:rPr lang="pl-PL" sz="1900">
                          <a:effectLst/>
                        </a:rPr>
                        <a:t>Tworzy systemy przetwarzania danych.</a:t>
                      </a:r>
                      <a:endParaRPr lang="pl-PL" sz="1900">
                        <a:effectLst/>
                        <a:latin typeface="Google Sans Text"/>
                      </a:endParaRPr>
                    </a:p>
                  </a:txBody>
                  <a:tcPr marL="94381" marR="94381" marT="47190" marB="47190" anchor="ctr"/>
                </a:tc>
                <a:extLst>
                  <a:ext uri="{0D108BD9-81ED-4DB2-BD59-A6C34878D82A}">
                    <a16:rowId xmlns:a16="http://schemas.microsoft.com/office/drawing/2014/main" val="1316939809"/>
                  </a:ext>
                </a:extLst>
              </a:tr>
              <a:tr h="1019838">
                <a:tc>
                  <a:txBody>
                    <a:bodyPr/>
                    <a:lstStyle/>
                    <a:p>
                      <a:pPr>
                        <a:buNone/>
                      </a:pPr>
                      <a:r>
                        <a:rPr lang="pl-PL" sz="1900" b="1">
                          <a:effectLst/>
                        </a:rPr>
                        <a:t>Machine Learning Engineer</a:t>
                      </a:r>
                      <a:endParaRPr lang="pl-PL" sz="1900">
                        <a:effectLst/>
                        <a:latin typeface="Google Sans Text"/>
                      </a:endParaRPr>
                    </a:p>
                  </a:txBody>
                  <a:tcPr marL="94381" marR="94381" marT="47190" marB="47190" anchor="ctr"/>
                </a:tc>
                <a:tc>
                  <a:txBody>
                    <a:bodyPr/>
                    <a:lstStyle/>
                    <a:p>
                      <a:pPr>
                        <a:buNone/>
                      </a:pPr>
                      <a:r>
                        <a:rPr lang="pl-PL" sz="1900">
                          <a:effectLst/>
                        </a:rPr>
                        <a:t>Wdraża modele uczenia maszynowego.</a:t>
                      </a:r>
                      <a:endParaRPr lang="pl-PL" sz="1900">
                        <a:effectLst/>
                        <a:latin typeface="Google Sans Text"/>
                      </a:endParaRPr>
                    </a:p>
                  </a:txBody>
                  <a:tcPr marL="94381" marR="94381" marT="47190" marB="47190" anchor="ctr"/>
                </a:tc>
                <a:extLst>
                  <a:ext uri="{0D108BD9-81ED-4DB2-BD59-A6C34878D82A}">
                    <a16:rowId xmlns:a16="http://schemas.microsoft.com/office/drawing/2014/main" val="1412199318"/>
                  </a:ext>
                </a:extLst>
              </a:tr>
              <a:tr h="1019838">
                <a:tc>
                  <a:txBody>
                    <a:bodyPr/>
                    <a:lstStyle/>
                    <a:p>
                      <a:pPr>
                        <a:buNone/>
                      </a:pPr>
                      <a:r>
                        <a:rPr lang="pl-PL" sz="1900" b="1">
                          <a:effectLst/>
                        </a:rPr>
                        <a:t>Business Intelligence (BI) Analyst</a:t>
                      </a:r>
                      <a:endParaRPr lang="pl-PL" sz="1900">
                        <a:effectLst/>
                        <a:latin typeface="Google Sans Text"/>
                      </a:endParaRPr>
                    </a:p>
                  </a:txBody>
                  <a:tcPr marL="94381" marR="94381" marT="47190" marB="47190" anchor="ctr"/>
                </a:tc>
                <a:tc>
                  <a:txBody>
                    <a:bodyPr/>
                    <a:lstStyle/>
                    <a:p>
                      <a:pPr>
                        <a:buNone/>
                      </a:pPr>
                      <a:r>
                        <a:rPr lang="pl-PL" sz="1900">
                          <a:effectLst/>
                        </a:rPr>
                        <a:t>Tworzy dashboardy i raporty biznesowe.</a:t>
                      </a:r>
                      <a:endParaRPr lang="pl-PL" sz="1900">
                        <a:effectLst/>
                        <a:latin typeface="Google Sans Text"/>
                      </a:endParaRPr>
                    </a:p>
                  </a:txBody>
                  <a:tcPr marL="94381" marR="94381" marT="47190" marB="47190" anchor="ctr"/>
                </a:tc>
                <a:extLst>
                  <a:ext uri="{0D108BD9-81ED-4DB2-BD59-A6C34878D82A}">
                    <a16:rowId xmlns:a16="http://schemas.microsoft.com/office/drawing/2014/main" val="3968556332"/>
                  </a:ext>
                </a:extLst>
              </a:tr>
            </a:tbl>
          </a:graphicData>
        </a:graphic>
      </p:graphicFrame>
    </p:spTree>
    <p:extLst>
      <p:ext uri="{BB962C8B-B14F-4D97-AF65-F5344CB8AC3E}">
        <p14:creationId xmlns:p14="http://schemas.microsoft.com/office/powerpoint/2010/main" val="1616957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5C545AEA-EA6E-E6EB-D341-37F0E52EBD60}"/>
              </a:ext>
            </a:extLst>
          </p:cNvPr>
          <p:cNvSpPr>
            <a:spLocks noGrp="1"/>
          </p:cNvSpPr>
          <p:nvPr>
            <p:ph type="title"/>
          </p:nvPr>
        </p:nvSpPr>
        <p:spPr>
          <a:xfrm>
            <a:off x="1179576" y="1261423"/>
            <a:ext cx="9829800" cy="1325880"/>
          </a:xfrm>
        </p:spPr>
        <p:txBody>
          <a:bodyPr anchor="b">
            <a:normAutofit/>
          </a:bodyPr>
          <a:lstStyle/>
          <a:p>
            <a:pPr algn="ctr"/>
            <a:r>
              <a:rPr lang="pl-PL" sz="3600" dirty="0">
                <a:solidFill>
                  <a:schemeClr val="tx2"/>
                </a:solidFill>
              </a:rPr>
              <a:t>Role w Agile / </a:t>
            </a:r>
            <a:r>
              <a:rPr lang="pl-PL" sz="3600" dirty="0" err="1">
                <a:solidFill>
                  <a:schemeClr val="tx2"/>
                </a:solidFill>
              </a:rPr>
              <a:t>Scrum</a:t>
            </a:r>
            <a:endParaRPr lang="pl-PL" sz="3600" dirty="0">
              <a:solidFill>
                <a:schemeClr val="tx2"/>
              </a:solidFill>
            </a:endParaRPr>
          </a:p>
        </p:txBody>
      </p:sp>
      <p:grpSp>
        <p:nvGrpSpPr>
          <p:cNvPr id="1051" name="Group 105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052" name="Freeform: Shape 105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Freeform: Shape 105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4" name="Freeform: Shape 105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5" name="Freeform: Shape 105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4" name="Content Placeholder 1043">
            <a:extLst>
              <a:ext uri="{FF2B5EF4-FFF2-40B4-BE49-F238E27FC236}">
                <a16:creationId xmlns:a16="http://schemas.microsoft.com/office/drawing/2014/main" id="{54A97FC4-DF5D-6841-CC22-BAC38CAE275B}"/>
              </a:ext>
            </a:extLst>
          </p:cNvPr>
          <p:cNvSpPr>
            <a:spLocks noGrp="1"/>
          </p:cNvSpPr>
          <p:nvPr>
            <p:ph idx="1"/>
          </p:nvPr>
        </p:nvSpPr>
        <p:spPr>
          <a:xfrm>
            <a:off x="804672" y="2827419"/>
            <a:ext cx="5126896" cy="3227626"/>
          </a:xfrm>
        </p:spPr>
        <p:txBody>
          <a:bodyPr anchor="ctr">
            <a:normAutofit/>
          </a:bodyPr>
          <a:lstStyle/>
          <a:p>
            <a:r>
              <a:rPr lang="pl-PL" sz="1800" dirty="0" err="1">
                <a:solidFill>
                  <a:schemeClr val="tx2"/>
                </a:solidFill>
              </a:rPr>
              <a:t>Scrum</a:t>
            </a:r>
            <a:r>
              <a:rPr lang="pl-PL" sz="1800" dirty="0">
                <a:solidFill>
                  <a:schemeClr val="tx2"/>
                </a:solidFill>
              </a:rPr>
              <a:t> Master</a:t>
            </a:r>
          </a:p>
          <a:p>
            <a:r>
              <a:rPr lang="pl-PL" sz="1800" dirty="0">
                <a:solidFill>
                  <a:schemeClr val="tx2"/>
                </a:solidFill>
              </a:rPr>
              <a:t>Właściciel produktu (ang. Product </a:t>
            </a:r>
            <a:r>
              <a:rPr lang="pl-PL" sz="1800" dirty="0" err="1">
                <a:solidFill>
                  <a:schemeClr val="tx2"/>
                </a:solidFill>
              </a:rPr>
              <a:t>Owner</a:t>
            </a:r>
            <a:r>
              <a:rPr lang="pl-PL" sz="1800" dirty="0">
                <a:solidFill>
                  <a:schemeClr val="tx2"/>
                </a:solidFill>
              </a:rPr>
              <a:t>)</a:t>
            </a:r>
          </a:p>
          <a:p>
            <a:r>
              <a:rPr lang="pl-PL" sz="1800" dirty="0">
                <a:solidFill>
                  <a:schemeClr val="tx2"/>
                </a:solidFill>
              </a:rPr>
              <a:t>Developerzy</a:t>
            </a:r>
            <a:endParaRPr lang="en-US" sz="1800" dirty="0">
              <a:solidFill>
                <a:schemeClr val="tx2"/>
              </a:solidFill>
            </a:endParaRPr>
          </a:p>
        </p:txBody>
      </p:sp>
      <p:grpSp>
        <p:nvGrpSpPr>
          <p:cNvPr id="1057" name="Group 105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1058" name="Freeform: Shape 105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Freeform: Shape 105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Freeform: Shape 105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61" name="Freeform: Shape 106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40" name="Picture 16">
            <a:extLst>
              <a:ext uri="{FF2B5EF4-FFF2-40B4-BE49-F238E27FC236}">
                <a16:creationId xmlns:a16="http://schemas.microsoft.com/office/drawing/2014/main" id="{27E8C3EB-0E1B-C291-7C12-BD549FA25C1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29378" y="3151965"/>
            <a:ext cx="4954693" cy="2588827"/>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12" descr="Scrum: qué es y por qué es una de las metodologías ágiles">
            <a:extLst>
              <a:ext uri="{FF2B5EF4-FFF2-40B4-BE49-F238E27FC236}">
                <a16:creationId xmlns:a16="http://schemas.microsoft.com/office/drawing/2014/main" id="{A68FA24E-8F19-184D-6DDE-18694CBA89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2171659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869E6370-5F07-6763-44C5-FC3A8904EC83}"/>
              </a:ext>
            </a:extLst>
          </p:cNvPr>
          <p:cNvSpPr>
            <a:spLocks noGrp="1"/>
          </p:cNvSpPr>
          <p:nvPr>
            <p:ph type="title"/>
          </p:nvPr>
        </p:nvSpPr>
        <p:spPr>
          <a:xfrm>
            <a:off x="1179576" y="1261423"/>
            <a:ext cx="9829800" cy="1325880"/>
          </a:xfrm>
        </p:spPr>
        <p:txBody>
          <a:bodyPr anchor="b">
            <a:normAutofit/>
          </a:bodyPr>
          <a:lstStyle/>
          <a:p>
            <a:pPr algn="ctr"/>
            <a:r>
              <a:rPr lang="pl-PL" sz="3600">
                <a:solidFill>
                  <a:schemeClr val="tx2"/>
                </a:solidFill>
              </a:rPr>
              <a:t>Scrum Master</a:t>
            </a:r>
          </a:p>
        </p:txBody>
      </p:sp>
      <p:grpSp>
        <p:nvGrpSpPr>
          <p:cNvPr id="2059" name="Group 2058">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060" name="Freeform: Shape 2059">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Freeform: Shape 2060">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2" name="Freeform: Shape 2061">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Freeform: Shape 2062">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ymbol zastępczy zawartości 2">
            <a:extLst>
              <a:ext uri="{FF2B5EF4-FFF2-40B4-BE49-F238E27FC236}">
                <a16:creationId xmlns:a16="http://schemas.microsoft.com/office/drawing/2014/main" id="{6FCD6ABC-31A8-0DFD-99BF-DE42FEF2D485}"/>
              </a:ext>
            </a:extLst>
          </p:cNvPr>
          <p:cNvSpPr>
            <a:spLocks noGrp="1"/>
          </p:cNvSpPr>
          <p:nvPr>
            <p:ph idx="1"/>
          </p:nvPr>
        </p:nvSpPr>
        <p:spPr>
          <a:xfrm>
            <a:off x="804672" y="2827419"/>
            <a:ext cx="5126896" cy="3227626"/>
          </a:xfrm>
        </p:spPr>
        <p:txBody>
          <a:bodyPr anchor="ctr">
            <a:normAutofit/>
          </a:bodyPr>
          <a:lstStyle/>
          <a:p>
            <a:r>
              <a:rPr lang="pl-PL" sz="1800">
                <a:solidFill>
                  <a:schemeClr val="tx2"/>
                </a:solidFill>
              </a:rPr>
              <a:t>Odpowiada za poprawne stosowanie Scruma i przestrzeganie zasad Agile.</a:t>
            </a:r>
          </a:p>
          <a:p>
            <a:r>
              <a:rPr lang="pl-PL" sz="1800">
                <a:solidFill>
                  <a:schemeClr val="tx2"/>
                </a:solidFill>
              </a:rPr>
              <a:t>Odpowiada za efektywność zespołu.</a:t>
            </a:r>
          </a:p>
          <a:p>
            <a:r>
              <a:rPr lang="pl-PL" sz="1800">
                <a:solidFill>
                  <a:schemeClr val="tx2"/>
                </a:solidFill>
              </a:rPr>
              <a:t>Wspiera zespół w samodoskonaleniu i wspiera współprace.</a:t>
            </a:r>
          </a:p>
          <a:p>
            <a:r>
              <a:rPr lang="pl-PL" sz="1800">
                <a:solidFill>
                  <a:schemeClr val="tx2"/>
                </a:solidFill>
              </a:rPr>
              <a:t>Jego rolą jest także rozwiązywanie konfliktów oraz klaryfikowanie wymagań interesariuszy.</a:t>
            </a:r>
          </a:p>
        </p:txBody>
      </p:sp>
      <p:grpSp>
        <p:nvGrpSpPr>
          <p:cNvPr id="2065" name="Group 2064">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066" name="Freeform: Shape 2065">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Freeform: Shape 2066">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Freeform: Shape 2067">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069" name="Freeform: Shape 2068">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50" name="Picture 2">
            <a:extLst>
              <a:ext uri="{FF2B5EF4-FFF2-40B4-BE49-F238E27FC236}">
                <a16:creationId xmlns:a16="http://schemas.microsoft.com/office/drawing/2014/main" id="{34026D90-2E6A-8852-2DCF-C2601507E4F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0716" y="2837712"/>
            <a:ext cx="3972016" cy="3217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1126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ytuł 1">
            <a:extLst>
              <a:ext uri="{FF2B5EF4-FFF2-40B4-BE49-F238E27FC236}">
                <a16:creationId xmlns:a16="http://schemas.microsoft.com/office/drawing/2014/main" id="{21AD1204-8AD0-B0A1-AD33-FA3234674227}"/>
              </a:ext>
            </a:extLst>
          </p:cNvPr>
          <p:cNvSpPr>
            <a:spLocks noGrp="1"/>
          </p:cNvSpPr>
          <p:nvPr>
            <p:ph type="title"/>
          </p:nvPr>
        </p:nvSpPr>
        <p:spPr>
          <a:xfrm>
            <a:off x="804672" y="1243013"/>
            <a:ext cx="3855720" cy="4371974"/>
          </a:xfrm>
        </p:spPr>
        <p:txBody>
          <a:bodyPr>
            <a:normAutofit/>
          </a:bodyPr>
          <a:lstStyle/>
          <a:p>
            <a:r>
              <a:rPr lang="pl-PL" sz="3600">
                <a:solidFill>
                  <a:schemeClr val="tx2"/>
                </a:solidFill>
              </a:rPr>
              <a:t>Product Owner</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Symbol zastępczy zawartości 2">
            <a:extLst>
              <a:ext uri="{FF2B5EF4-FFF2-40B4-BE49-F238E27FC236}">
                <a16:creationId xmlns:a16="http://schemas.microsoft.com/office/drawing/2014/main" id="{7A5D9726-7D67-9AA5-8E32-FD5709608C71}"/>
              </a:ext>
            </a:extLst>
          </p:cNvPr>
          <p:cNvSpPr>
            <a:spLocks noGrp="1"/>
          </p:cNvSpPr>
          <p:nvPr>
            <p:ph idx="1"/>
          </p:nvPr>
        </p:nvSpPr>
        <p:spPr>
          <a:xfrm>
            <a:off x="6632812" y="1032987"/>
            <a:ext cx="4919108" cy="4792027"/>
          </a:xfrm>
        </p:spPr>
        <p:txBody>
          <a:bodyPr anchor="ctr">
            <a:normAutofit/>
          </a:bodyPr>
          <a:lstStyle/>
          <a:p>
            <a:r>
              <a:rPr lang="pl-PL" sz="2000" dirty="0">
                <a:solidFill>
                  <a:schemeClr val="tx2"/>
                </a:solidFill>
              </a:rPr>
              <a:t>Maksymalizuje wartość produktu – korzyści dla jego użytkowników.</a:t>
            </a:r>
          </a:p>
          <a:p>
            <a:r>
              <a:rPr lang="pl-PL" sz="2000" dirty="0">
                <a:solidFill>
                  <a:schemeClr val="tx2"/>
                </a:solidFill>
              </a:rPr>
              <a:t>Jest on głosem klienta i użytkowników w zespole deweloperskim.</a:t>
            </a:r>
          </a:p>
          <a:p>
            <a:r>
              <a:rPr lang="pl-PL" sz="2000" dirty="0">
                <a:solidFill>
                  <a:schemeClr val="tx2"/>
                </a:solidFill>
              </a:rPr>
              <a:t>Zarządza </a:t>
            </a:r>
            <a:r>
              <a:rPr lang="pl-PL" sz="2000" dirty="0" err="1">
                <a:solidFill>
                  <a:schemeClr val="tx2"/>
                </a:solidFill>
              </a:rPr>
              <a:t>backlogiem</a:t>
            </a:r>
            <a:r>
              <a:rPr lang="pl-PL" sz="2000" dirty="0">
                <a:solidFill>
                  <a:schemeClr val="tx2"/>
                </a:solidFill>
              </a:rPr>
              <a:t> produktu – listą zadań wynikających z potrzeb klienta.</a:t>
            </a:r>
          </a:p>
          <a:p>
            <a:r>
              <a:rPr lang="pl-PL" sz="2000" dirty="0">
                <a:solidFill>
                  <a:schemeClr val="tx2"/>
                </a:solidFill>
              </a:rPr>
              <a:t>Odpowiada za kontakt z interesariuszami zbierając ich potrzeby i feedback oraz prowadzi z nimi dyskusje na temat rozwoju projektu.</a:t>
            </a:r>
          </a:p>
        </p:txBody>
      </p:sp>
    </p:spTree>
    <p:extLst>
      <p:ext uri="{BB962C8B-B14F-4D97-AF65-F5344CB8AC3E}">
        <p14:creationId xmlns:p14="http://schemas.microsoft.com/office/powerpoint/2010/main" val="671290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8086AEC-04C2-4BC4-BFB8-0135965C7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0C3BE3F-B8A9-4DC9-A867-EC91736FA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0CA2F3D1-53F2-478B-949B-6D4EA2E4E4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55386"/>
            <a:ext cx="5378624" cy="6402614"/>
            <a:chOff x="-19221" y="197691"/>
            <a:chExt cx="5378624" cy="6402614"/>
          </a:xfrm>
        </p:grpSpPr>
        <p:sp>
          <p:nvSpPr>
            <p:cNvPr id="26" name="Freeform: Shape 25">
              <a:extLst>
                <a:ext uri="{FF2B5EF4-FFF2-40B4-BE49-F238E27FC236}">
                  <a16:creationId xmlns:a16="http://schemas.microsoft.com/office/drawing/2014/main" id="{6E53A4EE-6F9B-4EC8-9840-708F509D9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CD8289AA-777C-4230-BABC-203458BF6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39D76777-71BF-4FFF-B568-E58E46EB1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72CDCD53-6393-431A-9E75-109BC8362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DA62198F-7D76-4A2A-9669-40E5E8A3C8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97691"/>
              <a:ext cx="5378623" cy="6402614"/>
            </a:xfrm>
            <a:custGeom>
              <a:avLst/>
              <a:gdLst>
                <a:gd name="connsiteX0" fmla="*/ 2220349 w 5378623"/>
                <a:gd name="connsiteY0" fmla="*/ 67 h 6402614"/>
                <a:gd name="connsiteX1" fmla="*/ 3018161 w 5378623"/>
                <a:gd name="connsiteY1" fmla="*/ 108191 h 6402614"/>
                <a:gd name="connsiteX2" fmla="*/ 5265831 w 5378623"/>
                <a:gd name="connsiteY2" fmla="*/ 4066338 h 6402614"/>
                <a:gd name="connsiteX3" fmla="*/ 2912752 w 5378623"/>
                <a:gd name="connsiteY3" fmla="*/ 6386691 h 6402614"/>
                <a:gd name="connsiteX4" fmla="*/ 2840648 w 5378623"/>
                <a:gd name="connsiteY4" fmla="*/ 6402614 h 6402614"/>
                <a:gd name="connsiteX5" fmla="*/ 1474249 w 5378623"/>
                <a:gd name="connsiteY5" fmla="*/ 6402614 h 6402614"/>
                <a:gd name="connsiteX6" fmla="*/ 1340218 w 5378623"/>
                <a:gd name="connsiteY6" fmla="*/ 6370360 h 6402614"/>
                <a:gd name="connsiteX7" fmla="*/ 204687 w 5378623"/>
                <a:gd name="connsiteY7" fmla="*/ 5802379 h 6402614"/>
                <a:gd name="connsiteX8" fmla="*/ 0 w 5378623"/>
                <a:gd name="connsiteY8" fmla="*/ 5624181 h 6402614"/>
                <a:gd name="connsiteX9" fmla="*/ 0 w 5378623"/>
                <a:gd name="connsiteY9" fmla="*/ 5197118 h 6402614"/>
                <a:gd name="connsiteX10" fmla="*/ 120950 w 5378623"/>
                <a:gd name="connsiteY10" fmla="*/ 5327736 h 6402614"/>
                <a:gd name="connsiteX11" fmla="*/ 553277 w 5378623"/>
                <a:gd name="connsiteY11" fmla="*/ 5674143 h 6402614"/>
                <a:gd name="connsiteX12" fmla="*/ 1048951 w 5378623"/>
                <a:gd name="connsiteY12" fmla="*/ 5913372 h 6402614"/>
                <a:gd name="connsiteX13" fmla="*/ 1114406 w 5378623"/>
                <a:gd name="connsiteY13" fmla="*/ 5935664 h 6402614"/>
                <a:gd name="connsiteX14" fmla="*/ 1180375 w 5378623"/>
                <a:gd name="connsiteY14" fmla="*/ 5956470 h 6402614"/>
                <a:gd name="connsiteX15" fmla="*/ 1247107 w 5378623"/>
                <a:gd name="connsiteY15" fmla="*/ 5975278 h 6402614"/>
                <a:gd name="connsiteX16" fmla="*/ 1313053 w 5378623"/>
                <a:gd name="connsiteY16" fmla="*/ 5991905 h 6402614"/>
                <a:gd name="connsiteX17" fmla="*/ 1578771 w 5378623"/>
                <a:gd name="connsiteY17" fmla="*/ 6035400 h 6402614"/>
                <a:gd name="connsiteX18" fmla="*/ 2116969 w 5378623"/>
                <a:gd name="connsiteY18" fmla="*/ 6005033 h 6402614"/>
                <a:gd name="connsiteX19" fmla="*/ 2648341 w 5378623"/>
                <a:gd name="connsiteY19" fmla="*/ 5837212 h 6402614"/>
                <a:gd name="connsiteX20" fmla="*/ 3166862 w 5378623"/>
                <a:gd name="connsiteY20" fmla="*/ 5582136 h 6402614"/>
                <a:gd name="connsiteX21" fmla="*/ 3295551 w 5378623"/>
                <a:gd name="connsiteY21" fmla="*/ 5510900 h 6402614"/>
                <a:gd name="connsiteX22" fmla="*/ 3426292 w 5378623"/>
                <a:gd name="connsiteY22" fmla="*/ 5437546 h 6402614"/>
                <a:gd name="connsiteX23" fmla="*/ 3693498 w 5378623"/>
                <a:gd name="connsiteY23" fmla="*/ 5296779 h 6402614"/>
                <a:gd name="connsiteX24" fmla="*/ 3957511 w 5378623"/>
                <a:gd name="connsiteY24" fmla="*/ 5162806 h 6402614"/>
                <a:gd name="connsiteX25" fmla="*/ 4212170 w 5378623"/>
                <a:gd name="connsiteY25" fmla="*/ 5024936 h 6402614"/>
                <a:gd name="connsiteX26" fmla="*/ 4449651 w 5378623"/>
                <a:gd name="connsiteY26" fmla="*/ 4870986 h 6402614"/>
                <a:gd name="connsiteX27" fmla="*/ 4659728 w 5378623"/>
                <a:gd name="connsiteY27" fmla="*/ 4689640 h 6402614"/>
                <a:gd name="connsiteX28" fmla="*/ 4830457 w 5378623"/>
                <a:gd name="connsiteY28" fmla="*/ 4472596 h 6402614"/>
                <a:gd name="connsiteX29" fmla="*/ 4955705 w 5378623"/>
                <a:gd name="connsiteY29" fmla="*/ 4222268 h 6402614"/>
                <a:gd name="connsiteX30" fmla="*/ 4968352 w 5378623"/>
                <a:gd name="connsiteY30" fmla="*/ 4189141 h 6402614"/>
                <a:gd name="connsiteX31" fmla="*/ 4979564 w 5378623"/>
                <a:gd name="connsiteY31" fmla="*/ 4155400 h 6402614"/>
                <a:gd name="connsiteX32" fmla="*/ 4990913 w 5378623"/>
                <a:gd name="connsiteY32" fmla="*/ 4121577 h 6402614"/>
                <a:gd name="connsiteX33" fmla="*/ 5000865 w 5378623"/>
                <a:gd name="connsiteY33" fmla="*/ 4086570 h 6402614"/>
                <a:gd name="connsiteX34" fmla="*/ 5020612 w 5378623"/>
                <a:gd name="connsiteY34" fmla="*/ 4016281 h 6402614"/>
                <a:gd name="connsiteX35" fmla="*/ 5030486 w 5378623"/>
                <a:gd name="connsiteY35" fmla="*/ 3981137 h 6402614"/>
                <a:gd name="connsiteX36" fmla="*/ 5035423 w 5378623"/>
                <a:gd name="connsiteY36" fmla="*/ 3963565 h 6402614"/>
                <a:gd name="connsiteX37" fmla="*/ 5039507 w 5378623"/>
                <a:gd name="connsiteY37" fmla="*/ 3945765 h 6402614"/>
                <a:gd name="connsiteX38" fmla="*/ 5071597 w 5378623"/>
                <a:gd name="connsiteY38" fmla="*/ 3802972 h 6402614"/>
                <a:gd name="connsiteX39" fmla="*/ 5096108 w 5378623"/>
                <a:gd name="connsiteY39" fmla="*/ 3658610 h 6402614"/>
                <a:gd name="connsiteX40" fmla="*/ 5113299 w 5378623"/>
                <a:gd name="connsiteY40" fmla="*/ 3512985 h 6402614"/>
                <a:gd name="connsiteX41" fmla="*/ 5115328 w 5378623"/>
                <a:gd name="connsiteY41" fmla="*/ 3494749 h 6402614"/>
                <a:gd name="connsiteX42" fmla="*/ 5116446 w 5378623"/>
                <a:gd name="connsiteY42" fmla="*/ 3476502 h 6402614"/>
                <a:gd name="connsiteX43" fmla="*/ 5118711 w 5378623"/>
                <a:gd name="connsiteY43" fmla="*/ 3439898 h 6402614"/>
                <a:gd name="connsiteX44" fmla="*/ 5123270 w 5378623"/>
                <a:gd name="connsiteY44" fmla="*/ 3366583 h 6402614"/>
                <a:gd name="connsiteX45" fmla="*/ 5121172 w 5378623"/>
                <a:gd name="connsiteY45" fmla="*/ 3072860 h 6402614"/>
                <a:gd name="connsiteX46" fmla="*/ 5119473 w 5378623"/>
                <a:gd name="connsiteY46" fmla="*/ 3036121 h 6402614"/>
                <a:gd name="connsiteX47" fmla="*/ 5116244 w 5378623"/>
                <a:gd name="connsiteY47" fmla="*/ 2999552 h 6402614"/>
                <a:gd name="connsiteX48" fmla="*/ 5109221 w 5378623"/>
                <a:gd name="connsiteY48" fmla="*/ 2926379 h 6402614"/>
                <a:gd name="connsiteX49" fmla="*/ 5089643 w 5378623"/>
                <a:gd name="connsiteY49" fmla="*/ 2780639 h 6402614"/>
                <a:gd name="connsiteX50" fmla="*/ 5084078 w 5378623"/>
                <a:gd name="connsiteY50" fmla="*/ 2744255 h 6402614"/>
                <a:gd name="connsiteX51" fmla="*/ 5077785 w 5378623"/>
                <a:gd name="connsiteY51" fmla="*/ 2708026 h 6402614"/>
                <a:gd name="connsiteX52" fmla="*/ 5063128 w 5378623"/>
                <a:gd name="connsiteY52" fmla="*/ 2636053 h 6402614"/>
                <a:gd name="connsiteX53" fmla="*/ 5047530 w 5378623"/>
                <a:gd name="connsiteY53" fmla="*/ 2564176 h 6402614"/>
                <a:gd name="connsiteX54" fmla="*/ 5028967 w 5378623"/>
                <a:gd name="connsiteY54" fmla="*/ 2493127 h 6402614"/>
                <a:gd name="connsiteX55" fmla="*/ 4822623 w 5378623"/>
                <a:gd name="connsiteY55" fmla="*/ 1944830 h 6402614"/>
                <a:gd name="connsiteX56" fmla="*/ 4108183 w 5378623"/>
                <a:gd name="connsiteY56" fmla="*/ 1038170 h 6402614"/>
                <a:gd name="connsiteX57" fmla="*/ 3638213 w 5378623"/>
                <a:gd name="connsiteY57" fmla="*/ 712395 h 6402614"/>
                <a:gd name="connsiteX58" fmla="*/ 3575480 w 5378623"/>
                <a:gd name="connsiteY58" fmla="*/ 678662 h 6402614"/>
                <a:gd name="connsiteX59" fmla="*/ 3512574 w 5378623"/>
                <a:gd name="connsiteY59" fmla="*/ 645577 h 6402614"/>
                <a:gd name="connsiteX60" fmla="*/ 3448603 w 5378623"/>
                <a:gd name="connsiteY60" fmla="*/ 614757 h 6402614"/>
                <a:gd name="connsiteX61" fmla="*/ 3416617 w 5378623"/>
                <a:gd name="connsiteY61" fmla="*/ 599347 h 6402614"/>
                <a:gd name="connsiteX62" fmla="*/ 3384352 w 5378623"/>
                <a:gd name="connsiteY62" fmla="*/ 584559 h 6402614"/>
                <a:gd name="connsiteX63" fmla="*/ 3254088 w 5378623"/>
                <a:gd name="connsiteY63" fmla="*/ 529021 h 6402614"/>
                <a:gd name="connsiteX64" fmla="*/ 3121640 w 5378623"/>
                <a:gd name="connsiteY64" fmla="*/ 479505 h 6402614"/>
                <a:gd name="connsiteX65" fmla="*/ 2987193 w 5378623"/>
                <a:gd name="connsiteY65" fmla="*/ 436176 h 6402614"/>
                <a:gd name="connsiteX66" fmla="*/ 2851296 w 5378623"/>
                <a:gd name="connsiteY66" fmla="*/ 398256 h 6402614"/>
                <a:gd name="connsiteX67" fmla="*/ 2573611 w 5378623"/>
                <a:gd name="connsiteY67" fmla="*/ 336717 h 6402614"/>
                <a:gd name="connsiteX68" fmla="*/ 2014208 w 5378623"/>
                <a:gd name="connsiteY68" fmla="*/ 276896 h 6402614"/>
                <a:gd name="connsiteX69" fmla="*/ 1457097 w 5378623"/>
                <a:gd name="connsiteY69" fmla="*/ 322828 h 6402614"/>
                <a:gd name="connsiteX70" fmla="*/ 914684 w 5378623"/>
                <a:gd name="connsiteY70" fmla="*/ 486648 h 6402614"/>
                <a:gd name="connsiteX71" fmla="*/ 848661 w 5378623"/>
                <a:gd name="connsiteY71" fmla="*/ 515093 h 6402614"/>
                <a:gd name="connsiteX72" fmla="*/ 782834 w 5378623"/>
                <a:gd name="connsiteY72" fmla="*/ 544519 h 6402614"/>
                <a:gd name="connsiteX73" fmla="*/ 717715 w 5378623"/>
                <a:gd name="connsiteY73" fmla="*/ 575988 h 6402614"/>
                <a:gd name="connsiteX74" fmla="*/ 653112 w 5378623"/>
                <a:gd name="connsiteY74" fmla="*/ 608523 h 6402614"/>
                <a:gd name="connsiteX75" fmla="*/ 406671 w 5378623"/>
                <a:gd name="connsiteY75" fmla="*/ 756246 h 6402614"/>
                <a:gd name="connsiteX76" fmla="*/ 191033 w 5378623"/>
                <a:gd name="connsiteY76" fmla="*/ 942131 h 6402614"/>
                <a:gd name="connsiteX77" fmla="*/ 143339 w 5378623"/>
                <a:gd name="connsiteY77" fmla="*/ 996006 h 6402614"/>
                <a:gd name="connsiteX78" fmla="*/ 98848 w 5378623"/>
                <a:gd name="connsiteY78" fmla="*/ 1053288 h 6402614"/>
                <a:gd name="connsiteX79" fmla="*/ 56083 w 5378623"/>
                <a:gd name="connsiteY79" fmla="*/ 1112657 h 6402614"/>
                <a:gd name="connsiteX80" fmla="*/ 14889 w 5378623"/>
                <a:gd name="connsiteY80" fmla="*/ 1173837 h 6402614"/>
                <a:gd name="connsiteX81" fmla="*/ 0 w 5378623"/>
                <a:gd name="connsiteY81" fmla="*/ 1198088 h 6402614"/>
                <a:gd name="connsiteX82" fmla="*/ 0 w 5378623"/>
                <a:gd name="connsiteY82" fmla="*/ 888809 h 6402614"/>
                <a:gd name="connsiteX83" fmla="*/ 88781 w 5378623"/>
                <a:gd name="connsiteY83" fmla="*/ 802825 h 6402614"/>
                <a:gd name="connsiteX84" fmla="*/ 2220349 w 5378623"/>
                <a:gd name="connsiteY84" fmla="*/ 67 h 640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378623" h="6402614">
                  <a:moveTo>
                    <a:pt x="2220349" y="67"/>
                  </a:moveTo>
                  <a:cubicBezTo>
                    <a:pt x="2484151" y="1784"/>
                    <a:pt x="2751801" y="36820"/>
                    <a:pt x="3018161" y="108191"/>
                  </a:cubicBezTo>
                  <a:cubicBezTo>
                    <a:pt x="4722867" y="564965"/>
                    <a:pt x="5729192" y="2337049"/>
                    <a:pt x="5265831" y="4066338"/>
                  </a:cubicBezTo>
                  <a:cubicBezTo>
                    <a:pt x="4947269" y="5255224"/>
                    <a:pt x="4017004" y="6114300"/>
                    <a:pt x="2912752" y="6386691"/>
                  </a:cubicBezTo>
                  <a:lnTo>
                    <a:pt x="2840648" y="6402614"/>
                  </a:lnTo>
                  <a:lnTo>
                    <a:pt x="1474249" y="6402614"/>
                  </a:lnTo>
                  <a:lnTo>
                    <a:pt x="1340218" y="6370360"/>
                  </a:lnTo>
                  <a:cubicBezTo>
                    <a:pt x="914042" y="6256167"/>
                    <a:pt x="531514" y="6059766"/>
                    <a:pt x="204687" y="5802379"/>
                  </a:cubicBezTo>
                  <a:lnTo>
                    <a:pt x="0" y="5624181"/>
                  </a:lnTo>
                  <a:lnTo>
                    <a:pt x="0" y="5197118"/>
                  </a:lnTo>
                  <a:lnTo>
                    <a:pt x="120950" y="5327736"/>
                  </a:lnTo>
                  <a:cubicBezTo>
                    <a:pt x="253827" y="5458395"/>
                    <a:pt x="397634" y="5575985"/>
                    <a:pt x="553277" y="5674143"/>
                  </a:cubicBezTo>
                  <a:cubicBezTo>
                    <a:pt x="708978" y="5772084"/>
                    <a:pt x="875421" y="5851690"/>
                    <a:pt x="1048951" y="5913372"/>
                  </a:cubicBezTo>
                  <a:cubicBezTo>
                    <a:pt x="1070860" y="5920750"/>
                    <a:pt x="1092382" y="5928719"/>
                    <a:pt x="1114406" y="5935664"/>
                  </a:cubicBezTo>
                  <a:lnTo>
                    <a:pt x="1180375" y="5956470"/>
                  </a:lnTo>
                  <a:lnTo>
                    <a:pt x="1247107" y="5975278"/>
                  </a:lnTo>
                  <a:cubicBezTo>
                    <a:pt x="1269462" y="5981848"/>
                    <a:pt x="1291029" y="5986236"/>
                    <a:pt x="1313053" y="5991905"/>
                  </a:cubicBezTo>
                  <a:cubicBezTo>
                    <a:pt x="1400808" y="6012869"/>
                    <a:pt x="1489584" y="6027036"/>
                    <a:pt x="1578771" y="6035400"/>
                  </a:cubicBezTo>
                  <a:cubicBezTo>
                    <a:pt x="1757312" y="6051941"/>
                    <a:pt x="1937844" y="6040152"/>
                    <a:pt x="2116969" y="6005033"/>
                  </a:cubicBezTo>
                  <a:cubicBezTo>
                    <a:pt x="2296104" y="5969454"/>
                    <a:pt x="2473717" y="5910978"/>
                    <a:pt x="2648341" y="5837212"/>
                  </a:cubicBezTo>
                  <a:cubicBezTo>
                    <a:pt x="2823148" y="5763610"/>
                    <a:pt x="2995347" y="5675863"/>
                    <a:pt x="3166862" y="5582136"/>
                  </a:cubicBezTo>
                  <a:cubicBezTo>
                    <a:pt x="3209843" y="5558645"/>
                    <a:pt x="3252667" y="5534880"/>
                    <a:pt x="3295551" y="5510900"/>
                  </a:cubicBezTo>
                  <a:lnTo>
                    <a:pt x="3426292" y="5437546"/>
                  </a:lnTo>
                  <a:cubicBezTo>
                    <a:pt x="3515217" y="5388460"/>
                    <a:pt x="3604599" y="5341930"/>
                    <a:pt x="3693498" y="5296779"/>
                  </a:cubicBezTo>
                  <a:lnTo>
                    <a:pt x="3957511" y="5162806"/>
                  </a:lnTo>
                  <a:cubicBezTo>
                    <a:pt x="4044259" y="5118005"/>
                    <a:pt x="4129592" y="5072941"/>
                    <a:pt x="4212170" y="5024936"/>
                  </a:cubicBezTo>
                  <a:cubicBezTo>
                    <a:pt x="4294563" y="4976766"/>
                    <a:pt x="4374532" y="4926554"/>
                    <a:pt x="4449651" y="4870986"/>
                  </a:cubicBezTo>
                  <a:cubicBezTo>
                    <a:pt x="4524973" y="4815937"/>
                    <a:pt x="4596075" y="4756163"/>
                    <a:pt x="4659728" y="4689640"/>
                  </a:cubicBezTo>
                  <a:cubicBezTo>
                    <a:pt x="4723566" y="4623283"/>
                    <a:pt x="4780828" y="4550758"/>
                    <a:pt x="4830457" y="4472596"/>
                  </a:cubicBezTo>
                  <a:cubicBezTo>
                    <a:pt x="4880087" y="4394434"/>
                    <a:pt x="4921716" y="4310302"/>
                    <a:pt x="4955705" y="4222268"/>
                  </a:cubicBezTo>
                  <a:lnTo>
                    <a:pt x="4968352" y="4189141"/>
                  </a:lnTo>
                  <a:lnTo>
                    <a:pt x="4979564" y="4155400"/>
                  </a:lnTo>
                  <a:lnTo>
                    <a:pt x="4990913" y="4121577"/>
                  </a:lnTo>
                  <a:cubicBezTo>
                    <a:pt x="4994441" y="4110119"/>
                    <a:pt x="4997522" y="4098194"/>
                    <a:pt x="5000865" y="4086570"/>
                  </a:cubicBezTo>
                  <a:lnTo>
                    <a:pt x="5020612" y="4016281"/>
                  </a:lnTo>
                  <a:lnTo>
                    <a:pt x="5030486" y="3981137"/>
                  </a:lnTo>
                  <a:lnTo>
                    <a:pt x="5035423" y="3963565"/>
                  </a:lnTo>
                  <a:lnTo>
                    <a:pt x="5039507" y="3945765"/>
                  </a:lnTo>
                  <a:cubicBezTo>
                    <a:pt x="5050088" y="3898175"/>
                    <a:pt x="5061308" y="3850756"/>
                    <a:pt x="5071597" y="3802972"/>
                  </a:cubicBezTo>
                  <a:lnTo>
                    <a:pt x="5096108" y="3658610"/>
                  </a:lnTo>
                  <a:cubicBezTo>
                    <a:pt x="5102684" y="3610180"/>
                    <a:pt x="5107604" y="3561536"/>
                    <a:pt x="5113299" y="3512985"/>
                  </a:cubicBezTo>
                  <a:lnTo>
                    <a:pt x="5115328" y="3494749"/>
                  </a:lnTo>
                  <a:lnTo>
                    <a:pt x="5116446" y="3476502"/>
                  </a:lnTo>
                  <a:lnTo>
                    <a:pt x="5118711" y="3439898"/>
                  </a:lnTo>
                  <a:lnTo>
                    <a:pt x="5123270" y="3366583"/>
                  </a:lnTo>
                  <a:cubicBezTo>
                    <a:pt x="5126606" y="3268829"/>
                    <a:pt x="5127431" y="3170634"/>
                    <a:pt x="5121172" y="3072860"/>
                  </a:cubicBezTo>
                  <a:lnTo>
                    <a:pt x="5119473" y="3036121"/>
                  </a:lnTo>
                  <a:cubicBezTo>
                    <a:pt x="5118968" y="3023930"/>
                    <a:pt x="5117310" y="3011778"/>
                    <a:pt x="5116244" y="2999552"/>
                  </a:cubicBezTo>
                  <a:lnTo>
                    <a:pt x="5109221" y="2926379"/>
                  </a:lnTo>
                  <a:cubicBezTo>
                    <a:pt x="5105544" y="2877404"/>
                    <a:pt x="5096760" y="2829145"/>
                    <a:pt x="5089643" y="2780639"/>
                  </a:cubicBezTo>
                  <a:lnTo>
                    <a:pt x="5084078" y="2744255"/>
                  </a:lnTo>
                  <a:cubicBezTo>
                    <a:pt x="5082420" y="2732104"/>
                    <a:pt x="5080412" y="2719974"/>
                    <a:pt x="5077785" y="2708026"/>
                  </a:cubicBezTo>
                  <a:lnTo>
                    <a:pt x="5063128" y="2636053"/>
                  </a:lnTo>
                  <a:cubicBezTo>
                    <a:pt x="5057902" y="2612048"/>
                    <a:pt x="5053511" y="2587920"/>
                    <a:pt x="5047530" y="2564176"/>
                  </a:cubicBezTo>
                  <a:lnTo>
                    <a:pt x="5028967" y="2493127"/>
                  </a:lnTo>
                  <a:cubicBezTo>
                    <a:pt x="4979424" y="2303537"/>
                    <a:pt x="4909775" y="2119458"/>
                    <a:pt x="4822623" y="1944830"/>
                  </a:cubicBezTo>
                  <a:cubicBezTo>
                    <a:pt x="4648947" y="1594931"/>
                    <a:pt x="4401749" y="1285261"/>
                    <a:pt x="4108183" y="1038170"/>
                  </a:cubicBezTo>
                  <a:cubicBezTo>
                    <a:pt x="3961444" y="914460"/>
                    <a:pt x="3803854" y="805232"/>
                    <a:pt x="3638213" y="712395"/>
                  </a:cubicBezTo>
                  <a:lnTo>
                    <a:pt x="3575480" y="678662"/>
                  </a:lnTo>
                  <a:cubicBezTo>
                    <a:pt x="3554450" y="667578"/>
                    <a:pt x="3534194" y="655311"/>
                    <a:pt x="3512574" y="645577"/>
                  </a:cubicBezTo>
                  <a:lnTo>
                    <a:pt x="3448603" y="614757"/>
                  </a:lnTo>
                  <a:lnTo>
                    <a:pt x="3416617" y="599347"/>
                  </a:lnTo>
                  <a:cubicBezTo>
                    <a:pt x="3406000" y="594185"/>
                    <a:pt x="3395413" y="588913"/>
                    <a:pt x="3384352" y="584559"/>
                  </a:cubicBezTo>
                  <a:cubicBezTo>
                    <a:pt x="3340850" y="566062"/>
                    <a:pt x="3297707" y="547083"/>
                    <a:pt x="3254088" y="529021"/>
                  </a:cubicBezTo>
                  <a:cubicBezTo>
                    <a:pt x="3209736" y="512847"/>
                    <a:pt x="3165607" y="496270"/>
                    <a:pt x="3121640" y="479505"/>
                  </a:cubicBezTo>
                  <a:lnTo>
                    <a:pt x="2987193" y="436176"/>
                  </a:lnTo>
                  <a:cubicBezTo>
                    <a:pt x="2942116" y="422708"/>
                    <a:pt x="2896575" y="410968"/>
                    <a:pt x="2851296" y="398256"/>
                  </a:cubicBezTo>
                  <a:cubicBezTo>
                    <a:pt x="2759507" y="375285"/>
                    <a:pt x="2666373" y="353923"/>
                    <a:pt x="2573611" y="336717"/>
                  </a:cubicBezTo>
                  <a:cubicBezTo>
                    <a:pt x="2387776" y="301762"/>
                    <a:pt x="2200839" y="280304"/>
                    <a:pt x="2014208" y="276896"/>
                  </a:cubicBezTo>
                  <a:cubicBezTo>
                    <a:pt x="1827605" y="273381"/>
                    <a:pt x="1641223" y="288238"/>
                    <a:pt x="1457097" y="322828"/>
                  </a:cubicBezTo>
                  <a:cubicBezTo>
                    <a:pt x="1272912" y="357634"/>
                    <a:pt x="1091595" y="413727"/>
                    <a:pt x="914684" y="486648"/>
                  </a:cubicBezTo>
                  <a:lnTo>
                    <a:pt x="848661" y="515093"/>
                  </a:lnTo>
                  <a:cubicBezTo>
                    <a:pt x="826573" y="524592"/>
                    <a:pt x="804281" y="533573"/>
                    <a:pt x="782834" y="544519"/>
                  </a:cubicBezTo>
                  <a:lnTo>
                    <a:pt x="717715" y="575988"/>
                  </a:lnTo>
                  <a:cubicBezTo>
                    <a:pt x="696005" y="586632"/>
                    <a:pt x="673986" y="596729"/>
                    <a:pt x="653112" y="608523"/>
                  </a:cubicBezTo>
                  <a:cubicBezTo>
                    <a:pt x="568070" y="653782"/>
                    <a:pt x="483901" y="700897"/>
                    <a:pt x="406671" y="756246"/>
                  </a:cubicBezTo>
                  <a:cubicBezTo>
                    <a:pt x="327441" y="809669"/>
                    <a:pt x="256836" y="872706"/>
                    <a:pt x="191033" y="942131"/>
                  </a:cubicBezTo>
                  <a:cubicBezTo>
                    <a:pt x="175048" y="959988"/>
                    <a:pt x="159064" y="977846"/>
                    <a:pt x="143339" y="996006"/>
                  </a:cubicBezTo>
                  <a:lnTo>
                    <a:pt x="98848" y="1053288"/>
                  </a:lnTo>
                  <a:cubicBezTo>
                    <a:pt x="83542" y="1072023"/>
                    <a:pt x="70312" y="1092822"/>
                    <a:pt x="56083" y="1112657"/>
                  </a:cubicBezTo>
                  <a:cubicBezTo>
                    <a:pt x="42010" y="1132765"/>
                    <a:pt x="27965" y="1152765"/>
                    <a:pt x="14889" y="1173837"/>
                  </a:cubicBezTo>
                  <a:lnTo>
                    <a:pt x="0" y="1198088"/>
                  </a:lnTo>
                  <a:lnTo>
                    <a:pt x="0" y="888809"/>
                  </a:lnTo>
                  <a:lnTo>
                    <a:pt x="88781" y="802825"/>
                  </a:lnTo>
                  <a:cubicBezTo>
                    <a:pt x="672175" y="289643"/>
                    <a:pt x="1428944" y="-5083"/>
                    <a:pt x="2220349" y="6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2E999B44-410F-4921-00F2-AF570B10C558}"/>
              </a:ext>
            </a:extLst>
          </p:cNvPr>
          <p:cNvSpPr>
            <a:spLocks noGrp="1"/>
          </p:cNvSpPr>
          <p:nvPr>
            <p:ph type="title"/>
          </p:nvPr>
        </p:nvSpPr>
        <p:spPr>
          <a:xfrm>
            <a:off x="804672" y="2023236"/>
            <a:ext cx="3659777" cy="2820908"/>
          </a:xfrm>
        </p:spPr>
        <p:txBody>
          <a:bodyPr vert="horz" lIns="91440" tIns="45720" rIns="91440" bIns="45720" rtlCol="0">
            <a:normAutofit/>
          </a:bodyPr>
          <a:lstStyle/>
          <a:p>
            <a:r>
              <a:rPr lang="pl-PL" sz="4000" kern="1200" dirty="0">
                <a:solidFill>
                  <a:schemeClr val="tx2"/>
                </a:solidFill>
                <a:latin typeface="+mj-lt"/>
                <a:ea typeface="+mj-ea"/>
                <a:cs typeface="+mj-cs"/>
              </a:rPr>
              <a:t>Zarządzanie produktem i projektem</a:t>
            </a:r>
            <a:endParaRPr lang="en-US" sz="4000" kern="1200" dirty="0">
              <a:solidFill>
                <a:schemeClr val="tx2"/>
              </a:solidFill>
              <a:latin typeface="+mj-lt"/>
              <a:ea typeface="+mj-ea"/>
              <a:cs typeface="+mj-cs"/>
            </a:endParaRPr>
          </a:p>
        </p:txBody>
      </p:sp>
      <p:graphicFrame>
        <p:nvGraphicFramePr>
          <p:cNvPr id="4" name="Symbol zastępczy zawartości 3">
            <a:extLst>
              <a:ext uri="{FF2B5EF4-FFF2-40B4-BE49-F238E27FC236}">
                <a16:creationId xmlns:a16="http://schemas.microsoft.com/office/drawing/2014/main" id="{C4EE2F28-38E9-3553-EB31-83F3E9FC93F5}"/>
              </a:ext>
            </a:extLst>
          </p:cNvPr>
          <p:cNvGraphicFramePr>
            <a:graphicFrameLocks noGrp="1"/>
          </p:cNvGraphicFramePr>
          <p:nvPr>
            <p:ph idx="1"/>
            <p:extLst>
              <p:ext uri="{D42A27DB-BD31-4B8C-83A1-F6EECF244321}">
                <p14:modId xmlns:p14="http://schemas.microsoft.com/office/powerpoint/2010/main" val="3217719145"/>
              </p:ext>
            </p:extLst>
          </p:nvPr>
        </p:nvGraphicFramePr>
        <p:xfrm>
          <a:off x="6355080" y="1284853"/>
          <a:ext cx="5029201" cy="4289423"/>
        </p:xfrm>
        <a:graphic>
          <a:graphicData uri="http://schemas.openxmlformats.org/drawingml/2006/table">
            <a:tbl>
              <a:tblPr>
                <a:tableStyleId>{5940675A-B579-460E-94D1-54222C63F5DA}</a:tableStyleId>
              </a:tblPr>
              <a:tblGrid>
                <a:gridCol w="2284307">
                  <a:extLst>
                    <a:ext uri="{9D8B030D-6E8A-4147-A177-3AD203B41FA5}">
                      <a16:colId xmlns:a16="http://schemas.microsoft.com/office/drawing/2014/main" val="711366060"/>
                    </a:ext>
                  </a:extLst>
                </a:gridCol>
                <a:gridCol w="2744894">
                  <a:extLst>
                    <a:ext uri="{9D8B030D-6E8A-4147-A177-3AD203B41FA5}">
                      <a16:colId xmlns:a16="http://schemas.microsoft.com/office/drawing/2014/main" val="2835394282"/>
                    </a:ext>
                  </a:extLst>
                </a:gridCol>
              </a:tblGrid>
              <a:tr h="425725">
                <a:tc>
                  <a:txBody>
                    <a:bodyPr/>
                    <a:lstStyle/>
                    <a:p>
                      <a:pPr>
                        <a:buNone/>
                      </a:pPr>
                      <a:r>
                        <a:rPr lang="pl-PL" sz="1900" b="1">
                          <a:effectLst/>
                        </a:rPr>
                        <a:t>Stanowisko / rola</a:t>
                      </a:r>
                      <a:endParaRPr lang="pl-PL" sz="1900">
                        <a:effectLst/>
                        <a:latin typeface="Google Sans Text"/>
                      </a:endParaRPr>
                    </a:p>
                  </a:txBody>
                  <a:tcPr marL="93171" marR="93171" marT="46585" marB="46585" anchor="ctr"/>
                </a:tc>
                <a:tc>
                  <a:txBody>
                    <a:bodyPr/>
                    <a:lstStyle/>
                    <a:p>
                      <a:pPr>
                        <a:buNone/>
                      </a:pPr>
                      <a:r>
                        <a:rPr lang="pl-PL" sz="1900" b="1">
                          <a:effectLst/>
                        </a:rPr>
                        <a:t>Główne zadania</a:t>
                      </a:r>
                      <a:endParaRPr lang="pl-PL" sz="1900">
                        <a:effectLst/>
                        <a:latin typeface="Google Sans Text"/>
                      </a:endParaRPr>
                    </a:p>
                  </a:txBody>
                  <a:tcPr marL="93171" marR="93171" marT="46585" marB="46585" anchor="ctr"/>
                </a:tc>
                <a:extLst>
                  <a:ext uri="{0D108BD9-81ED-4DB2-BD59-A6C34878D82A}">
                    <a16:rowId xmlns:a16="http://schemas.microsoft.com/office/drawing/2014/main" val="1314209664"/>
                  </a:ext>
                </a:extLst>
              </a:tr>
              <a:tr h="714904">
                <a:tc>
                  <a:txBody>
                    <a:bodyPr/>
                    <a:lstStyle/>
                    <a:p>
                      <a:pPr>
                        <a:buNone/>
                      </a:pPr>
                      <a:r>
                        <a:rPr lang="pl-PL" sz="1900" b="1">
                          <a:effectLst/>
                        </a:rPr>
                        <a:t>Product Manager</a:t>
                      </a:r>
                      <a:endParaRPr lang="pl-PL" sz="1900">
                        <a:effectLst/>
                        <a:latin typeface="Google Sans Text"/>
                      </a:endParaRPr>
                    </a:p>
                  </a:txBody>
                  <a:tcPr marL="93171" marR="93171" marT="46585" marB="46585" anchor="ctr"/>
                </a:tc>
                <a:tc>
                  <a:txBody>
                    <a:bodyPr/>
                    <a:lstStyle/>
                    <a:p>
                      <a:pPr>
                        <a:buNone/>
                      </a:pPr>
                      <a:r>
                        <a:rPr lang="pl-PL" sz="1900">
                          <a:effectLst/>
                        </a:rPr>
                        <a:t>Odpowiada za strategię produktu.</a:t>
                      </a:r>
                      <a:endParaRPr lang="pl-PL" sz="1900">
                        <a:effectLst/>
                        <a:latin typeface="Google Sans Text"/>
                      </a:endParaRPr>
                    </a:p>
                  </a:txBody>
                  <a:tcPr marL="93171" marR="93171" marT="46585" marB="46585" anchor="ctr"/>
                </a:tc>
                <a:extLst>
                  <a:ext uri="{0D108BD9-81ED-4DB2-BD59-A6C34878D82A}">
                    <a16:rowId xmlns:a16="http://schemas.microsoft.com/office/drawing/2014/main" val="4222634710"/>
                  </a:ext>
                </a:extLst>
              </a:tr>
              <a:tr h="714904">
                <a:tc>
                  <a:txBody>
                    <a:bodyPr/>
                    <a:lstStyle/>
                    <a:p>
                      <a:pPr>
                        <a:buNone/>
                      </a:pPr>
                      <a:r>
                        <a:rPr lang="pl-PL" sz="1900" b="1">
                          <a:effectLst/>
                        </a:rPr>
                        <a:t>Product Owner</a:t>
                      </a:r>
                      <a:endParaRPr lang="pl-PL" sz="1900">
                        <a:effectLst/>
                        <a:latin typeface="Google Sans Text"/>
                      </a:endParaRPr>
                    </a:p>
                  </a:txBody>
                  <a:tcPr marL="93171" marR="93171" marT="46585" marB="46585" anchor="ctr"/>
                </a:tc>
                <a:tc>
                  <a:txBody>
                    <a:bodyPr/>
                    <a:lstStyle/>
                    <a:p>
                      <a:pPr>
                        <a:buNone/>
                      </a:pPr>
                      <a:r>
                        <a:rPr lang="pl-PL" sz="1900">
                          <a:effectLst/>
                        </a:rPr>
                        <a:t>Zarządza backlogiem produktu.</a:t>
                      </a:r>
                      <a:endParaRPr lang="pl-PL" sz="1900">
                        <a:effectLst/>
                        <a:latin typeface="Google Sans Text"/>
                      </a:endParaRPr>
                    </a:p>
                  </a:txBody>
                  <a:tcPr marL="93171" marR="93171" marT="46585" marB="46585" anchor="ctr"/>
                </a:tc>
                <a:extLst>
                  <a:ext uri="{0D108BD9-81ED-4DB2-BD59-A6C34878D82A}">
                    <a16:rowId xmlns:a16="http://schemas.microsoft.com/office/drawing/2014/main" val="1859790410"/>
                  </a:ext>
                </a:extLst>
              </a:tr>
              <a:tr h="714904">
                <a:tc>
                  <a:txBody>
                    <a:bodyPr/>
                    <a:lstStyle/>
                    <a:p>
                      <a:pPr>
                        <a:buNone/>
                      </a:pPr>
                      <a:r>
                        <a:rPr lang="pl-PL" sz="1900" b="1">
                          <a:effectLst/>
                        </a:rPr>
                        <a:t>Project Manager</a:t>
                      </a:r>
                      <a:endParaRPr lang="pl-PL" sz="1900">
                        <a:effectLst/>
                        <a:latin typeface="Google Sans Text"/>
                      </a:endParaRPr>
                    </a:p>
                  </a:txBody>
                  <a:tcPr marL="93171" marR="93171" marT="46585" marB="46585" anchor="ctr"/>
                </a:tc>
                <a:tc>
                  <a:txBody>
                    <a:bodyPr/>
                    <a:lstStyle/>
                    <a:p>
                      <a:pPr>
                        <a:buNone/>
                      </a:pPr>
                      <a:r>
                        <a:rPr lang="pl-PL" sz="1900">
                          <a:effectLst/>
                        </a:rPr>
                        <a:t>Zarządza realizacją projektu.</a:t>
                      </a:r>
                      <a:endParaRPr lang="pl-PL" sz="1900">
                        <a:effectLst/>
                        <a:latin typeface="Google Sans Text"/>
                      </a:endParaRPr>
                    </a:p>
                  </a:txBody>
                  <a:tcPr marL="93171" marR="93171" marT="46585" marB="46585" anchor="ctr"/>
                </a:tc>
                <a:extLst>
                  <a:ext uri="{0D108BD9-81ED-4DB2-BD59-A6C34878D82A}">
                    <a16:rowId xmlns:a16="http://schemas.microsoft.com/office/drawing/2014/main" val="3429047063"/>
                  </a:ext>
                </a:extLst>
              </a:tr>
              <a:tr h="1004082">
                <a:tc>
                  <a:txBody>
                    <a:bodyPr/>
                    <a:lstStyle/>
                    <a:p>
                      <a:pPr>
                        <a:buNone/>
                      </a:pPr>
                      <a:r>
                        <a:rPr lang="pl-PL" sz="1900" b="1">
                          <a:effectLst/>
                        </a:rPr>
                        <a:t>Scrum Master</a:t>
                      </a:r>
                      <a:endParaRPr lang="pl-PL" sz="1900">
                        <a:effectLst/>
                        <a:latin typeface="Google Sans Text"/>
                      </a:endParaRPr>
                    </a:p>
                  </a:txBody>
                  <a:tcPr marL="93171" marR="93171" marT="46585" marB="46585" anchor="ctr"/>
                </a:tc>
                <a:tc>
                  <a:txBody>
                    <a:bodyPr/>
                    <a:lstStyle/>
                    <a:p>
                      <a:pPr>
                        <a:buNone/>
                      </a:pPr>
                      <a:r>
                        <a:rPr lang="pl-PL" sz="1900">
                          <a:effectLst/>
                        </a:rPr>
                        <a:t>Organizuje pracę zespołu w metodologii Agile.</a:t>
                      </a:r>
                      <a:endParaRPr lang="pl-PL" sz="1900">
                        <a:effectLst/>
                        <a:latin typeface="Google Sans Text"/>
                      </a:endParaRPr>
                    </a:p>
                  </a:txBody>
                  <a:tcPr marL="93171" marR="93171" marT="46585" marB="46585" anchor="ctr"/>
                </a:tc>
                <a:extLst>
                  <a:ext uri="{0D108BD9-81ED-4DB2-BD59-A6C34878D82A}">
                    <a16:rowId xmlns:a16="http://schemas.microsoft.com/office/drawing/2014/main" val="792722474"/>
                  </a:ext>
                </a:extLst>
              </a:tr>
              <a:tr h="714904">
                <a:tc>
                  <a:txBody>
                    <a:bodyPr/>
                    <a:lstStyle/>
                    <a:p>
                      <a:pPr>
                        <a:buNone/>
                      </a:pPr>
                      <a:r>
                        <a:rPr lang="pl-PL" sz="1900" b="1">
                          <a:effectLst/>
                        </a:rPr>
                        <a:t>Business Analyst</a:t>
                      </a:r>
                      <a:endParaRPr lang="pl-PL" sz="1900">
                        <a:effectLst/>
                        <a:latin typeface="Google Sans Text"/>
                      </a:endParaRPr>
                    </a:p>
                  </a:txBody>
                  <a:tcPr marL="93171" marR="93171" marT="46585" marB="46585" anchor="ctr"/>
                </a:tc>
                <a:tc>
                  <a:txBody>
                    <a:bodyPr/>
                    <a:lstStyle/>
                    <a:p>
                      <a:pPr>
                        <a:buNone/>
                      </a:pPr>
                      <a:r>
                        <a:rPr lang="pl-PL" sz="1900">
                          <a:effectLst/>
                        </a:rPr>
                        <a:t>Analizuje wymagania biznesowe.</a:t>
                      </a:r>
                      <a:endParaRPr lang="pl-PL" sz="1900">
                        <a:effectLst/>
                        <a:latin typeface="Google Sans Text"/>
                      </a:endParaRPr>
                    </a:p>
                  </a:txBody>
                  <a:tcPr marL="93171" marR="93171" marT="46585" marB="46585" anchor="ctr"/>
                </a:tc>
                <a:extLst>
                  <a:ext uri="{0D108BD9-81ED-4DB2-BD59-A6C34878D82A}">
                    <a16:rowId xmlns:a16="http://schemas.microsoft.com/office/drawing/2014/main" val="1328915390"/>
                  </a:ext>
                </a:extLst>
              </a:tr>
            </a:tbl>
          </a:graphicData>
        </a:graphic>
      </p:graphicFrame>
    </p:spTree>
    <p:extLst>
      <p:ext uri="{BB962C8B-B14F-4D97-AF65-F5344CB8AC3E}">
        <p14:creationId xmlns:p14="http://schemas.microsoft.com/office/powerpoint/2010/main" val="2862710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B7D405BF-B335-F10F-F95A-7B7CA5C231C5}"/>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Podsumowanie</a:t>
            </a:r>
          </a:p>
        </p:txBody>
      </p:sp>
      <p:sp>
        <p:nvSpPr>
          <p:cNvPr id="3" name="Symbol zastępczy zawartości 2">
            <a:extLst>
              <a:ext uri="{FF2B5EF4-FFF2-40B4-BE49-F238E27FC236}">
                <a16:creationId xmlns:a16="http://schemas.microsoft.com/office/drawing/2014/main" id="{621FF8EC-EB99-9711-5D52-7DA967F8C4BD}"/>
              </a:ext>
            </a:extLst>
          </p:cNvPr>
          <p:cNvSpPr>
            <a:spLocks noGrp="1"/>
          </p:cNvSpPr>
          <p:nvPr>
            <p:ph idx="1"/>
          </p:nvPr>
        </p:nvSpPr>
        <p:spPr>
          <a:xfrm>
            <a:off x="6172200" y="804672"/>
            <a:ext cx="5221224" cy="5230368"/>
          </a:xfrm>
        </p:spPr>
        <p:txBody>
          <a:bodyPr anchor="ctr">
            <a:normAutofit/>
          </a:bodyPr>
          <a:lstStyle/>
          <a:p>
            <a:r>
              <a:rPr lang="pl-PL" sz="1800">
                <a:solidFill>
                  <a:schemeClr val="tx2"/>
                </a:solidFill>
              </a:rPr>
              <a:t>Jasno zdefiniowana struktura firmy porządkuje pracę, zakres odpowiedzialności oraz proces komunikacji. Wybór odpowiedniego modelu organizacyjnego może istotnie wpłynąć na działanie firmy promując cechy takie jak szybkość wdrożenia, albo zgodność ze standardami i regulacjami.</a:t>
            </a:r>
          </a:p>
          <a:p>
            <a:r>
              <a:rPr lang="pl-PL" sz="1800">
                <a:solidFill>
                  <a:schemeClr val="tx2"/>
                </a:solidFill>
              </a:rPr>
              <a:t>Nazewnictwo stanowisk oraz podział na poziomy doświadczenia pozwalają w łatwy sposób zrozumieć zakres obowiązków związany z daną rolą, a także wymagany zakres wiedzy dziedzinowej.</a:t>
            </a:r>
          </a:p>
          <a:p>
            <a:r>
              <a:rPr lang="pl-PL" sz="1800">
                <a:solidFill>
                  <a:schemeClr val="tx2"/>
                </a:solidFill>
              </a:rPr>
              <a:t>Odpowiednia struktura firmy oraz przemyślane nazewnictwo stanowisk pozwala zapobiegać chaosowi organizacyjnemu.</a:t>
            </a:r>
          </a:p>
        </p:txBody>
      </p:sp>
    </p:spTree>
    <p:extLst>
      <p:ext uri="{BB962C8B-B14F-4D97-AF65-F5344CB8AC3E}">
        <p14:creationId xmlns:p14="http://schemas.microsoft.com/office/powerpoint/2010/main" val="20128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F03B9499-C788-9596-6E8C-64BF6FD0FB2D}"/>
              </a:ext>
            </a:extLst>
          </p:cNvPr>
          <p:cNvSpPr>
            <a:spLocks noGrp="1"/>
          </p:cNvSpPr>
          <p:nvPr>
            <p:ph type="title"/>
          </p:nvPr>
        </p:nvSpPr>
        <p:spPr>
          <a:xfrm>
            <a:off x="804672" y="2053641"/>
            <a:ext cx="3669161" cy="2760098"/>
          </a:xfrm>
        </p:spPr>
        <p:txBody>
          <a:bodyPr>
            <a:normAutofit/>
          </a:bodyPr>
          <a:lstStyle/>
          <a:p>
            <a:r>
              <a:rPr lang="pl-PL" sz="4000">
                <a:solidFill>
                  <a:schemeClr val="tx2"/>
                </a:solidFill>
              </a:rPr>
              <a:t>Zagadnienia do dyskusji</a:t>
            </a:r>
          </a:p>
        </p:txBody>
      </p:sp>
      <p:sp>
        <p:nvSpPr>
          <p:cNvPr id="3" name="Symbol zastępczy zawartości 2">
            <a:extLst>
              <a:ext uri="{FF2B5EF4-FFF2-40B4-BE49-F238E27FC236}">
                <a16:creationId xmlns:a16="http://schemas.microsoft.com/office/drawing/2014/main" id="{6FEB2FBB-3976-1F31-08DF-54A21C5D93E1}"/>
              </a:ext>
            </a:extLst>
          </p:cNvPr>
          <p:cNvSpPr>
            <a:spLocks noGrp="1"/>
          </p:cNvSpPr>
          <p:nvPr>
            <p:ph idx="1"/>
          </p:nvPr>
        </p:nvSpPr>
        <p:spPr>
          <a:xfrm>
            <a:off x="6090574" y="801866"/>
            <a:ext cx="5306084" cy="5230634"/>
          </a:xfrm>
          <a:noFill/>
          <a:ln>
            <a:noFill/>
          </a:ln>
        </p:spPr>
        <p:txBody>
          <a:bodyPr anchor="ctr">
            <a:normAutofit/>
          </a:bodyPr>
          <a:lstStyle/>
          <a:p>
            <a:r>
              <a:rPr lang="pl-PL" sz="1800" dirty="0">
                <a:solidFill>
                  <a:schemeClr val="tx2"/>
                </a:solidFill>
              </a:rPr>
              <a:t>Jaka struktura organizacji jest lepsza / wygodniejsza dla pracowników zcentralizowana, czy zdecentralizowana?</a:t>
            </a:r>
          </a:p>
          <a:p>
            <a:r>
              <a:rPr lang="pl-PL" sz="1800" dirty="0">
                <a:solidFill>
                  <a:schemeClr val="tx2"/>
                </a:solidFill>
              </a:rPr>
              <a:t>Jakie stanowiska / role są najtrudniejsze do zastąpienia przez AI? Dlaczego?</a:t>
            </a:r>
          </a:p>
          <a:p>
            <a:r>
              <a:rPr lang="pl-PL" sz="1800" dirty="0">
                <a:solidFill>
                  <a:schemeClr val="tx2"/>
                </a:solidFill>
              </a:rPr>
              <a:t>Czy rynek IT w przyszłości będzie faworyzować ekspertów w jednej, bardzo wąskiej dziedzinie, czy specjalistów posiadających szersze, przekrojowe umiejętności?</a:t>
            </a:r>
          </a:p>
          <a:p>
            <a:r>
              <a:rPr lang="pl-PL" sz="1800" dirty="0">
                <a:solidFill>
                  <a:schemeClr val="tx2"/>
                </a:solidFill>
              </a:rPr>
              <a:t>Czy w erze agentów AI podział na juniorów, </a:t>
            </a:r>
            <a:r>
              <a:rPr lang="pl-PL" sz="1800" dirty="0" err="1">
                <a:solidFill>
                  <a:schemeClr val="tx2"/>
                </a:solidFill>
              </a:rPr>
              <a:t>midów</a:t>
            </a:r>
            <a:r>
              <a:rPr lang="pl-PL" sz="1800" dirty="0">
                <a:solidFill>
                  <a:schemeClr val="tx2"/>
                </a:solidFill>
              </a:rPr>
              <a:t> i seniorów nadal ma sens?</a:t>
            </a:r>
          </a:p>
          <a:p>
            <a:endParaRPr lang="pl-PL" sz="1800" dirty="0">
              <a:solidFill>
                <a:schemeClr val="tx2"/>
              </a:solidFill>
            </a:endParaRPr>
          </a:p>
          <a:p>
            <a:endParaRPr lang="pl-PL" sz="1800" dirty="0">
              <a:solidFill>
                <a:schemeClr val="tx2"/>
              </a:solidFill>
            </a:endParaRPr>
          </a:p>
        </p:txBody>
      </p:sp>
    </p:spTree>
    <p:extLst>
      <p:ext uri="{BB962C8B-B14F-4D97-AF65-F5344CB8AC3E}">
        <p14:creationId xmlns:p14="http://schemas.microsoft.com/office/powerpoint/2010/main" val="1215926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4" name="Group 23">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5" name="Freeform: Shape 24">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8381CDD2-0B60-8F46-9918-7933BCD88937}"/>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Bibliografia</a:t>
            </a:r>
          </a:p>
        </p:txBody>
      </p:sp>
      <p:sp>
        <p:nvSpPr>
          <p:cNvPr id="3" name="Symbol zastępczy zawartości 2">
            <a:extLst>
              <a:ext uri="{FF2B5EF4-FFF2-40B4-BE49-F238E27FC236}">
                <a16:creationId xmlns:a16="http://schemas.microsoft.com/office/drawing/2014/main" id="{46227EAE-7F7D-7B32-028C-ABDA5A931633}"/>
              </a:ext>
            </a:extLst>
          </p:cNvPr>
          <p:cNvSpPr>
            <a:spLocks noGrp="1"/>
          </p:cNvSpPr>
          <p:nvPr>
            <p:ph idx="1"/>
          </p:nvPr>
        </p:nvSpPr>
        <p:spPr>
          <a:xfrm>
            <a:off x="6172200" y="804672"/>
            <a:ext cx="5221224" cy="5230368"/>
          </a:xfrm>
        </p:spPr>
        <p:txBody>
          <a:bodyPr anchor="ctr">
            <a:normAutofit fontScale="62500" lnSpcReduction="20000"/>
          </a:bodyPr>
          <a:lstStyle/>
          <a:p>
            <a:r>
              <a:rPr lang="pl-PL" sz="1400" dirty="0"/>
              <a:t>Drozd, M. (2024, </a:t>
            </a:r>
            <a:r>
              <a:rPr lang="pl-PL" sz="1400" dirty="0" err="1"/>
              <a:t>February</a:t>
            </a:r>
            <a:r>
              <a:rPr lang="pl-PL" sz="1400" dirty="0"/>
              <a:t> 15). </a:t>
            </a:r>
            <a:r>
              <a:rPr lang="pl-PL" sz="1400" i="1" dirty="0"/>
              <a:t>Project manager Opis Stanowiska pracy, Co Robi, Kim Jest W Firmie?</a:t>
            </a:r>
            <a:r>
              <a:rPr lang="pl-PL" sz="1400" dirty="0"/>
              <a:t>. TRAFFIT. </a:t>
            </a:r>
            <a:r>
              <a:rPr lang="pl-PL" sz="1400" dirty="0">
                <a:hlinkClick r:id="rId2"/>
              </a:rPr>
              <a:t>https://traffit.com/pl/opisy-stanowisk-pracy/marketing/project-manager-2/</a:t>
            </a:r>
            <a:r>
              <a:rPr lang="pl-PL" sz="1400" dirty="0"/>
              <a:t> </a:t>
            </a:r>
          </a:p>
          <a:p>
            <a:r>
              <a:rPr lang="pl-PL" sz="1400" dirty="0"/>
              <a:t>Evans, P. (2025, </a:t>
            </a:r>
            <a:r>
              <a:rPr lang="pl-PL" sz="1400" dirty="0" err="1"/>
              <a:t>October</a:t>
            </a:r>
            <a:r>
              <a:rPr lang="pl-PL" sz="1400" dirty="0"/>
              <a:t> 28). </a:t>
            </a:r>
            <a:r>
              <a:rPr lang="pl-PL" sz="1400" i="1" dirty="0"/>
              <a:t>39 </a:t>
            </a:r>
            <a:r>
              <a:rPr lang="pl-PL" sz="1400" i="1" dirty="0" err="1"/>
              <a:t>it</a:t>
            </a:r>
            <a:r>
              <a:rPr lang="pl-PL" sz="1400" i="1" dirty="0"/>
              <a:t> </a:t>
            </a:r>
            <a:r>
              <a:rPr lang="pl-PL" sz="1400" i="1" dirty="0" err="1"/>
              <a:t>jobs</a:t>
            </a:r>
            <a:r>
              <a:rPr lang="pl-PL" sz="1400" i="1" dirty="0"/>
              <a:t>: </a:t>
            </a:r>
            <a:r>
              <a:rPr lang="pl-PL" sz="1400" i="1" dirty="0" err="1"/>
              <a:t>Titles</a:t>
            </a:r>
            <a:r>
              <a:rPr lang="pl-PL" sz="1400" i="1" dirty="0"/>
              <a:t>, </a:t>
            </a:r>
            <a:r>
              <a:rPr lang="pl-PL" sz="1400" i="1" dirty="0" err="1"/>
              <a:t>Descriptions</a:t>
            </a:r>
            <a:r>
              <a:rPr lang="pl-PL" sz="1400" i="1" dirty="0"/>
              <a:t> &amp; </a:t>
            </a:r>
            <a:r>
              <a:rPr lang="pl-PL" sz="1400" i="1" dirty="0" err="1"/>
              <a:t>Salaries</a:t>
            </a:r>
            <a:r>
              <a:rPr lang="pl-PL" sz="1400" i="1" dirty="0"/>
              <a:t>, </a:t>
            </a:r>
            <a:r>
              <a:rPr lang="pl-PL" sz="1400" i="1" dirty="0" err="1"/>
              <a:t>explained</a:t>
            </a:r>
            <a:r>
              <a:rPr lang="pl-PL" sz="1400" dirty="0"/>
              <a:t>. University of San Diego Online </a:t>
            </a:r>
            <a:r>
              <a:rPr lang="pl-PL" sz="1400" dirty="0" err="1"/>
              <a:t>Degrees</a:t>
            </a:r>
            <a:r>
              <a:rPr lang="pl-PL" sz="1400" dirty="0"/>
              <a:t>. </a:t>
            </a:r>
            <a:r>
              <a:rPr lang="pl-PL" sz="1400" dirty="0">
                <a:hlinkClick r:id="rId3"/>
              </a:rPr>
              <a:t>https://onlinedegrees.sandiego.edu/it-job-titles/</a:t>
            </a:r>
            <a:endParaRPr lang="pl-PL" sz="1400" dirty="0"/>
          </a:p>
          <a:p>
            <a:r>
              <a:rPr lang="pl-PL" sz="1400" dirty="0"/>
              <a:t>Henry, K. (2025, </a:t>
            </a:r>
            <a:r>
              <a:rPr lang="pl-PL" sz="1400" dirty="0" err="1"/>
              <a:t>December</a:t>
            </a:r>
            <a:r>
              <a:rPr lang="pl-PL" sz="1400" dirty="0"/>
              <a:t> 29). </a:t>
            </a:r>
            <a:r>
              <a:rPr lang="pl-PL" sz="1400" i="1" dirty="0"/>
              <a:t>It </a:t>
            </a:r>
            <a:r>
              <a:rPr lang="pl-PL" sz="1400" i="1" dirty="0" err="1"/>
              <a:t>department</a:t>
            </a:r>
            <a:r>
              <a:rPr lang="pl-PL" sz="1400" i="1" dirty="0"/>
              <a:t> </a:t>
            </a:r>
            <a:r>
              <a:rPr lang="pl-PL" sz="1400" i="1" dirty="0" err="1"/>
              <a:t>structure</a:t>
            </a:r>
            <a:r>
              <a:rPr lang="pl-PL" sz="1400" i="1" dirty="0"/>
              <a:t>: How to design a modern </a:t>
            </a:r>
            <a:r>
              <a:rPr lang="pl-PL" sz="1400" i="1" dirty="0" err="1"/>
              <a:t>it</a:t>
            </a:r>
            <a:r>
              <a:rPr lang="pl-PL" sz="1400" i="1" dirty="0"/>
              <a:t> org chart with </a:t>
            </a:r>
            <a:r>
              <a:rPr lang="pl-PL" sz="1400" i="1" dirty="0" err="1"/>
              <a:t>clear</a:t>
            </a:r>
            <a:r>
              <a:rPr lang="pl-PL" sz="1400" i="1" dirty="0"/>
              <a:t> </a:t>
            </a:r>
            <a:r>
              <a:rPr lang="pl-PL" sz="1400" i="1" dirty="0" err="1"/>
              <a:t>roles</a:t>
            </a:r>
            <a:r>
              <a:rPr lang="pl-PL" sz="1400" dirty="0"/>
              <a:t>. </a:t>
            </a:r>
            <a:r>
              <a:rPr lang="pl-PL" sz="1400" dirty="0" err="1"/>
              <a:t>OrgChart</a:t>
            </a:r>
            <a:r>
              <a:rPr lang="pl-PL" sz="1400" dirty="0"/>
              <a:t>. </a:t>
            </a:r>
            <a:r>
              <a:rPr lang="pl-PL" sz="1400" dirty="0">
                <a:hlinkClick r:id="rId4"/>
              </a:rPr>
              <a:t>https://theorgchart.com/resources/it-org-chart-how-to/</a:t>
            </a:r>
            <a:endParaRPr lang="pl-PL" sz="1400" dirty="0"/>
          </a:p>
          <a:p>
            <a:r>
              <a:rPr lang="pl-PL" sz="1400" i="1" dirty="0"/>
              <a:t>It </a:t>
            </a:r>
            <a:r>
              <a:rPr lang="pl-PL" sz="1400" i="1" dirty="0" err="1"/>
              <a:t>department</a:t>
            </a:r>
            <a:r>
              <a:rPr lang="pl-PL" sz="1400" i="1" dirty="0"/>
              <a:t> </a:t>
            </a:r>
            <a:r>
              <a:rPr lang="pl-PL" sz="1400" i="1" dirty="0" err="1"/>
              <a:t>organizational</a:t>
            </a:r>
            <a:r>
              <a:rPr lang="pl-PL" sz="1400" i="1" dirty="0"/>
              <a:t> </a:t>
            </a:r>
            <a:r>
              <a:rPr lang="pl-PL" sz="1400" i="1" dirty="0" err="1"/>
              <a:t>structure</a:t>
            </a:r>
            <a:r>
              <a:rPr lang="pl-PL" sz="1400" i="1" dirty="0"/>
              <a:t> - </a:t>
            </a:r>
            <a:r>
              <a:rPr lang="pl-PL" sz="1400" i="1" dirty="0" err="1"/>
              <a:t>how</a:t>
            </a:r>
            <a:r>
              <a:rPr lang="pl-PL" sz="1400" i="1" dirty="0"/>
              <a:t> to </a:t>
            </a:r>
            <a:r>
              <a:rPr lang="pl-PL" sz="1400" i="1" dirty="0" err="1"/>
              <a:t>create</a:t>
            </a:r>
            <a:r>
              <a:rPr lang="pl-PL" sz="1400" i="1" dirty="0"/>
              <a:t> one</a:t>
            </a:r>
            <a:r>
              <a:rPr lang="pl-PL" sz="1400" dirty="0"/>
              <a:t>. </a:t>
            </a:r>
            <a:r>
              <a:rPr lang="pl-PL" sz="1400" dirty="0" err="1"/>
              <a:t>Organimi</a:t>
            </a:r>
            <a:r>
              <a:rPr lang="pl-PL" sz="1400" dirty="0"/>
              <a:t>. (2025, </a:t>
            </a:r>
            <a:r>
              <a:rPr lang="pl-PL" sz="1400" dirty="0" err="1"/>
              <a:t>April</a:t>
            </a:r>
            <a:r>
              <a:rPr lang="pl-PL" sz="1400" dirty="0"/>
              <a:t> 28). </a:t>
            </a:r>
            <a:r>
              <a:rPr lang="pl-PL" sz="1400" dirty="0">
                <a:hlinkClick r:id="rId5"/>
              </a:rPr>
              <a:t>https://www.organimi.com/it-department-organizational-structure/</a:t>
            </a:r>
            <a:endParaRPr lang="pl-PL" sz="1400" dirty="0"/>
          </a:p>
          <a:p>
            <a:r>
              <a:rPr lang="pl-PL" sz="1400" dirty="0"/>
              <a:t>Kaczor, K. (2025, </a:t>
            </a:r>
            <a:r>
              <a:rPr lang="pl-PL" sz="1400" dirty="0" err="1"/>
              <a:t>April</a:t>
            </a:r>
            <a:r>
              <a:rPr lang="pl-PL" sz="1400" dirty="0"/>
              <a:t> 18). </a:t>
            </a:r>
            <a:r>
              <a:rPr lang="pl-PL" sz="1400" i="1" dirty="0"/>
              <a:t>Co robi </a:t>
            </a:r>
            <a:r>
              <a:rPr lang="pl-PL" sz="1400" i="1" dirty="0" err="1"/>
              <a:t>product</a:t>
            </a:r>
            <a:r>
              <a:rPr lang="pl-PL" sz="1400" i="1" dirty="0"/>
              <a:t> </a:t>
            </a:r>
            <a:r>
              <a:rPr lang="pl-PL" sz="1400" i="1" dirty="0" err="1"/>
              <a:t>owner</a:t>
            </a:r>
            <a:r>
              <a:rPr lang="pl-PL" sz="1400" i="1" dirty="0"/>
              <a:t> W </a:t>
            </a:r>
            <a:r>
              <a:rPr lang="pl-PL" sz="1400" i="1" dirty="0" err="1"/>
              <a:t>Scrum</a:t>
            </a:r>
            <a:r>
              <a:rPr lang="pl-PL" sz="1400" i="1" dirty="0"/>
              <a:t>? Rola I odpowiedzialności</a:t>
            </a:r>
            <a:r>
              <a:rPr lang="pl-PL" sz="1400" dirty="0"/>
              <a:t>. </a:t>
            </a:r>
            <a:r>
              <a:rPr lang="pl-PL" sz="1400" dirty="0" err="1"/>
              <a:t>QAgile</a:t>
            </a:r>
            <a:r>
              <a:rPr lang="pl-PL" sz="1400" dirty="0"/>
              <a:t>. </a:t>
            </a:r>
            <a:r>
              <a:rPr lang="pl-PL" sz="1400" dirty="0">
                <a:hlinkClick r:id="rId6"/>
              </a:rPr>
              <a:t>https://www.qagile.pl/scrum/product-owner-co-robi-scrum/</a:t>
            </a:r>
            <a:endParaRPr lang="pl-PL" sz="1400" dirty="0"/>
          </a:p>
          <a:p>
            <a:r>
              <a:rPr lang="pl-PL" sz="1400" dirty="0"/>
              <a:t>Kerner, J. (2026, January 29). </a:t>
            </a:r>
            <a:r>
              <a:rPr lang="pl-PL" sz="1400" i="1" dirty="0"/>
              <a:t>It </a:t>
            </a:r>
            <a:r>
              <a:rPr lang="pl-PL" sz="1400" i="1" dirty="0" err="1"/>
              <a:t>organizational</a:t>
            </a:r>
            <a:r>
              <a:rPr lang="pl-PL" sz="1400" i="1" dirty="0"/>
              <a:t> </a:t>
            </a:r>
            <a:r>
              <a:rPr lang="pl-PL" sz="1400" i="1" dirty="0" err="1"/>
              <a:t>structures</a:t>
            </a:r>
            <a:r>
              <a:rPr lang="pl-PL" sz="1400" i="1" dirty="0"/>
              <a:t> </a:t>
            </a:r>
            <a:r>
              <a:rPr lang="pl-PL" sz="1400" i="1" dirty="0" err="1"/>
              <a:t>explained</a:t>
            </a:r>
            <a:r>
              <a:rPr lang="pl-PL" sz="1400" i="1" dirty="0"/>
              <a:t>: </a:t>
            </a:r>
            <a:r>
              <a:rPr lang="pl-PL" sz="1400" i="1" dirty="0" err="1"/>
              <a:t>Finding</a:t>
            </a:r>
            <a:r>
              <a:rPr lang="pl-PL" sz="1400" i="1" dirty="0"/>
              <a:t> the </a:t>
            </a:r>
            <a:r>
              <a:rPr lang="pl-PL" sz="1400" i="1" dirty="0" err="1"/>
              <a:t>best</a:t>
            </a:r>
            <a:r>
              <a:rPr lang="pl-PL" sz="1400" i="1" dirty="0"/>
              <a:t> </a:t>
            </a:r>
            <a:r>
              <a:rPr lang="pl-PL" sz="1400" i="1" dirty="0" err="1"/>
              <a:t>fit</a:t>
            </a:r>
            <a:r>
              <a:rPr lang="pl-PL" sz="1400" dirty="0"/>
              <a:t>. </a:t>
            </a:r>
            <a:r>
              <a:rPr lang="pl-PL" sz="1400" dirty="0" err="1"/>
              <a:t>ScottMadden</a:t>
            </a:r>
            <a:r>
              <a:rPr lang="pl-PL" sz="1400" dirty="0"/>
              <a:t>. </a:t>
            </a:r>
            <a:r>
              <a:rPr lang="pl-PL" sz="1400" dirty="0">
                <a:hlinkClick r:id="rId7"/>
              </a:rPr>
              <a:t>https://www.scottmadden.com/insight/it-organizational-structures-explained-finding-the-best-fit/</a:t>
            </a:r>
            <a:endParaRPr lang="pl-PL" sz="1400" dirty="0"/>
          </a:p>
          <a:p>
            <a:r>
              <a:rPr lang="pl-PL" sz="1400" dirty="0" err="1"/>
              <a:t>Kozon</a:t>
            </a:r>
            <a:r>
              <a:rPr lang="pl-PL" sz="1400" dirty="0"/>
              <a:t>, T. (2022, </a:t>
            </a:r>
            <a:r>
              <a:rPr lang="pl-PL" sz="1400" dirty="0" err="1"/>
              <a:t>February</a:t>
            </a:r>
            <a:r>
              <a:rPr lang="pl-PL" sz="1400" dirty="0"/>
              <a:t> 22). </a:t>
            </a:r>
            <a:r>
              <a:rPr lang="pl-PL" sz="1400" i="1" dirty="0"/>
              <a:t>Senior developer, </a:t>
            </a:r>
            <a:r>
              <a:rPr lang="pl-PL" sz="1400" i="1" dirty="0" err="1"/>
              <a:t>Mid</a:t>
            </a:r>
            <a:r>
              <a:rPr lang="pl-PL" sz="1400" i="1" dirty="0"/>
              <a:t> I Junior - Stopniowanie stanowisk programistycznych</a:t>
            </a:r>
            <a:r>
              <a:rPr lang="pl-PL" sz="1400" dirty="0"/>
              <a:t>. </a:t>
            </a:r>
            <a:r>
              <a:rPr lang="pl-PL" sz="1400" dirty="0" err="1"/>
              <a:t>Boring</a:t>
            </a:r>
            <a:r>
              <a:rPr lang="pl-PL" sz="1400" dirty="0"/>
              <a:t> </a:t>
            </a:r>
            <a:r>
              <a:rPr lang="pl-PL" sz="1400" dirty="0" err="1"/>
              <a:t>Owl</a:t>
            </a:r>
            <a:r>
              <a:rPr lang="pl-PL" sz="1400" dirty="0"/>
              <a:t>. </a:t>
            </a:r>
            <a:r>
              <a:rPr lang="pl-PL" sz="1400" dirty="0">
                <a:hlinkClick r:id="rId8"/>
              </a:rPr>
              <a:t>https://boringowl.io/blog/senior-developer-mid-i-junior-jakie-sa-kryteria-stopniowania-stanowisk-programistycznych-w-it</a:t>
            </a:r>
            <a:endParaRPr lang="pl-PL" sz="1400" dirty="0"/>
          </a:p>
          <a:p>
            <a:r>
              <a:rPr lang="pl-PL" sz="1400" i="1" dirty="0"/>
              <a:t>Ranking 10 Najpopularniejszych stanowisk W IT</a:t>
            </a:r>
            <a:r>
              <a:rPr lang="pl-PL" sz="1400" dirty="0"/>
              <a:t>. HRK. (2024, May 29). </a:t>
            </a:r>
            <a:r>
              <a:rPr lang="pl-PL" sz="1400" dirty="0">
                <a:hlinkClick r:id="rId9"/>
              </a:rPr>
              <a:t>https://www.hrk.pl/know-how/artykuly/ranking-10-najpopularniejszych-stanowisk-w-it/</a:t>
            </a:r>
            <a:endParaRPr lang="pl-PL" sz="1400" dirty="0"/>
          </a:p>
          <a:p>
            <a:r>
              <a:rPr lang="pl-PL" sz="1400" i="1" dirty="0"/>
              <a:t>Struktura organizacyjna W Firmie - Rodzaje I Przykłady</a:t>
            </a:r>
            <a:r>
              <a:rPr lang="pl-PL" sz="1400" dirty="0"/>
              <a:t>. </a:t>
            </a:r>
            <a:r>
              <a:rPr lang="pl-PL" sz="1400" dirty="0" err="1"/>
              <a:t>tomHRM</a:t>
            </a:r>
            <a:r>
              <a:rPr lang="pl-PL" sz="1400" dirty="0"/>
              <a:t>. (2025, January 8). </a:t>
            </a:r>
            <a:r>
              <a:rPr lang="pl-PL" sz="1400" dirty="0">
                <a:hlinkClick r:id="rId10"/>
              </a:rPr>
              <a:t>https://tomhrm.com/struktura-organizacyjna-firmy-rodzaje-przyklady</a:t>
            </a:r>
            <a:endParaRPr lang="pl-PL" sz="1400" dirty="0"/>
          </a:p>
          <a:p>
            <a:r>
              <a:rPr lang="pl-PL" sz="1400" dirty="0" err="1"/>
              <a:t>Wikimedia</a:t>
            </a:r>
            <a:r>
              <a:rPr lang="pl-PL" sz="1400" dirty="0"/>
              <a:t> Foundation. (2026, </a:t>
            </a:r>
            <a:r>
              <a:rPr lang="pl-PL" sz="1400" dirty="0" err="1"/>
              <a:t>February</a:t>
            </a:r>
            <a:r>
              <a:rPr lang="pl-PL" sz="1400" dirty="0"/>
              <a:t> 2). </a:t>
            </a:r>
            <a:r>
              <a:rPr lang="pl-PL" sz="1400" i="1" dirty="0"/>
              <a:t>Chief </a:t>
            </a:r>
            <a:r>
              <a:rPr lang="pl-PL" sz="1400" i="1" dirty="0" err="1"/>
              <a:t>information</a:t>
            </a:r>
            <a:r>
              <a:rPr lang="pl-PL" sz="1400" i="1" dirty="0"/>
              <a:t> </a:t>
            </a:r>
            <a:r>
              <a:rPr lang="pl-PL" sz="1400" i="1" dirty="0" err="1"/>
              <a:t>officer</a:t>
            </a:r>
            <a:r>
              <a:rPr lang="pl-PL" sz="1400" dirty="0"/>
              <a:t>. Wikipedia. </a:t>
            </a:r>
            <a:r>
              <a:rPr lang="pl-PL" sz="1400" dirty="0">
                <a:hlinkClick r:id="rId11"/>
              </a:rPr>
              <a:t>https://pl.wikipedia.org/wiki/Chief_Information_Officer</a:t>
            </a:r>
            <a:endParaRPr lang="pl-PL" sz="1400" dirty="0"/>
          </a:p>
          <a:p>
            <a:r>
              <a:rPr lang="pl-PL" sz="1400" i="1" dirty="0"/>
              <a:t>Ścieżka zawodowa programisty – Jakie Stanowiska I role Można Wyróżnić W firmie Tworzącej Oprogramowanie</a:t>
            </a:r>
            <a:r>
              <a:rPr lang="pl-PL" sz="1400" dirty="0"/>
              <a:t>. Modest Programmer. (2022, </a:t>
            </a:r>
            <a:r>
              <a:rPr lang="pl-PL" sz="1400" dirty="0" err="1"/>
              <a:t>February</a:t>
            </a:r>
            <a:r>
              <a:rPr lang="pl-PL" sz="1400" dirty="0"/>
              <a:t> 17). </a:t>
            </a:r>
            <a:r>
              <a:rPr lang="pl-PL" sz="1400" dirty="0">
                <a:hlinkClick r:id="rId12"/>
              </a:rPr>
              <a:t>https://modestprogrammer.pl/sciezka-zawodowa-programisty-jakie-stanowiska-i-role-mozna-wyroznic-w-firmie-tworzacej-oprogramowanie</a:t>
            </a:r>
            <a:endParaRPr lang="pl-PL" sz="1400" dirty="0"/>
          </a:p>
          <a:p>
            <a:r>
              <a:rPr lang="en-US" sz="1400" dirty="0" err="1"/>
              <a:t>Bakulina</a:t>
            </a:r>
            <a:r>
              <a:rPr lang="en-US" sz="1400" dirty="0"/>
              <a:t>, I. (2024, August 22). </a:t>
            </a:r>
            <a:r>
              <a:rPr lang="en-US" sz="1400" i="1" dirty="0"/>
              <a:t>Who is a scrum master? who needs a scrum master?</a:t>
            </a:r>
            <a:r>
              <a:rPr lang="en-US" sz="1400" dirty="0"/>
              <a:t>. </a:t>
            </a:r>
            <a:r>
              <a:rPr lang="en-US" sz="1400" dirty="0" err="1"/>
              <a:t>Techstack</a:t>
            </a:r>
            <a:r>
              <a:rPr lang="en-US" sz="1400" dirty="0"/>
              <a:t> company. </a:t>
            </a:r>
            <a:r>
              <a:rPr lang="en-US" sz="1400" dirty="0">
                <a:hlinkClick r:id="rId13"/>
              </a:rPr>
              <a:t>https://tech-stack.com/blog/who-is-a-scrum-master-who-needs-a-scrum-master/</a:t>
            </a:r>
            <a:endParaRPr lang="pl-PL" sz="1400" dirty="0"/>
          </a:p>
          <a:p>
            <a:r>
              <a:rPr lang="en-US" sz="1400" dirty="0"/>
              <a:t>Rehkopf, M. (2026, February 17). </a:t>
            </a:r>
            <a:r>
              <a:rPr lang="en-US" sz="1400" i="1" dirty="0"/>
              <a:t>What is a scrum master?</a:t>
            </a:r>
            <a:r>
              <a:rPr lang="en-US" sz="1400" dirty="0"/>
              <a:t>. Atlassian. </a:t>
            </a:r>
            <a:r>
              <a:rPr lang="en-US" sz="1400" dirty="0">
                <a:hlinkClick r:id="rId14"/>
              </a:rPr>
              <a:t>https://www.atlassian.com/agile/scrum/scrum-master</a:t>
            </a:r>
            <a:endParaRPr lang="pl-PL" sz="1400" dirty="0"/>
          </a:p>
          <a:p>
            <a:r>
              <a:rPr lang="en-US" sz="1400" dirty="0"/>
              <a:t>Gersten, J. (n.d.). </a:t>
            </a:r>
            <a:r>
              <a:rPr lang="en-US" sz="1400" i="1" dirty="0"/>
              <a:t>Implementing scrum and the agile management process</a:t>
            </a:r>
            <a:r>
              <a:rPr lang="en-US" sz="1400" dirty="0"/>
              <a:t>. College of Business and Economics | Western Washington University. </a:t>
            </a:r>
            <a:r>
              <a:rPr lang="en-US" sz="1400" dirty="0">
                <a:hlinkClick r:id="rId15"/>
              </a:rPr>
              <a:t>https://cbe.wwu.edu/implementing-scrum-and-agile-management-process-1</a:t>
            </a:r>
            <a:endParaRPr lang="pl-PL" sz="1400" dirty="0"/>
          </a:p>
        </p:txBody>
      </p:sp>
    </p:spTree>
    <p:extLst>
      <p:ext uri="{BB962C8B-B14F-4D97-AF65-F5344CB8AC3E}">
        <p14:creationId xmlns:p14="http://schemas.microsoft.com/office/powerpoint/2010/main" val="6280164"/>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TotalTime>
  <Words>1669</Words>
  <Application>Microsoft Office PowerPoint</Application>
  <PresentationFormat>Panoramiczny</PresentationFormat>
  <Paragraphs>258</Paragraphs>
  <Slides>29</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29</vt:i4>
      </vt:variant>
    </vt:vector>
  </HeadingPairs>
  <TitlesOfParts>
    <vt:vector size="34" baseType="lpstr">
      <vt:lpstr>Aptos</vt:lpstr>
      <vt:lpstr>Aptos Display</vt:lpstr>
      <vt:lpstr>Arial</vt:lpstr>
      <vt:lpstr>Google Sans Text</vt:lpstr>
      <vt:lpstr>Motyw pakietu Office</vt:lpstr>
      <vt:lpstr>Nazewnictwo i struktura stanowisk pracy w firmie IT</vt:lpstr>
      <vt:lpstr>Czym jest struktura firmy?</vt:lpstr>
      <vt:lpstr>Słownik</vt:lpstr>
      <vt:lpstr>Rodzaje struktur organizacyjnych</vt:lpstr>
      <vt:lpstr>Struktura scentralizowana</vt:lpstr>
      <vt:lpstr>Cechy struktury scentralizowanej</vt:lpstr>
      <vt:lpstr>Struktura zdecentralizowana</vt:lpstr>
      <vt:lpstr>Cechy struktury zdecentralizowanej</vt:lpstr>
      <vt:lpstr>Struktura funkcjonalna</vt:lpstr>
      <vt:lpstr>Cechy struktury funkcjonalnej</vt:lpstr>
      <vt:lpstr>Struktura macierzowa</vt:lpstr>
      <vt:lpstr>Cechy struktury macierzowej</vt:lpstr>
      <vt:lpstr>Struktura oparta na produkcie</vt:lpstr>
      <vt:lpstr>Cechy struktury opartej na produkcie</vt:lpstr>
      <vt:lpstr>Struktura federacyjna</vt:lpstr>
      <vt:lpstr>Cechy struktury federacyjnej</vt:lpstr>
      <vt:lpstr>Stanowiska pracy ze względu na doświadczenie</vt:lpstr>
      <vt:lpstr>Podział ról i stanowisk według specjalizacji</vt:lpstr>
      <vt:lpstr>Infrastruktura</vt:lpstr>
      <vt:lpstr>Rozwój oprogramowania</vt:lpstr>
      <vt:lpstr>Cyberbezpieczeństwo</vt:lpstr>
      <vt:lpstr>Dane i analityka</vt:lpstr>
      <vt:lpstr>Role w Agile / Scrum</vt:lpstr>
      <vt:lpstr>Scrum Master</vt:lpstr>
      <vt:lpstr>Product Owner</vt:lpstr>
      <vt:lpstr>Zarządzanie produktem i projektem</vt:lpstr>
      <vt:lpstr>Podsumowanie</vt:lpstr>
      <vt:lpstr>Zagadnienia do dyskusji</vt:lpstr>
      <vt:lpstr>Bibliografia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Mateusz Tereba (280556)</dc:creator>
  <cp:lastModifiedBy>Mateusz Tereba (280556)</cp:lastModifiedBy>
  <cp:revision>9</cp:revision>
  <dcterms:created xsi:type="dcterms:W3CDTF">2026-03-15T10:14:15Z</dcterms:created>
  <dcterms:modified xsi:type="dcterms:W3CDTF">2026-03-16T00:22:15Z</dcterms:modified>
</cp:coreProperties>
</file>