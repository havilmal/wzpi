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9" r:id="rId4"/>
    <p:sldId id="259" r:id="rId5"/>
    <p:sldId id="260" r:id="rId6"/>
    <p:sldId id="273" r:id="rId7"/>
    <p:sldId id="261" r:id="rId8"/>
    <p:sldId id="274" r:id="rId9"/>
    <p:sldId id="262" r:id="rId10"/>
    <p:sldId id="275" r:id="rId11"/>
    <p:sldId id="263" r:id="rId12"/>
    <p:sldId id="276" r:id="rId13"/>
    <p:sldId id="264" r:id="rId14"/>
    <p:sldId id="277" r:id="rId15"/>
    <p:sldId id="265" r:id="rId16"/>
    <p:sldId id="278" r:id="rId17"/>
    <p:sldId id="266" r:id="rId18"/>
    <p:sldId id="267" r:id="rId19"/>
    <p:sldId id="268" r:id="rId20"/>
    <p:sldId id="269" r:id="rId21"/>
    <p:sldId id="270" r:id="rId22"/>
    <p:sldId id="271" r:id="rId23"/>
    <p:sldId id="272" r:id="rId24"/>
    <p:sldId id="280" r:id="rId25"/>
    <p:sldId id="258" r:id="rId26"/>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Bez stylu, siatka tabeli">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Styl jasny 2 — Ak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Bez stylu, bez siatki">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6" autoAdjust="0"/>
    <p:restoredTop sz="94660"/>
  </p:normalViewPr>
  <p:slideViewPr>
    <p:cSldViewPr snapToGrid="0">
      <p:cViewPr>
        <p:scale>
          <a:sx n="66" d="100"/>
          <a:sy n="66" d="100"/>
        </p:scale>
        <p:origin x="672" y="19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DBCCDD4-A0D7-2452-98E6-0920FE08E2EC}"/>
              </a:ext>
            </a:extLst>
          </p:cNvPr>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p>
        </p:txBody>
      </p:sp>
      <p:sp>
        <p:nvSpPr>
          <p:cNvPr id="3" name="Podtytuł 2">
            <a:extLst>
              <a:ext uri="{FF2B5EF4-FFF2-40B4-BE49-F238E27FC236}">
                <a16:creationId xmlns:a16="http://schemas.microsoft.com/office/drawing/2014/main" id="{D9623E53-FD40-B1D7-7686-9F51DA34B9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p>
        </p:txBody>
      </p:sp>
      <p:sp>
        <p:nvSpPr>
          <p:cNvPr id="4" name="Symbol zastępczy daty 3">
            <a:extLst>
              <a:ext uri="{FF2B5EF4-FFF2-40B4-BE49-F238E27FC236}">
                <a16:creationId xmlns:a16="http://schemas.microsoft.com/office/drawing/2014/main" id="{3D6B9B8D-2FFA-CBE0-1FA0-865E0C327906}"/>
              </a:ext>
            </a:extLst>
          </p:cNvPr>
          <p:cNvSpPr>
            <a:spLocks noGrp="1"/>
          </p:cNvSpPr>
          <p:nvPr>
            <p:ph type="dt" sz="half" idx="10"/>
          </p:nvPr>
        </p:nvSpPr>
        <p:spPr/>
        <p:txBody>
          <a:bodyPr/>
          <a:lstStyle/>
          <a:p>
            <a:fld id="{E9F1A4AA-E108-41D3-BA4F-CCB18A9958D6}" type="datetimeFigureOut">
              <a:rPr lang="pl-PL" smtClean="0"/>
              <a:t>15.03.2026</a:t>
            </a:fld>
            <a:endParaRPr lang="pl-PL"/>
          </a:p>
        </p:txBody>
      </p:sp>
      <p:sp>
        <p:nvSpPr>
          <p:cNvPr id="5" name="Symbol zastępczy stopki 4">
            <a:extLst>
              <a:ext uri="{FF2B5EF4-FFF2-40B4-BE49-F238E27FC236}">
                <a16:creationId xmlns:a16="http://schemas.microsoft.com/office/drawing/2014/main" id="{7DB39787-818E-D047-7D01-2CC6600DC24F}"/>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AEC14EC6-EAF3-DDA3-65FD-77539C42B31B}"/>
              </a:ext>
            </a:extLst>
          </p:cNvPr>
          <p:cNvSpPr>
            <a:spLocks noGrp="1"/>
          </p:cNvSpPr>
          <p:nvPr>
            <p:ph type="sldNum" sz="quarter" idx="12"/>
          </p:nvPr>
        </p:nvSpPr>
        <p:spPr/>
        <p:txBody>
          <a:bodyPr/>
          <a:lstStyle/>
          <a:p>
            <a:fld id="{F5AC1814-E55F-4B94-8120-52BEB94729E0}" type="slidenum">
              <a:rPr lang="pl-PL" smtClean="0"/>
              <a:t>‹#›</a:t>
            </a:fld>
            <a:endParaRPr lang="pl-PL"/>
          </a:p>
        </p:txBody>
      </p:sp>
    </p:spTree>
    <p:extLst>
      <p:ext uri="{BB962C8B-B14F-4D97-AF65-F5344CB8AC3E}">
        <p14:creationId xmlns:p14="http://schemas.microsoft.com/office/powerpoint/2010/main" val="2573774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4EF33A0-1F85-4AEC-8B30-1F2D122161F1}"/>
              </a:ext>
            </a:extLst>
          </p:cNvPr>
          <p:cNvSpPr>
            <a:spLocks noGrp="1"/>
          </p:cNvSpPr>
          <p:nvPr>
            <p:ph type="title"/>
          </p:nvPr>
        </p:nvSpPr>
        <p:spPr/>
        <p:txBody>
          <a:bodyPr/>
          <a:lstStyle/>
          <a:p>
            <a:r>
              <a:rPr lang="pl-PL"/>
              <a:t>Kliknij, aby edytować styl</a:t>
            </a:r>
          </a:p>
        </p:txBody>
      </p:sp>
      <p:sp>
        <p:nvSpPr>
          <p:cNvPr id="3" name="Symbol zastępczy zawartości 2">
            <a:extLst>
              <a:ext uri="{FF2B5EF4-FFF2-40B4-BE49-F238E27FC236}">
                <a16:creationId xmlns:a16="http://schemas.microsoft.com/office/drawing/2014/main" id="{F6B5E3D2-B8A0-09AB-3C7E-B526981D8C83}"/>
              </a:ext>
            </a:extLst>
          </p:cNvPr>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3AA67DC1-EF1A-BB92-7317-DACD5E543EC0}"/>
              </a:ext>
            </a:extLst>
          </p:cNvPr>
          <p:cNvSpPr>
            <a:spLocks noGrp="1"/>
          </p:cNvSpPr>
          <p:nvPr>
            <p:ph type="dt" sz="half" idx="10"/>
          </p:nvPr>
        </p:nvSpPr>
        <p:spPr/>
        <p:txBody>
          <a:bodyPr/>
          <a:lstStyle/>
          <a:p>
            <a:fld id="{E9F1A4AA-E108-41D3-BA4F-CCB18A9958D6}" type="datetimeFigureOut">
              <a:rPr lang="pl-PL" smtClean="0"/>
              <a:t>15.03.2026</a:t>
            </a:fld>
            <a:endParaRPr lang="pl-PL"/>
          </a:p>
        </p:txBody>
      </p:sp>
      <p:sp>
        <p:nvSpPr>
          <p:cNvPr id="5" name="Symbol zastępczy stopki 4">
            <a:extLst>
              <a:ext uri="{FF2B5EF4-FFF2-40B4-BE49-F238E27FC236}">
                <a16:creationId xmlns:a16="http://schemas.microsoft.com/office/drawing/2014/main" id="{2AD4C954-2321-AEC5-0A8C-C2CBE97FD3B4}"/>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17F4B478-54C8-ABF6-7123-0BCC48098292}"/>
              </a:ext>
            </a:extLst>
          </p:cNvPr>
          <p:cNvSpPr>
            <a:spLocks noGrp="1"/>
          </p:cNvSpPr>
          <p:nvPr>
            <p:ph type="sldNum" sz="quarter" idx="12"/>
          </p:nvPr>
        </p:nvSpPr>
        <p:spPr/>
        <p:txBody>
          <a:bodyPr/>
          <a:lstStyle/>
          <a:p>
            <a:fld id="{F5AC1814-E55F-4B94-8120-52BEB94729E0}" type="slidenum">
              <a:rPr lang="pl-PL" smtClean="0"/>
              <a:t>‹#›</a:t>
            </a:fld>
            <a:endParaRPr lang="pl-PL"/>
          </a:p>
        </p:txBody>
      </p:sp>
    </p:spTree>
    <p:extLst>
      <p:ext uri="{BB962C8B-B14F-4D97-AF65-F5344CB8AC3E}">
        <p14:creationId xmlns:p14="http://schemas.microsoft.com/office/powerpoint/2010/main" val="597192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AF09ADE-0841-8E2D-84D5-8E9BDD5CA583}"/>
              </a:ext>
            </a:extLst>
          </p:cNvPr>
          <p:cNvSpPr>
            <a:spLocks noGrp="1"/>
          </p:cNvSpPr>
          <p:nvPr>
            <p:ph type="title"/>
          </p:nvPr>
        </p:nvSpPr>
        <p:spPr>
          <a:xfrm>
            <a:off x="831850" y="1709738"/>
            <a:ext cx="10515600" cy="2852737"/>
          </a:xfrm>
        </p:spPr>
        <p:txBody>
          <a:bodyPr anchor="b"/>
          <a:lstStyle>
            <a:lvl1pPr>
              <a:defRPr sz="6000"/>
            </a:lvl1pPr>
          </a:lstStyle>
          <a:p>
            <a:r>
              <a:rPr lang="pl-PL"/>
              <a:t>Kliknij, aby edytować styl</a:t>
            </a:r>
          </a:p>
        </p:txBody>
      </p:sp>
      <p:sp>
        <p:nvSpPr>
          <p:cNvPr id="3" name="Symbol zastępczy tekstu 2">
            <a:extLst>
              <a:ext uri="{FF2B5EF4-FFF2-40B4-BE49-F238E27FC236}">
                <a16:creationId xmlns:a16="http://schemas.microsoft.com/office/drawing/2014/main" id="{24993952-8F8A-74B9-D6C2-0E0DCC4D352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l-PL"/>
              <a:t>Kliknij, aby edytować style wzorca tekstu</a:t>
            </a:r>
          </a:p>
        </p:txBody>
      </p:sp>
      <p:sp>
        <p:nvSpPr>
          <p:cNvPr id="4" name="Symbol zastępczy daty 3">
            <a:extLst>
              <a:ext uri="{FF2B5EF4-FFF2-40B4-BE49-F238E27FC236}">
                <a16:creationId xmlns:a16="http://schemas.microsoft.com/office/drawing/2014/main" id="{D90D6B01-8BB3-880B-637B-42A054B008D3}"/>
              </a:ext>
            </a:extLst>
          </p:cNvPr>
          <p:cNvSpPr>
            <a:spLocks noGrp="1"/>
          </p:cNvSpPr>
          <p:nvPr>
            <p:ph type="dt" sz="half" idx="10"/>
          </p:nvPr>
        </p:nvSpPr>
        <p:spPr/>
        <p:txBody>
          <a:bodyPr/>
          <a:lstStyle/>
          <a:p>
            <a:fld id="{E9F1A4AA-E108-41D3-BA4F-CCB18A9958D6}" type="datetimeFigureOut">
              <a:rPr lang="pl-PL" smtClean="0"/>
              <a:t>15.03.2026</a:t>
            </a:fld>
            <a:endParaRPr lang="pl-PL"/>
          </a:p>
        </p:txBody>
      </p:sp>
      <p:sp>
        <p:nvSpPr>
          <p:cNvPr id="5" name="Symbol zastępczy stopki 4">
            <a:extLst>
              <a:ext uri="{FF2B5EF4-FFF2-40B4-BE49-F238E27FC236}">
                <a16:creationId xmlns:a16="http://schemas.microsoft.com/office/drawing/2014/main" id="{09AAF95D-D16A-EE94-F54D-BD59B68F3534}"/>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938CAD8C-46E6-EC28-BD52-3A1515EE0416}"/>
              </a:ext>
            </a:extLst>
          </p:cNvPr>
          <p:cNvSpPr>
            <a:spLocks noGrp="1"/>
          </p:cNvSpPr>
          <p:nvPr>
            <p:ph type="sldNum" sz="quarter" idx="12"/>
          </p:nvPr>
        </p:nvSpPr>
        <p:spPr/>
        <p:txBody>
          <a:bodyPr/>
          <a:lstStyle/>
          <a:p>
            <a:fld id="{F5AC1814-E55F-4B94-8120-52BEB94729E0}" type="slidenum">
              <a:rPr lang="pl-PL" smtClean="0"/>
              <a:t>‹#›</a:t>
            </a:fld>
            <a:endParaRPr lang="pl-PL"/>
          </a:p>
        </p:txBody>
      </p:sp>
    </p:spTree>
    <p:extLst>
      <p:ext uri="{BB962C8B-B14F-4D97-AF65-F5344CB8AC3E}">
        <p14:creationId xmlns:p14="http://schemas.microsoft.com/office/powerpoint/2010/main" val="748527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8F57ABB-9FB9-BE0B-6F70-6FC401C7998A}"/>
              </a:ext>
            </a:extLst>
          </p:cNvPr>
          <p:cNvSpPr>
            <a:spLocks noGrp="1"/>
          </p:cNvSpPr>
          <p:nvPr>
            <p:ph type="title"/>
          </p:nvPr>
        </p:nvSpPr>
        <p:spPr/>
        <p:txBody>
          <a:bodyPr/>
          <a:lstStyle/>
          <a:p>
            <a:r>
              <a:rPr lang="pl-PL"/>
              <a:t>Kliknij, aby edytować styl</a:t>
            </a:r>
          </a:p>
        </p:txBody>
      </p:sp>
      <p:sp>
        <p:nvSpPr>
          <p:cNvPr id="3" name="Symbol zastępczy zawartości 2">
            <a:extLst>
              <a:ext uri="{FF2B5EF4-FFF2-40B4-BE49-F238E27FC236}">
                <a16:creationId xmlns:a16="http://schemas.microsoft.com/office/drawing/2014/main" id="{496C9DCB-E499-F80C-4533-767A83720625}"/>
              </a:ext>
            </a:extLst>
          </p:cNvPr>
          <p:cNvSpPr>
            <a:spLocks noGrp="1"/>
          </p:cNvSpPr>
          <p:nvPr>
            <p:ph sz="half" idx="1"/>
          </p:nvPr>
        </p:nvSpPr>
        <p:spPr>
          <a:xfrm>
            <a:off x="838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a:extLst>
              <a:ext uri="{FF2B5EF4-FFF2-40B4-BE49-F238E27FC236}">
                <a16:creationId xmlns:a16="http://schemas.microsoft.com/office/drawing/2014/main" id="{19AE5C43-CD93-F6AA-406F-695F18C30267}"/>
              </a:ext>
            </a:extLst>
          </p:cNvPr>
          <p:cNvSpPr>
            <a:spLocks noGrp="1"/>
          </p:cNvSpPr>
          <p:nvPr>
            <p:ph sz="half" idx="2"/>
          </p:nvPr>
        </p:nvSpPr>
        <p:spPr>
          <a:xfrm>
            <a:off x="6172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a:extLst>
              <a:ext uri="{FF2B5EF4-FFF2-40B4-BE49-F238E27FC236}">
                <a16:creationId xmlns:a16="http://schemas.microsoft.com/office/drawing/2014/main" id="{4398CE9B-43BB-E64D-FFE6-1B3763EFC743}"/>
              </a:ext>
            </a:extLst>
          </p:cNvPr>
          <p:cNvSpPr>
            <a:spLocks noGrp="1"/>
          </p:cNvSpPr>
          <p:nvPr>
            <p:ph type="dt" sz="half" idx="10"/>
          </p:nvPr>
        </p:nvSpPr>
        <p:spPr/>
        <p:txBody>
          <a:bodyPr/>
          <a:lstStyle/>
          <a:p>
            <a:fld id="{E9F1A4AA-E108-41D3-BA4F-CCB18A9958D6}" type="datetimeFigureOut">
              <a:rPr lang="pl-PL" smtClean="0"/>
              <a:t>15.03.2026</a:t>
            </a:fld>
            <a:endParaRPr lang="pl-PL"/>
          </a:p>
        </p:txBody>
      </p:sp>
      <p:sp>
        <p:nvSpPr>
          <p:cNvPr id="6" name="Symbol zastępczy stopki 5">
            <a:extLst>
              <a:ext uri="{FF2B5EF4-FFF2-40B4-BE49-F238E27FC236}">
                <a16:creationId xmlns:a16="http://schemas.microsoft.com/office/drawing/2014/main" id="{7D53A248-9794-CE67-F088-597E3A66D0EE}"/>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BC1D986E-0006-D7F9-E7A1-51D20F81806C}"/>
              </a:ext>
            </a:extLst>
          </p:cNvPr>
          <p:cNvSpPr>
            <a:spLocks noGrp="1"/>
          </p:cNvSpPr>
          <p:nvPr>
            <p:ph type="sldNum" sz="quarter" idx="12"/>
          </p:nvPr>
        </p:nvSpPr>
        <p:spPr/>
        <p:txBody>
          <a:bodyPr/>
          <a:lstStyle/>
          <a:p>
            <a:fld id="{F5AC1814-E55F-4B94-8120-52BEB94729E0}" type="slidenum">
              <a:rPr lang="pl-PL" smtClean="0"/>
              <a:t>‹#›</a:t>
            </a:fld>
            <a:endParaRPr lang="pl-PL"/>
          </a:p>
        </p:txBody>
      </p:sp>
    </p:spTree>
    <p:extLst>
      <p:ext uri="{BB962C8B-B14F-4D97-AF65-F5344CB8AC3E}">
        <p14:creationId xmlns:p14="http://schemas.microsoft.com/office/powerpoint/2010/main" val="1076107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F43905B-46B2-63FC-3C38-6A216D91EE9A}"/>
              </a:ext>
            </a:extLst>
          </p:cNvPr>
          <p:cNvSpPr>
            <a:spLocks noGrp="1"/>
          </p:cNvSpPr>
          <p:nvPr>
            <p:ph type="title"/>
          </p:nvPr>
        </p:nvSpPr>
        <p:spPr>
          <a:xfrm>
            <a:off x="839788" y="365125"/>
            <a:ext cx="10515600" cy="1325563"/>
          </a:xfrm>
        </p:spPr>
        <p:txBody>
          <a:bodyPr/>
          <a:lstStyle/>
          <a:p>
            <a:r>
              <a:rPr lang="pl-PL"/>
              <a:t>Kliknij, aby edytować styl</a:t>
            </a:r>
          </a:p>
        </p:txBody>
      </p:sp>
      <p:sp>
        <p:nvSpPr>
          <p:cNvPr id="3" name="Symbol zastępczy tekstu 2">
            <a:extLst>
              <a:ext uri="{FF2B5EF4-FFF2-40B4-BE49-F238E27FC236}">
                <a16:creationId xmlns:a16="http://schemas.microsoft.com/office/drawing/2014/main" id="{CC44C648-9ABE-000B-1A9A-E612F6E608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a:extLst>
              <a:ext uri="{FF2B5EF4-FFF2-40B4-BE49-F238E27FC236}">
                <a16:creationId xmlns:a16="http://schemas.microsoft.com/office/drawing/2014/main" id="{72D0A87E-382F-6D94-E338-278909F274ED}"/>
              </a:ext>
            </a:extLst>
          </p:cNvPr>
          <p:cNvSpPr>
            <a:spLocks noGrp="1"/>
          </p:cNvSpPr>
          <p:nvPr>
            <p:ph sz="half" idx="2"/>
          </p:nvPr>
        </p:nvSpPr>
        <p:spPr>
          <a:xfrm>
            <a:off x="839788" y="2505075"/>
            <a:ext cx="5157787"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a:extLst>
              <a:ext uri="{FF2B5EF4-FFF2-40B4-BE49-F238E27FC236}">
                <a16:creationId xmlns:a16="http://schemas.microsoft.com/office/drawing/2014/main" id="{AFB18A42-298A-BB4E-497E-4205DCE6A7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a:extLst>
              <a:ext uri="{FF2B5EF4-FFF2-40B4-BE49-F238E27FC236}">
                <a16:creationId xmlns:a16="http://schemas.microsoft.com/office/drawing/2014/main" id="{41CE6484-574D-2B40-D64C-531090596422}"/>
              </a:ext>
            </a:extLst>
          </p:cNvPr>
          <p:cNvSpPr>
            <a:spLocks noGrp="1"/>
          </p:cNvSpPr>
          <p:nvPr>
            <p:ph sz="quarter" idx="4"/>
          </p:nvPr>
        </p:nvSpPr>
        <p:spPr>
          <a:xfrm>
            <a:off x="6172200" y="2505075"/>
            <a:ext cx="5183188"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a:extLst>
              <a:ext uri="{FF2B5EF4-FFF2-40B4-BE49-F238E27FC236}">
                <a16:creationId xmlns:a16="http://schemas.microsoft.com/office/drawing/2014/main" id="{9A08D638-3A7E-6181-0C36-2FFBD8D80ED3}"/>
              </a:ext>
            </a:extLst>
          </p:cNvPr>
          <p:cNvSpPr>
            <a:spLocks noGrp="1"/>
          </p:cNvSpPr>
          <p:nvPr>
            <p:ph type="dt" sz="half" idx="10"/>
          </p:nvPr>
        </p:nvSpPr>
        <p:spPr/>
        <p:txBody>
          <a:bodyPr/>
          <a:lstStyle/>
          <a:p>
            <a:fld id="{E9F1A4AA-E108-41D3-BA4F-CCB18A9958D6}" type="datetimeFigureOut">
              <a:rPr lang="pl-PL" smtClean="0"/>
              <a:t>15.03.2026</a:t>
            </a:fld>
            <a:endParaRPr lang="pl-PL"/>
          </a:p>
        </p:txBody>
      </p:sp>
      <p:sp>
        <p:nvSpPr>
          <p:cNvPr id="8" name="Symbol zastępczy stopki 7">
            <a:extLst>
              <a:ext uri="{FF2B5EF4-FFF2-40B4-BE49-F238E27FC236}">
                <a16:creationId xmlns:a16="http://schemas.microsoft.com/office/drawing/2014/main" id="{A7CAC7CE-BA49-4355-EA83-1A40DD6276C9}"/>
              </a:ext>
            </a:extLst>
          </p:cNvPr>
          <p:cNvSpPr>
            <a:spLocks noGrp="1"/>
          </p:cNvSpPr>
          <p:nvPr>
            <p:ph type="ftr" sz="quarter" idx="11"/>
          </p:nvPr>
        </p:nvSpPr>
        <p:spPr/>
        <p:txBody>
          <a:bodyPr/>
          <a:lstStyle/>
          <a:p>
            <a:endParaRPr lang="pl-PL"/>
          </a:p>
        </p:txBody>
      </p:sp>
      <p:sp>
        <p:nvSpPr>
          <p:cNvPr id="9" name="Symbol zastępczy numeru slajdu 8">
            <a:extLst>
              <a:ext uri="{FF2B5EF4-FFF2-40B4-BE49-F238E27FC236}">
                <a16:creationId xmlns:a16="http://schemas.microsoft.com/office/drawing/2014/main" id="{E51B15AC-1ADE-18EC-22F1-B554E1597CBA}"/>
              </a:ext>
            </a:extLst>
          </p:cNvPr>
          <p:cNvSpPr>
            <a:spLocks noGrp="1"/>
          </p:cNvSpPr>
          <p:nvPr>
            <p:ph type="sldNum" sz="quarter" idx="12"/>
          </p:nvPr>
        </p:nvSpPr>
        <p:spPr/>
        <p:txBody>
          <a:bodyPr/>
          <a:lstStyle/>
          <a:p>
            <a:fld id="{F5AC1814-E55F-4B94-8120-52BEB94729E0}" type="slidenum">
              <a:rPr lang="pl-PL" smtClean="0"/>
              <a:t>‹#›</a:t>
            </a:fld>
            <a:endParaRPr lang="pl-PL"/>
          </a:p>
        </p:txBody>
      </p:sp>
    </p:spTree>
    <p:extLst>
      <p:ext uri="{BB962C8B-B14F-4D97-AF65-F5344CB8AC3E}">
        <p14:creationId xmlns:p14="http://schemas.microsoft.com/office/powerpoint/2010/main" val="836016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7F50B6D-BADD-FEBE-8C39-152D715C8453}"/>
              </a:ext>
            </a:extLst>
          </p:cNvPr>
          <p:cNvSpPr>
            <a:spLocks noGrp="1"/>
          </p:cNvSpPr>
          <p:nvPr>
            <p:ph type="title"/>
          </p:nvPr>
        </p:nvSpPr>
        <p:spPr/>
        <p:txBody>
          <a:bodyPr/>
          <a:lstStyle/>
          <a:p>
            <a:r>
              <a:rPr lang="pl-PL"/>
              <a:t>Kliknij, aby edytować styl</a:t>
            </a:r>
          </a:p>
        </p:txBody>
      </p:sp>
      <p:sp>
        <p:nvSpPr>
          <p:cNvPr id="3" name="Symbol zastępczy daty 2">
            <a:extLst>
              <a:ext uri="{FF2B5EF4-FFF2-40B4-BE49-F238E27FC236}">
                <a16:creationId xmlns:a16="http://schemas.microsoft.com/office/drawing/2014/main" id="{5A501E64-23D6-303F-E374-BA749FE2A0EB}"/>
              </a:ext>
            </a:extLst>
          </p:cNvPr>
          <p:cNvSpPr>
            <a:spLocks noGrp="1"/>
          </p:cNvSpPr>
          <p:nvPr>
            <p:ph type="dt" sz="half" idx="10"/>
          </p:nvPr>
        </p:nvSpPr>
        <p:spPr/>
        <p:txBody>
          <a:bodyPr/>
          <a:lstStyle/>
          <a:p>
            <a:fld id="{E9F1A4AA-E108-41D3-BA4F-CCB18A9958D6}" type="datetimeFigureOut">
              <a:rPr lang="pl-PL" smtClean="0"/>
              <a:t>15.03.2026</a:t>
            </a:fld>
            <a:endParaRPr lang="pl-PL"/>
          </a:p>
        </p:txBody>
      </p:sp>
      <p:sp>
        <p:nvSpPr>
          <p:cNvPr id="4" name="Symbol zastępczy stopki 3">
            <a:extLst>
              <a:ext uri="{FF2B5EF4-FFF2-40B4-BE49-F238E27FC236}">
                <a16:creationId xmlns:a16="http://schemas.microsoft.com/office/drawing/2014/main" id="{8D7E9C2A-97D2-7D71-2F76-DE1CFF6412A5}"/>
              </a:ext>
            </a:extLst>
          </p:cNvPr>
          <p:cNvSpPr>
            <a:spLocks noGrp="1"/>
          </p:cNvSpPr>
          <p:nvPr>
            <p:ph type="ftr" sz="quarter" idx="11"/>
          </p:nvPr>
        </p:nvSpPr>
        <p:spPr/>
        <p:txBody>
          <a:bodyPr/>
          <a:lstStyle/>
          <a:p>
            <a:endParaRPr lang="pl-PL"/>
          </a:p>
        </p:txBody>
      </p:sp>
      <p:sp>
        <p:nvSpPr>
          <p:cNvPr id="5" name="Symbol zastępczy numeru slajdu 4">
            <a:extLst>
              <a:ext uri="{FF2B5EF4-FFF2-40B4-BE49-F238E27FC236}">
                <a16:creationId xmlns:a16="http://schemas.microsoft.com/office/drawing/2014/main" id="{44663E42-6C0E-60CA-BCE0-55B44725C618}"/>
              </a:ext>
            </a:extLst>
          </p:cNvPr>
          <p:cNvSpPr>
            <a:spLocks noGrp="1"/>
          </p:cNvSpPr>
          <p:nvPr>
            <p:ph type="sldNum" sz="quarter" idx="12"/>
          </p:nvPr>
        </p:nvSpPr>
        <p:spPr/>
        <p:txBody>
          <a:bodyPr/>
          <a:lstStyle/>
          <a:p>
            <a:fld id="{F5AC1814-E55F-4B94-8120-52BEB94729E0}" type="slidenum">
              <a:rPr lang="pl-PL" smtClean="0"/>
              <a:t>‹#›</a:t>
            </a:fld>
            <a:endParaRPr lang="pl-PL"/>
          </a:p>
        </p:txBody>
      </p:sp>
    </p:spTree>
    <p:extLst>
      <p:ext uri="{BB962C8B-B14F-4D97-AF65-F5344CB8AC3E}">
        <p14:creationId xmlns:p14="http://schemas.microsoft.com/office/powerpoint/2010/main" val="1179980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a:extLst>
              <a:ext uri="{FF2B5EF4-FFF2-40B4-BE49-F238E27FC236}">
                <a16:creationId xmlns:a16="http://schemas.microsoft.com/office/drawing/2014/main" id="{15E8EEAD-9D84-3B68-A8CC-A0D25638B5F8}"/>
              </a:ext>
            </a:extLst>
          </p:cNvPr>
          <p:cNvSpPr>
            <a:spLocks noGrp="1"/>
          </p:cNvSpPr>
          <p:nvPr>
            <p:ph type="dt" sz="half" idx="10"/>
          </p:nvPr>
        </p:nvSpPr>
        <p:spPr/>
        <p:txBody>
          <a:bodyPr/>
          <a:lstStyle/>
          <a:p>
            <a:fld id="{E9F1A4AA-E108-41D3-BA4F-CCB18A9958D6}" type="datetimeFigureOut">
              <a:rPr lang="pl-PL" smtClean="0"/>
              <a:t>15.03.2026</a:t>
            </a:fld>
            <a:endParaRPr lang="pl-PL"/>
          </a:p>
        </p:txBody>
      </p:sp>
      <p:sp>
        <p:nvSpPr>
          <p:cNvPr id="3" name="Symbol zastępczy stopki 2">
            <a:extLst>
              <a:ext uri="{FF2B5EF4-FFF2-40B4-BE49-F238E27FC236}">
                <a16:creationId xmlns:a16="http://schemas.microsoft.com/office/drawing/2014/main" id="{1F9FF18C-0F47-0F03-075A-26FE5146BBD4}"/>
              </a:ext>
            </a:extLst>
          </p:cNvPr>
          <p:cNvSpPr>
            <a:spLocks noGrp="1"/>
          </p:cNvSpPr>
          <p:nvPr>
            <p:ph type="ftr" sz="quarter" idx="11"/>
          </p:nvPr>
        </p:nvSpPr>
        <p:spPr/>
        <p:txBody>
          <a:bodyPr/>
          <a:lstStyle/>
          <a:p>
            <a:endParaRPr lang="pl-PL"/>
          </a:p>
        </p:txBody>
      </p:sp>
      <p:sp>
        <p:nvSpPr>
          <p:cNvPr id="4" name="Symbol zastępczy numeru slajdu 3">
            <a:extLst>
              <a:ext uri="{FF2B5EF4-FFF2-40B4-BE49-F238E27FC236}">
                <a16:creationId xmlns:a16="http://schemas.microsoft.com/office/drawing/2014/main" id="{15ABA0C0-8878-AAB7-12FE-43E87D5643E7}"/>
              </a:ext>
            </a:extLst>
          </p:cNvPr>
          <p:cNvSpPr>
            <a:spLocks noGrp="1"/>
          </p:cNvSpPr>
          <p:nvPr>
            <p:ph type="sldNum" sz="quarter" idx="12"/>
          </p:nvPr>
        </p:nvSpPr>
        <p:spPr/>
        <p:txBody>
          <a:bodyPr/>
          <a:lstStyle/>
          <a:p>
            <a:fld id="{F5AC1814-E55F-4B94-8120-52BEB94729E0}" type="slidenum">
              <a:rPr lang="pl-PL" smtClean="0"/>
              <a:t>‹#›</a:t>
            </a:fld>
            <a:endParaRPr lang="pl-PL"/>
          </a:p>
        </p:txBody>
      </p:sp>
    </p:spTree>
    <p:extLst>
      <p:ext uri="{BB962C8B-B14F-4D97-AF65-F5344CB8AC3E}">
        <p14:creationId xmlns:p14="http://schemas.microsoft.com/office/powerpoint/2010/main" val="80359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4725337-F552-F415-D085-1BA672AB9F75}"/>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zawartości 2">
            <a:extLst>
              <a:ext uri="{FF2B5EF4-FFF2-40B4-BE49-F238E27FC236}">
                <a16:creationId xmlns:a16="http://schemas.microsoft.com/office/drawing/2014/main" id="{9B7D15D9-1875-CA9F-4623-492D6F2054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a:extLst>
              <a:ext uri="{FF2B5EF4-FFF2-40B4-BE49-F238E27FC236}">
                <a16:creationId xmlns:a16="http://schemas.microsoft.com/office/drawing/2014/main" id="{863800A1-C506-9BED-9D1F-347D837B05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21C4D9D1-FAEE-E36A-A059-7586B0B9F859}"/>
              </a:ext>
            </a:extLst>
          </p:cNvPr>
          <p:cNvSpPr>
            <a:spLocks noGrp="1"/>
          </p:cNvSpPr>
          <p:nvPr>
            <p:ph type="dt" sz="half" idx="10"/>
          </p:nvPr>
        </p:nvSpPr>
        <p:spPr/>
        <p:txBody>
          <a:bodyPr/>
          <a:lstStyle/>
          <a:p>
            <a:fld id="{E9F1A4AA-E108-41D3-BA4F-CCB18A9958D6}" type="datetimeFigureOut">
              <a:rPr lang="pl-PL" smtClean="0"/>
              <a:t>15.03.2026</a:t>
            </a:fld>
            <a:endParaRPr lang="pl-PL"/>
          </a:p>
        </p:txBody>
      </p:sp>
      <p:sp>
        <p:nvSpPr>
          <p:cNvPr id="6" name="Symbol zastępczy stopki 5">
            <a:extLst>
              <a:ext uri="{FF2B5EF4-FFF2-40B4-BE49-F238E27FC236}">
                <a16:creationId xmlns:a16="http://schemas.microsoft.com/office/drawing/2014/main" id="{1335F8D0-D8E9-BF3C-48AA-E242AF373504}"/>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445D47B9-77FB-FD0D-597D-C37D765FACA1}"/>
              </a:ext>
            </a:extLst>
          </p:cNvPr>
          <p:cNvSpPr>
            <a:spLocks noGrp="1"/>
          </p:cNvSpPr>
          <p:nvPr>
            <p:ph type="sldNum" sz="quarter" idx="12"/>
          </p:nvPr>
        </p:nvSpPr>
        <p:spPr/>
        <p:txBody>
          <a:bodyPr/>
          <a:lstStyle/>
          <a:p>
            <a:fld id="{F5AC1814-E55F-4B94-8120-52BEB94729E0}" type="slidenum">
              <a:rPr lang="pl-PL" smtClean="0"/>
              <a:t>‹#›</a:t>
            </a:fld>
            <a:endParaRPr lang="pl-PL"/>
          </a:p>
        </p:txBody>
      </p:sp>
    </p:spTree>
    <p:extLst>
      <p:ext uri="{BB962C8B-B14F-4D97-AF65-F5344CB8AC3E}">
        <p14:creationId xmlns:p14="http://schemas.microsoft.com/office/powerpoint/2010/main" val="5797811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5A24BB9-2BC4-D564-44D1-3F22CE33B89E}"/>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obrazu 2">
            <a:extLst>
              <a:ext uri="{FF2B5EF4-FFF2-40B4-BE49-F238E27FC236}">
                <a16:creationId xmlns:a16="http://schemas.microsoft.com/office/drawing/2014/main" id="{081C64C3-1BF2-088E-44C8-999984A905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a:p>
        </p:txBody>
      </p:sp>
      <p:sp>
        <p:nvSpPr>
          <p:cNvPr id="4" name="Symbol zastępczy tekstu 3">
            <a:extLst>
              <a:ext uri="{FF2B5EF4-FFF2-40B4-BE49-F238E27FC236}">
                <a16:creationId xmlns:a16="http://schemas.microsoft.com/office/drawing/2014/main" id="{25F23E46-9DBB-6A3A-F97C-1F06A4CAC3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D7079A5C-8E5D-9B01-D1B3-82099BE84F49}"/>
              </a:ext>
            </a:extLst>
          </p:cNvPr>
          <p:cNvSpPr>
            <a:spLocks noGrp="1"/>
          </p:cNvSpPr>
          <p:nvPr>
            <p:ph type="dt" sz="half" idx="10"/>
          </p:nvPr>
        </p:nvSpPr>
        <p:spPr/>
        <p:txBody>
          <a:bodyPr/>
          <a:lstStyle/>
          <a:p>
            <a:fld id="{E9F1A4AA-E108-41D3-BA4F-CCB18A9958D6}" type="datetimeFigureOut">
              <a:rPr lang="pl-PL" smtClean="0"/>
              <a:t>15.03.2026</a:t>
            </a:fld>
            <a:endParaRPr lang="pl-PL"/>
          </a:p>
        </p:txBody>
      </p:sp>
      <p:sp>
        <p:nvSpPr>
          <p:cNvPr id="6" name="Symbol zastępczy stopki 5">
            <a:extLst>
              <a:ext uri="{FF2B5EF4-FFF2-40B4-BE49-F238E27FC236}">
                <a16:creationId xmlns:a16="http://schemas.microsoft.com/office/drawing/2014/main" id="{91275238-B71D-5503-F0F3-D02A4D23A16E}"/>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E6DEAC32-5F48-D197-450D-CA8332AC376D}"/>
              </a:ext>
            </a:extLst>
          </p:cNvPr>
          <p:cNvSpPr>
            <a:spLocks noGrp="1"/>
          </p:cNvSpPr>
          <p:nvPr>
            <p:ph type="sldNum" sz="quarter" idx="12"/>
          </p:nvPr>
        </p:nvSpPr>
        <p:spPr/>
        <p:txBody>
          <a:bodyPr/>
          <a:lstStyle/>
          <a:p>
            <a:fld id="{F5AC1814-E55F-4B94-8120-52BEB94729E0}" type="slidenum">
              <a:rPr lang="pl-PL" smtClean="0"/>
              <a:t>‹#›</a:t>
            </a:fld>
            <a:endParaRPr lang="pl-PL"/>
          </a:p>
        </p:txBody>
      </p:sp>
    </p:spTree>
    <p:extLst>
      <p:ext uri="{BB962C8B-B14F-4D97-AF65-F5344CB8AC3E}">
        <p14:creationId xmlns:p14="http://schemas.microsoft.com/office/powerpoint/2010/main" val="265648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EAF1E80-D110-536A-6FF2-4B8062B977E3}"/>
              </a:ext>
            </a:extLst>
          </p:cNvPr>
          <p:cNvSpPr>
            <a:spLocks noGrp="1"/>
          </p:cNvSpPr>
          <p:nvPr>
            <p:ph type="title"/>
          </p:nvPr>
        </p:nvSpPr>
        <p:spPr/>
        <p:txBody>
          <a:bodyPr/>
          <a:lstStyle/>
          <a:p>
            <a:r>
              <a:rPr lang="pl-PL"/>
              <a:t>Kliknij, aby edytować styl</a:t>
            </a:r>
          </a:p>
        </p:txBody>
      </p:sp>
      <p:sp>
        <p:nvSpPr>
          <p:cNvPr id="3" name="Symbol zastępczy tytułu pionowego 2">
            <a:extLst>
              <a:ext uri="{FF2B5EF4-FFF2-40B4-BE49-F238E27FC236}">
                <a16:creationId xmlns:a16="http://schemas.microsoft.com/office/drawing/2014/main" id="{985530FB-BFAD-2568-868B-CC37E5A8F0E8}"/>
              </a:ext>
            </a:extLst>
          </p:cNvPr>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BB05F6F9-4549-20B6-E597-FFDBCBEBF46C}"/>
              </a:ext>
            </a:extLst>
          </p:cNvPr>
          <p:cNvSpPr>
            <a:spLocks noGrp="1"/>
          </p:cNvSpPr>
          <p:nvPr>
            <p:ph type="dt" sz="half" idx="10"/>
          </p:nvPr>
        </p:nvSpPr>
        <p:spPr/>
        <p:txBody>
          <a:bodyPr/>
          <a:lstStyle/>
          <a:p>
            <a:fld id="{E9F1A4AA-E108-41D3-BA4F-CCB18A9958D6}" type="datetimeFigureOut">
              <a:rPr lang="pl-PL" smtClean="0"/>
              <a:t>15.03.2026</a:t>
            </a:fld>
            <a:endParaRPr lang="pl-PL"/>
          </a:p>
        </p:txBody>
      </p:sp>
      <p:sp>
        <p:nvSpPr>
          <p:cNvPr id="5" name="Symbol zastępczy stopki 4">
            <a:extLst>
              <a:ext uri="{FF2B5EF4-FFF2-40B4-BE49-F238E27FC236}">
                <a16:creationId xmlns:a16="http://schemas.microsoft.com/office/drawing/2014/main" id="{E491BFFC-29E9-D288-1B52-0927DBD0C915}"/>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406B0062-4F73-BB17-CF1B-9BFBBBCD3ED8}"/>
              </a:ext>
            </a:extLst>
          </p:cNvPr>
          <p:cNvSpPr>
            <a:spLocks noGrp="1"/>
          </p:cNvSpPr>
          <p:nvPr>
            <p:ph type="sldNum" sz="quarter" idx="12"/>
          </p:nvPr>
        </p:nvSpPr>
        <p:spPr/>
        <p:txBody>
          <a:bodyPr/>
          <a:lstStyle/>
          <a:p>
            <a:fld id="{F5AC1814-E55F-4B94-8120-52BEB94729E0}" type="slidenum">
              <a:rPr lang="pl-PL" smtClean="0"/>
              <a:t>‹#›</a:t>
            </a:fld>
            <a:endParaRPr lang="pl-PL"/>
          </a:p>
        </p:txBody>
      </p:sp>
    </p:spTree>
    <p:extLst>
      <p:ext uri="{BB962C8B-B14F-4D97-AF65-F5344CB8AC3E}">
        <p14:creationId xmlns:p14="http://schemas.microsoft.com/office/powerpoint/2010/main" val="1777302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a:extLst>
              <a:ext uri="{FF2B5EF4-FFF2-40B4-BE49-F238E27FC236}">
                <a16:creationId xmlns:a16="http://schemas.microsoft.com/office/drawing/2014/main" id="{7D1EB5DC-A3A9-43CB-71A8-FE3C18A04EDE}"/>
              </a:ext>
            </a:extLst>
          </p:cNvPr>
          <p:cNvSpPr>
            <a:spLocks noGrp="1"/>
          </p:cNvSpPr>
          <p:nvPr>
            <p:ph type="title" orient="vert"/>
          </p:nvPr>
        </p:nvSpPr>
        <p:spPr>
          <a:xfrm>
            <a:off x="8724900" y="365125"/>
            <a:ext cx="2628900" cy="5811838"/>
          </a:xfrm>
        </p:spPr>
        <p:txBody>
          <a:bodyPr vert="eaVert"/>
          <a:lstStyle/>
          <a:p>
            <a:r>
              <a:rPr lang="pl-PL"/>
              <a:t>Kliknij, aby edytować styl</a:t>
            </a:r>
          </a:p>
        </p:txBody>
      </p:sp>
      <p:sp>
        <p:nvSpPr>
          <p:cNvPr id="3" name="Symbol zastępczy tytułu pionowego 2">
            <a:extLst>
              <a:ext uri="{FF2B5EF4-FFF2-40B4-BE49-F238E27FC236}">
                <a16:creationId xmlns:a16="http://schemas.microsoft.com/office/drawing/2014/main" id="{91BE1C12-5554-7D97-DB7A-960DB11A7B8E}"/>
              </a:ext>
            </a:extLst>
          </p:cNvPr>
          <p:cNvSpPr>
            <a:spLocks noGrp="1"/>
          </p:cNvSpPr>
          <p:nvPr>
            <p:ph type="body" orient="vert" idx="1"/>
          </p:nvPr>
        </p:nvSpPr>
        <p:spPr>
          <a:xfrm>
            <a:off x="838200" y="365125"/>
            <a:ext cx="7734300" cy="5811838"/>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883E0D43-6FBB-A7D7-0CAB-D51C04197B9C}"/>
              </a:ext>
            </a:extLst>
          </p:cNvPr>
          <p:cNvSpPr>
            <a:spLocks noGrp="1"/>
          </p:cNvSpPr>
          <p:nvPr>
            <p:ph type="dt" sz="half" idx="10"/>
          </p:nvPr>
        </p:nvSpPr>
        <p:spPr/>
        <p:txBody>
          <a:bodyPr/>
          <a:lstStyle/>
          <a:p>
            <a:fld id="{E9F1A4AA-E108-41D3-BA4F-CCB18A9958D6}" type="datetimeFigureOut">
              <a:rPr lang="pl-PL" smtClean="0"/>
              <a:t>15.03.2026</a:t>
            </a:fld>
            <a:endParaRPr lang="pl-PL"/>
          </a:p>
        </p:txBody>
      </p:sp>
      <p:sp>
        <p:nvSpPr>
          <p:cNvPr id="5" name="Symbol zastępczy stopki 4">
            <a:extLst>
              <a:ext uri="{FF2B5EF4-FFF2-40B4-BE49-F238E27FC236}">
                <a16:creationId xmlns:a16="http://schemas.microsoft.com/office/drawing/2014/main" id="{026338D4-3E56-3318-074A-35EADC57AA56}"/>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3CAC7AF0-FAF9-1F2F-F2BE-9AF239EB9743}"/>
              </a:ext>
            </a:extLst>
          </p:cNvPr>
          <p:cNvSpPr>
            <a:spLocks noGrp="1"/>
          </p:cNvSpPr>
          <p:nvPr>
            <p:ph type="sldNum" sz="quarter" idx="12"/>
          </p:nvPr>
        </p:nvSpPr>
        <p:spPr/>
        <p:txBody>
          <a:bodyPr/>
          <a:lstStyle/>
          <a:p>
            <a:fld id="{F5AC1814-E55F-4B94-8120-52BEB94729E0}" type="slidenum">
              <a:rPr lang="pl-PL" smtClean="0"/>
              <a:t>‹#›</a:t>
            </a:fld>
            <a:endParaRPr lang="pl-PL"/>
          </a:p>
        </p:txBody>
      </p:sp>
    </p:spTree>
    <p:extLst>
      <p:ext uri="{BB962C8B-B14F-4D97-AF65-F5344CB8AC3E}">
        <p14:creationId xmlns:p14="http://schemas.microsoft.com/office/powerpoint/2010/main" val="1898537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a:extLst>
              <a:ext uri="{FF2B5EF4-FFF2-40B4-BE49-F238E27FC236}">
                <a16:creationId xmlns:a16="http://schemas.microsoft.com/office/drawing/2014/main" id="{1587432C-A806-FEA4-8BFB-D426A3568B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a:extLst>
              <a:ext uri="{FF2B5EF4-FFF2-40B4-BE49-F238E27FC236}">
                <a16:creationId xmlns:a16="http://schemas.microsoft.com/office/drawing/2014/main" id="{3404807B-AE6D-362E-5BB0-95A648436F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1B76607D-666B-BBEC-C13C-7FB2E2F803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9F1A4AA-E108-41D3-BA4F-CCB18A9958D6}" type="datetimeFigureOut">
              <a:rPr lang="pl-PL" smtClean="0"/>
              <a:t>15.03.2026</a:t>
            </a:fld>
            <a:endParaRPr lang="pl-PL"/>
          </a:p>
        </p:txBody>
      </p:sp>
      <p:sp>
        <p:nvSpPr>
          <p:cNvPr id="5" name="Symbol zastępczy stopki 4">
            <a:extLst>
              <a:ext uri="{FF2B5EF4-FFF2-40B4-BE49-F238E27FC236}">
                <a16:creationId xmlns:a16="http://schemas.microsoft.com/office/drawing/2014/main" id="{1D3954A1-5ABD-4E71-47FA-38A26D0CCE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l-PL"/>
          </a:p>
        </p:txBody>
      </p:sp>
      <p:sp>
        <p:nvSpPr>
          <p:cNvPr id="6" name="Symbol zastępczy numeru slajdu 5">
            <a:extLst>
              <a:ext uri="{FF2B5EF4-FFF2-40B4-BE49-F238E27FC236}">
                <a16:creationId xmlns:a16="http://schemas.microsoft.com/office/drawing/2014/main" id="{E66E506A-9204-C5AD-C0DE-266FA42302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5AC1814-E55F-4B94-8120-52BEB94729E0}" type="slidenum">
              <a:rPr lang="pl-PL" smtClean="0"/>
              <a:t>‹#›</a:t>
            </a:fld>
            <a:endParaRPr lang="pl-PL"/>
          </a:p>
        </p:txBody>
      </p:sp>
    </p:spTree>
    <p:extLst>
      <p:ext uri="{BB962C8B-B14F-4D97-AF65-F5344CB8AC3E}">
        <p14:creationId xmlns:p14="http://schemas.microsoft.com/office/powerpoint/2010/main" val="35549977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hyperlink" Target="https://pl.wikipedia.org/wiki/Chief_Information_Officer" TargetMode="External"/><Relationship Id="rId3" Type="http://schemas.openxmlformats.org/officeDocument/2006/relationships/hyperlink" Target="https://www.scottmadden.com/insight/it-organizational-structures-explained-finding-the-best-fit/" TargetMode="External"/><Relationship Id="rId7" Type="http://schemas.openxmlformats.org/officeDocument/2006/relationships/hyperlink" Target="https://boringowl.io/blog/senior-developer-mid-i-junior-jakie-sa-kryteria-stopniowania-stanowisk-programistycznych-w-it" TargetMode="External"/><Relationship Id="rId2" Type="http://schemas.openxmlformats.org/officeDocument/2006/relationships/hyperlink" Target="https://theorgchart.com/resources/it-org-chart-how-to/" TargetMode="External"/><Relationship Id="rId1" Type="http://schemas.openxmlformats.org/officeDocument/2006/relationships/slideLayout" Target="../slideLayouts/slideLayout2.xml"/><Relationship Id="rId6" Type="http://schemas.openxmlformats.org/officeDocument/2006/relationships/hyperlink" Target="https://www.hrk.pl/know-how/artykuly/ranking-10-najpopularniejszych-stanowisk-w-it/" TargetMode="External"/><Relationship Id="rId11" Type="http://schemas.openxmlformats.org/officeDocument/2006/relationships/hyperlink" Target="https://www.qagile.pl/scrum/product-owner-co-robi-scrum/#Kim_jest_Product_Owner_w_swiecie_Scrum\" TargetMode="External"/><Relationship Id="rId5" Type="http://schemas.openxmlformats.org/officeDocument/2006/relationships/hyperlink" Target="https://modestprogrammer.pl/sciezka-zawodowa-programisty-jakie-stanowiska-i-role-mozna-wyroznic-w-firmie-tworzacej-oprogramowanie" TargetMode="External"/><Relationship Id="rId10" Type="http://schemas.openxmlformats.org/officeDocument/2006/relationships/hyperlink" Target="https://traffit.com/pl/opisy-stanowisk-pracy/marketing/project-manager-2/" TargetMode="External"/><Relationship Id="rId4" Type="http://schemas.openxmlformats.org/officeDocument/2006/relationships/hyperlink" Target="https://www.organimi.com/it-department-organizational-structure/" TargetMode="External"/><Relationship Id="rId9" Type="http://schemas.openxmlformats.org/officeDocument/2006/relationships/hyperlink" Target="https://onlinedegrees.sandiego.edu/it-job-titl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6EE5EC25-8991-D360-2C53-AA817D7B6709}"/>
              </a:ext>
            </a:extLst>
          </p:cNvPr>
          <p:cNvSpPr>
            <a:spLocks noGrp="1"/>
          </p:cNvSpPr>
          <p:nvPr>
            <p:ph type="ctrTitle"/>
          </p:nvPr>
        </p:nvSpPr>
        <p:spPr>
          <a:xfrm>
            <a:off x="6590662" y="4267832"/>
            <a:ext cx="4805996" cy="1297115"/>
          </a:xfrm>
        </p:spPr>
        <p:txBody>
          <a:bodyPr anchor="t">
            <a:normAutofit/>
          </a:bodyPr>
          <a:lstStyle/>
          <a:p>
            <a:pPr algn="l"/>
            <a:r>
              <a:rPr lang="pl-PL" sz="2800" dirty="0">
                <a:solidFill>
                  <a:schemeClr val="tx2"/>
                </a:solidFill>
              </a:rPr>
              <a:t>Nazewnictwo i struktura stanowisk pracy w firmie</a:t>
            </a:r>
            <a:br>
              <a:rPr lang="pl-PL" sz="2800" dirty="0">
                <a:solidFill>
                  <a:schemeClr val="tx2"/>
                </a:solidFill>
              </a:rPr>
            </a:br>
            <a:r>
              <a:rPr lang="pl-PL" sz="2800" dirty="0">
                <a:solidFill>
                  <a:schemeClr val="tx2"/>
                </a:solidFill>
              </a:rPr>
              <a:t>IT</a:t>
            </a:r>
          </a:p>
        </p:txBody>
      </p:sp>
      <p:sp>
        <p:nvSpPr>
          <p:cNvPr id="3" name="Podtytuł 2">
            <a:extLst>
              <a:ext uri="{FF2B5EF4-FFF2-40B4-BE49-F238E27FC236}">
                <a16:creationId xmlns:a16="http://schemas.microsoft.com/office/drawing/2014/main" id="{927A56F1-00EF-90D5-F43E-E8729330D202}"/>
              </a:ext>
            </a:extLst>
          </p:cNvPr>
          <p:cNvSpPr>
            <a:spLocks noGrp="1"/>
          </p:cNvSpPr>
          <p:nvPr>
            <p:ph type="subTitle" idx="1"/>
          </p:nvPr>
        </p:nvSpPr>
        <p:spPr>
          <a:xfrm>
            <a:off x="6590966" y="3428999"/>
            <a:ext cx="4805691" cy="838831"/>
          </a:xfrm>
        </p:spPr>
        <p:txBody>
          <a:bodyPr anchor="b">
            <a:normAutofit/>
          </a:bodyPr>
          <a:lstStyle/>
          <a:p>
            <a:pPr algn="l"/>
            <a:r>
              <a:rPr lang="pl-PL" sz="2000" dirty="0">
                <a:solidFill>
                  <a:schemeClr val="tx2"/>
                </a:solidFill>
              </a:rPr>
              <a:t>Job </a:t>
            </a:r>
            <a:r>
              <a:rPr lang="pl-PL" sz="2000" dirty="0" err="1">
                <a:solidFill>
                  <a:schemeClr val="tx2"/>
                </a:solidFill>
              </a:rPr>
              <a:t>titles</a:t>
            </a:r>
            <a:r>
              <a:rPr lang="pl-PL" sz="2000" dirty="0">
                <a:solidFill>
                  <a:schemeClr val="tx2"/>
                </a:solidFill>
              </a:rPr>
              <a:t> and </a:t>
            </a:r>
            <a:r>
              <a:rPr lang="pl-PL" sz="2000" dirty="0" err="1">
                <a:solidFill>
                  <a:schemeClr val="tx2"/>
                </a:solidFill>
              </a:rPr>
              <a:t>structure</a:t>
            </a:r>
            <a:r>
              <a:rPr lang="pl-PL" sz="2000" dirty="0">
                <a:solidFill>
                  <a:schemeClr val="tx2"/>
                </a:solidFill>
              </a:rPr>
              <a:t> in </a:t>
            </a:r>
            <a:r>
              <a:rPr lang="pl-PL" sz="2000" dirty="0" err="1">
                <a:solidFill>
                  <a:schemeClr val="tx2"/>
                </a:solidFill>
              </a:rPr>
              <a:t>an</a:t>
            </a:r>
            <a:r>
              <a:rPr lang="pl-PL" sz="2000" dirty="0">
                <a:solidFill>
                  <a:schemeClr val="tx2"/>
                </a:solidFill>
              </a:rPr>
              <a:t> IT </a:t>
            </a:r>
            <a:r>
              <a:rPr lang="pl-PL" sz="2000" dirty="0" err="1">
                <a:solidFill>
                  <a:schemeClr val="tx2"/>
                </a:solidFill>
              </a:rPr>
              <a:t>company</a:t>
            </a:r>
            <a:endParaRPr lang="pl-PL" sz="2000" dirty="0">
              <a:solidFill>
                <a:schemeClr val="tx2"/>
              </a:solidFill>
            </a:endParaRPr>
          </a:p>
        </p:txBody>
      </p:sp>
      <p:pic>
        <p:nvPicPr>
          <p:cNvPr id="7" name="Graphic 6" descr="Znacznik wyboru">
            <a:extLst>
              <a:ext uri="{FF2B5EF4-FFF2-40B4-BE49-F238E27FC236}">
                <a16:creationId xmlns:a16="http://schemas.microsoft.com/office/drawing/2014/main" id="{7E0ED425-2C05-AD22-EC3A-83A57B19F78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4"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823645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ytuł 1">
            <a:extLst>
              <a:ext uri="{FF2B5EF4-FFF2-40B4-BE49-F238E27FC236}">
                <a16:creationId xmlns:a16="http://schemas.microsoft.com/office/drawing/2014/main" id="{273A0BE1-B448-2955-6266-38AE9A1E63A3}"/>
              </a:ext>
            </a:extLst>
          </p:cNvPr>
          <p:cNvSpPr>
            <a:spLocks noGrp="1"/>
          </p:cNvSpPr>
          <p:nvPr>
            <p:ph type="title"/>
          </p:nvPr>
        </p:nvSpPr>
        <p:spPr>
          <a:xfrm>
            <a:off x="640080" y="1243013"/>
            <a:ext cx="3855720" cy="4371974"/>
          </a:xfrm>
        </p:spPr>
        <p:txBody>
          <a:bodyPr>
            <a:normAutofit/>
          </a:bodyPr>
          <a:lstStyle/>
          <a:p>
            <a:r>
              <a:rPr lang="pl-PL" sz="3600" dirty="0">
                <a:solidFill>
                  <a:schemeClr val="tx2"/>
                </a:solidFill>
              </a:rPr>
              <a:t>Czym jest struktura firmy?</a:t>
            </a:r>
          </a:p>
        </p:txBody>
      </p:sp>
      <p:sp>
        <p:nvSpPr>
          <p:cNvPr id="3" name="Symbol zastępczy zawartości 2">
            <a:extLst>
              <a:ext uri="{FF2B5EF4-FFF2-40B4-BE49-F238E27FC236}">
                <a16:creationId xmlns:a16="http://schemas.microsoft.com/office/drawing/2014/main" id="{415B6381-5F35-8188-1378-CE1C88FAC0B7}"/>
              </a:ext>
            </a:extLst>
          </p:cNvPr>
          <p:cNvSpPr>
            <a:spLocks noGrp="1"/>
          </p:cNvSpPr>
          <p:nvPr>
            <p:ph idx="1"/>
          </p:nvPr>
        </p:nvSpPr>
        <p:spPr>
          <a:xfrm>
            <a:off x="6172200" y="804672"/>
            <a:ext cx="5221224" cy="5230368"/>
          </a:xfrm>
        </p:spPr>
        <p:txBody>
          <a:bodyPr anchor="ctr">
            <a:normAutofit/>
          </a:bodyPr>
          <a:lstStyle/>
          <a:p>
            <a:r>
              <a:rPr lang="pl-PL" sz="1800" dirty="0">
                <a:solidFill>
                  <a:schemeClr val="tx2"/>
                </a:solidFill>
              </a:rPr>
              <a:t>Jest to oficjalna hierarcha jednostek i komórek organizacyjnych, stanowisk oraz pracowników. Definiuje ona nie tylko zakres obowiązków, ale także drogę komunikacji i poziom uprawnień.</a:t>
            </a:r>
          </a:p>
        </p:txBody>
      </p:sp>
    </p:spTree>
    <p:extLst>
      <p:ext uri="{BB962C8B-B14F-4D97-AF65-F5344CB8AC3E}">
        <p14:creationId xmlns:p14="http://schemas.microsoft.com/office/powerpoint/2010/main" val="469721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8E1CF34-9401-A815-69E4-2388D75D64A0}"/>
              </a:ext>
            </a:extLst>
          </p:cNvPr>
          <p:cNvSpPr>
            <a:spLocks noGrp="1"/>
          </p:cNvSpPr>
          <p:nvPr>
            <p:ph type="title"/>
          </p:nvPr>
        </p:nvSpPr>
        <p:spPr/>
        <p:txBody>
          <a:bodyPr/>
          <a:lstStyle/>
          <a:p>
            <a:r>
              <a:rPr lang="pl-PL" dirty="0"/>
              <a:t>Słownik</a:t>
            </a:r>
          </a:p>
        </p:txBody>
      </p:sp>
      <p:graphicFrame>
        <p:nvGraphicFramePr>
          <p:cNvPr id="4" name="Symbol zastępczy zawartości 3">
            <a:extLst>
              <a:ext uri="{FF2B5EF4-FFF2-40B4-BE49-F238E27FC236}">
                <a16:creationId xmlns:a16="http://schemas.microsoft.com/office/drawing/2014/main" id="{0C4D5651-9B4E-4872-71C6-F42DD2E9B1B4}"/>
              </a:ext>
            </a:extLst>
          </p:cNvPr>
          <p:cNvGraphicFramePr>
            <a:graphicFrameLocks noGrp="1"/>
          </p:cNvGraphicFramePr>
          <p:nvPr>
            <p:ph idx="1"/>
            <p:extLst>
              <p:ext uri="{D42A27DB-BD31-4B8C-83A1-F6EECF244321}">
                <p14:modId xmlns:p14="http://schemas.microsoft.com/office/powerpoint/2010/main" val="1149524365"/>
              </p:ext>
            </p:extLst>
          </p:nvPr>
        </p:nvGraphicFramePr>
        <p:xfrm>
          <a:off x="488949" y="1391763"/>
          <a:ext cx="5245100" cy="5090160"/>
        </p:xfrm>
        <a:graphic>
          <a:graphicData uri="http://schemas.openxmlformats.org/drawingml/2006/table">
            <a:tbl>
              <a:tblPr>
                <a:tableStyleId>{5940675A-B579-460E-94D1-54222C63F5DA}</a:tableStyleId>
              </a:tblPr>
              <a:tblGrid>
                <a:gridCol w="2622550">
                  <a:extLst>
                    <a:ext uri="{9D8B030D-6E8A-4147-A177-3AD203B41FA5}">
                      <a16:colId xmlns:a16="http://schemas.microsoft.com/office/drawing/2014/main" val="3699652816"/>
                    </a:ext>
                  </a:extLst>
                </a:gridCol>
                <a:gridCol w="2622550">
                  <a:extLst>
                    <a:ext uri="{9D8B030D-6E8A-4147-A177-3AD203B41FA5}">
                      <a16:colId xmlns:a16="http://schemas.microsoft.com/office/drawing/2014/main" val="3521438599"/>
                    </a:ext>
                  </a:extLst>
                </a:gridCol>
              </a:tblGrid>
              <a:tr h="0">
                <a:tc>
                  <a:txBody>
                    <a:bodyPr/>
                    <a:lstStyle/>
                    <a:p>
                      <a:pPr>
                        <a:buNone/>
                      </a:pPr>
                      <a:r>
                        <a:rPr lang="pl-PL" sz="1600" b="1" dirty="0">
                          <a:effectLst/>
                        </a:rPr>
                        <a:t>Termin polski</a:t>
                      </a:r>
                      <a:endParaRPr lang="pl-PL" sz="1600" dirty="0">
                        <a:effectLst/>
                        <a:latin typeface="Google Sans Text"/>
                      </a:endParaRPr>
                    </a:p>
                  </a:txBody>
                  <a:tcPr anchor="ctr"/>
                </a:tc>
                <a:tc>
                  <a:txBody>
                    <a:bodyPr/>
                    <a:lstStyle/>
                    <a:p>
                      <a:pPr>
                        <a:buNone/>
                      </a:pPr>
                      <a:r>
                        <a:rPr lang="pl-PL" sz="1600" b="1" dirty="0">
                          <a:effectLst/>
                        </a:rPr>
                        <a:t>Termin angielski</a:t>
                      </a:r>
                      <a:endParaRPr lang="pl-PL" sz="1600" dirty="0">
                        <a:effectLst/>
                        <a:latin typeface="Google Sans Text"/>
                      </a:endParaRPr>
                    </a:p>
                  </a:txBody>
                  <a:tcPr anchor="ctr"/>
                </a:tc>
                <a:extLst>
                  <a:ext uri="{0D108BD9-81ED-4DB2-BD59-A6C34878D82A}">
                    <a16:rowId xmlns:a16="http://schemas.microsoft.com/office/drawing/2014/main" val="2519800409"/>
                  </a:ext>
                </a:extLst>
              </a:tr>
              <a:tr h="0">
                <a:tc>
                  <a:txBody>
                    <a:bodyPr/>
                    <a:lstStyle/>
                    <a:p>
                      <a:pPr>
                        <a:buNone/>
                      </a:pPr>
                      <a:r>
                        <a:rPr lang="pl-PL" sz="1600" dirty="0">
                          <a:effectLst/>
                        </a:rPr>
                        <a:t>Struktura scentralizowana</a:t>
                      </a:r>
                      <a:endParaRPr lang="pl-PL" sz="1600" dirty="0">
                        <a:effectLst/>
                        <a:latin typeface="Google Sans Text"/>
                      </a:endParaRPr>
                    </a:p>
                  </a:txBody>
                  <a:tcPr anchor="ctr"/>
                </a:tc>
                <a:tc>
                  <a:txBody>
                    <a:bodyPr/>
                    <a:lstStyle/>
                    <a:p>
                      <a:pPr>
                        <a:buNone/>
                      </a:pPr>
                      <a:r>
                        <a:rPr lang="pl-PL" sz="1600" dirty="0" err="1">
                          <a:effectLst/>
                        </a:rPr>
                        <a:t>Centralized</a:t>
                      </a:r>
                      <a:r>
                        <a:rPr lang="pl-PL" sz="1600" dirty="0">
                          <a:effectLst/>
                        </a:rPr>
                        <a:t> Organization </a:t>
                      </a:r>
                      <a:endParaRPr lang="pl-PL" sz="1600" dirty="0">
                        <a:effectLst/>
                        <a:latin typeface="Google Sans Text"/>
                      </a:endParaRPr>
                    </a:p>
                  </a:txBody>
                  <a:tcPr anchor="ctr"/>
                </a:tc>
                <a:extLst>
                  <a:ext uri="{0D108BD9-81ED-4DB2-BD59-A6C34878D82A}">
                    <a16:rowId xmlns:a16="http://schemas.microsoft.com/office/drawing/2014/main" val="3385981076"/>
                  </a:ext>
                </a:extLst>
              </a:tr>
              <a:tr h="0">
                <a:tc>
                  <a:txBody>
                    <a:bodyPr/>
                    <a:lstStyle/>
                    <a:p>
                      <a:pPr>
                        <a:buNone/>
                      </a:pPr>
                      <a:r>
                        <a:rPr lang="pl-PL" sz="1600" dirty="0">
                          <a:effectLst/>
                        </a:rPr>
                        <a:t>Struktura zdecentralizowana</a:t>
                      </a:r>
                      <a:endParaRPr lang="pl-PL" sz="1600" dirty="0">
                        <a:effectLst/>
                        <a:latin typeface="Google Sans Text"/>
                      </a:endParaRPr>
                    </a:p>
                  </a:txBody>
                  <a:tcPr anchor="ctr"/>
                </a:tc>
                <a:tc>
                  <a:txBody>
                    <a:bodyPr/>
                    <a:lstStyle/>
                    <a:p>
                      <a:pPr>
                        <a:buNone/>
                      </a:pPr>
                      <a:r>
                        <a:rPr lang="pl-PL" sz="1600" dirty="0" err="1">
                          <a:effectLst/>
                        </a:rPr>
                        <a:t>Decentralized</a:t>
                      </a:r>
                      <a:r>
                        <a:rPr lang="pl-PL" sz="1600" dirty="0">
                          <a:effectLst/>
                        </a:rPr>
                        <a:t> Organization </a:t>
                      </a:r>
                      <a:endParaRPr lang="pl-PL" sz="1600" dirty="0">
                        <a:effectLst/>
                        <a:latin typeface="Google Sans Text"/>
                      </a:endParaRPr>
                    </a:p>
                  </a:txBody>
                  <a:tcPr anchor="ctr"/>
                </a:tc>
                <a:extLst>
                  <a:ext uri="{0D108BD9-81ED-4DB2-BD59-A6C34878D82A}">
                    <a16:rowId xmlns:a16="http://schemas.microsoft.com/office/drawing/2014/main" val="601808974"/>
                  </a:ext>
                </a:extLst>
              </a:tr>
              <a:tr h="0">
                <a:tc>
                  <a:txBody>
                    <a:bodyPr/>
                    <a:lstStyle/>
                    <a:p>
                      <a:pPr>
                        <a:buNone/>
                      </a:pPr>
                      <a:r>
                        <a:rPr lang="pl-PL" sz="1600" dirty="0">
                          <a:effectLst/>
                        </a:rPr>
                        <a:t>Struktura funkcjonalna</a:t>
                      </a:r>
                      <a:endParaRPr lang="pl-PL" sz="1600" dirty="0">
                        <a:effectLst/>
                        <a:latin typeface="Google Sans Text"/>
                      </a:endParaRPr>
                    </a:p>
                  </a:txBody>
                  <a:tcPr anchor="ctr"/>
                </a:tc>
                <a:tc>
                  <a:txBody>
                    <a:bodyPr/>
                    <a:lstStyle/>
                    <a:p>
                      <a:pPr>
                        <a:buNone/>
                      </a:pPr>
                      <a:r>
                        <a:rPr lang="pl-PL" sz="1600" dirty="0" err="1">
                          <a:effectLst/>
                        </a:rPr>
                        <a:t>Functional</a:t>
                      </a:r>
                      <a:r>
                        <a:rPr lang="pl-PL" sz="1600" dirty="0">
                          <a:effectLst/>
                        </a:rPr>
                        <a:t> Organization </a:t>
                      </a:r>
                      <a:endParaRPr lang="pl-PL" sz="1600" dirty="0">
                        <a:effectLst/>
                        <a:latin typeface="Google Sans Text"/>
                      </a:endParaRPr>
                    </a:p>
                  </a:txBody>
                  <a:tcPr anchor="ctr"/>
                </a:tc>
                <a:extLst>
                  <a:ext uri="{0D108BD9-81ED-4DB2-BD59-A6C34878D82A}">
                    <a16:rowId xmlns:a16="http://schemas.microsoft.com/office/drawing/2014/main" val="2770263898"/>
                  </a:ext>
                </a:extLst>
              </a:tr>
              <a:tr h="0">
                <a:tc>
                  <a:txBody>
                    <a:bodyPr/>
                    <a:lstStyle/>
                    <a:p>
                      <a:pPr>
                        <a:buNone/>
                      </a:pPr>
                      <a:r>
                        <a:rPr lang="pl-PL" sz="1600" dirty="0">
                          <a:effectLst/>
                        </a:rPr>
                        <a:t>Struktura macierzowa</a:t>
                      </a:r>
                      <a:endParaRPr lang="pl-PL" sz="1600" dirty="0">
                        <a:effectLst/>
                        <a:latin typeface="Google Sans Text"/>
                      </a:endParaRPr>
                    </a:p>
                  </a:txBody>
                  <a:tcPr anchor="ctr"/>
                </a:tc>
                <a:tc>
                  <a:txBody>
                    <a:bodyPr/>
                    <a:lstStyle/>
                    <a:p>
                      <a:pPr>
                        <a:buNone/>
                      </a:pPr>
                      <a:r>
                        <a:rPr lang="pl-PL" sz="1600" dirty="0" err="1">
                          <a:effectLst/>
                        </a:rPr>
                        <a:t>Matrixed</a:t>
                      </a:r>
                      <a:r>
                        <a:rPr lang="pl-PL" sz="1600" dirty="0">
                          <a:effectLst/>
                        </a:rPr>
                        <a:t> Organization </a:t>
                      </a:r>
                      <a:endParaRPr lang="pl-PL" sz="1600" dirty="0">
                        <a:effectLst/>
                        <a:latin typeface="Google Sans Text"/>
                      </a:endParaRPr>
                    </a:p>
                  </a:txBody>
                  <a:tcPr anchor="ctr"/>
                </a:tc>
                <a:extLst>
                  <a:ext uri="{0D108BD9-81ED-4DB2-BD59-A6C34878D82A}">
                    <a16:rowId xmlns:a16="http://schemas.microsoft.com/office/drawing/2014/main" val="314507729"/>
                  </a:ext>
                </a:extLst>
              </a:tr>
              <a:tr h="0">
                <a:tc>
                  <a:txBody>
                    <a:bodyPr/>
                    <a:lstStyle/>
                    <a:p>
                      <a:pPr>
                        <a:buNone/>
                      </a:pPr>
                      <a:r>
                        <a:rPr lang="pl-PL" sz="1600" dirty="0">
                          <a:effectLst/>
                        </a:rPr>
                        <a:t>Struktura oparta na produkcie</a:t>
                      </a:r>
                      <a:endParaRPr lang="pl-PL" sz="1600" dirty="0">
                        <a:effectLst/>
                        <a:latin typeface="Google Sans Text"/>
                      </a:endParaRPr>
                    </a:p>
                  </a:txBody>
                  <a:tcPr anchor="ctr"/>
                </a:tc>
                <a:tc>
                  <a:txBody>
                    <a:bodyPr/>
                    <a:lstStyle/>
                    <a:p>
                      <a:pPr>
                        <a:buNone/>
                      </a:pPr>
                      <a:r>
                        <a:rPr lang="pl-PL" sz="1600" dirty="0">
                          <a:effectLst/>
                        </a:rPr>
                        <a:t>Product-</a:t>
                      </a:r>
                      <a:r>
                        <a:rPr lang="pl-PL" sz="1600" dirty="0" err="1">
                          <a:effectLst/>
                        </a:rPr>
                        <a:t>Based</a:t>
                      </a:r>
                      <a:r>
                        <a:rPr lang="pl-PL" sz="1600" dirty="0">
                          <a:effectLst/>
                        </a:rPr>
                        <a:t> Organization </a:t>
                      </a:r>
                      <a:endParaRPr lang="pl-PL" sz="1600" dirty="0">
                        <a:effectLst/>
                        <a:latin typeface="Google Sans Text"/>
                      </a:endParaRPr>
                    </a:p>
                  </a:txBody>
                  <a:tcPr anchor="ctr"/>
                </a:tc>
                <a:extLst>
                  <a:ext uri="{0D108BD9-81ED-4DB2-BD59-A6C34878D82A}">
                    <a16:rowId xmlns:a16="http://schemas.microsoft.com/office/drawing/2014/main" val="1815792134"/>
                  </a:ext>
                </a:extLst>
              </a:tr>
              <a:tr h="0">
                <a:tc>
                  <a:txBody>
                    <a:bodyPr/>
                    <a:lstStyle/>
                    <a:p>
                      <a:pPr>
                        <a:buNone/>
                      </a:pPr>
                      <a:r>
                        <a:rPr lang="pl-PL" sz="1600" dirty="0">
                          <a:effectLst/>
                        </a:rPr>
                        <a:t>Struktura federacyjna</a:t>
                      </a:r>
                      <a:endParaRPr lang="pl-PL" sz="1600" dirty="0">
                        <a:effectLst/>
                        <a:latin typeface="Google Sans Text"/>
                      </a:endParaRPr>
                    </a:p>
                  </a:txBody>
                  <a:tcPr anchor="ctr"/>
                </a:tc>
                <a:tc>
                  <a:txBody>
                    <a:bodyPr/>
                    <a:lstStyle/>
                    <a:p>
                      <a:pPr>
                        <a:buNone/>
                      </a:pPr>
                      <a:r>
                        <a:rPr lang="pl-PL" sz="1600" dirty="0">
                          <a:effectLst/>
                        </a:rPr>
                        <a:t>Federated Organization </a:t>
                      </a:r>
                      <a:endParaRPr lang="pl-PL" sz="1600" dirty="0">
                        <a:effectLst/>
                        <a:latin typeface="Google Sans Text"/>
                      </a:endParaRPr>
                    </a:p>
                  </a:txBody>
                  <a:tcPr anchor="ctr"/>
                </a:tc>
                <a:extLst>
                  <a:ext uri="{0D108BD9-81ED-4DB2-BD59-A6C34878D82A}">
                    <a16:rowId xmlns:a16="http://schemas.microsoft.com/office/drawing/2014/main" val="2926361108"/>
                  </a:ext>
                </a:extLst>
              </a:tr>
              <a:tr h="0">
                <a:tc>
                  <a:txBody>
                    <a:bodyPr/>
                    <a:lstStyle/>
                    <a:p>
                      <a:pPr>
                        <a:buNone/>
                      </a:pPr>
                      <a:r>
                        <a:rPr lang="pl-PL" sz="1600" dirty="0">
                          <a:effectLst/>
                        </a:rPr>
                        <a:t>Młodszy programista </a:t>
                      </a:r>
                      <a:endParaRPr lang="pl-PL" sz="1600" dirty="0">
                        <a:effectLst/>
                        <a:latin typeface="Google Sans Text"/>
                      </a:endParaRPr>
                    </a:p>
                  </a:txBody>
                  <a:tcPr anchor="ctr"/>
                </a:tc>
                <a:tc>
                  <a:txBody>
                    <a:bodyPr/>
                    <a:lstStyle/>
                    <a:p>
                      <a:pPr>
                        <a:buNone/>
                      </a:pPr>
                      <a:r>
                        <a:rPr lang="pl-PL" sz="1600">
                          <a:effectLst/>
                        </a:rPr>
                        <a:t>Junior Developer </a:t>
                      </a:r>
                      <a:endParaRPr lang="pl-PL" sz="1600">
                        <a:effectLst/>
                        <a:latin typeface="Google Sans Text"/>
                      </a:endParaRPr>
                    </a:p>
                  </a:txBody>
                  <a:tcPr anchor="ctr"/>
                </a:tc>
                <a:extLst>
                  <a:ext uri="{0D108BD9-81ED-4DB2-BD59-A6C34878D82A}">
                    <a16:rowId xmlns:a16="http://schemas.microsoft.com/office/drawing/2014/main" val="1679999116"/>
                  </a:ext>
                </a:extLst>
              </a:tr>
              <a:tr h="0">
                <a:tc>
                  <a:txBody>
                    <a:bodyPr/>
                    <a:lstStyle/>
                    <a:p>
                      <a:pPr>
                        <a:buNone/>
                      </a:pPr>
                      <a:r>
                        <a:rPr lang="pl-PL" sz="1600" dirty="0">
                          <a:effectLst/>
                        </a:rPr>
                        <a:t>Programista </a:t>
                      </a:r>
                      <a:endParaRPr lang="pl-PL" sz="1600" dirty="0">
                        <a:effectLst/>
                        <a:latin typeface="Google Sans Text"/>
                      </a:endParaRPr>
                    </a:p>
                  </a:txBody>
                  <a:tcPr anchor="ctr"/>
                </a:tc>
                <a:tc>
                  <a:txBody>
                    <a:bodyPr/>
                    <a:lstStyle/>
                    <a:p>
                      <a:pPr>
                        <a:buNone/>
                      </a:pPr>
                      <a:r>
                        <a:rPr lang="pl-PL" sz="1600" dirty="0" err="1">
                          <a:effectLst/>
                        </a:rPr>
                        <a:t>Mid</a:t>
                      </a:r>
                      <a:r>
                        <a:rPr lang="pl-PL" sz="1600" dirty="0">
                          <a:effectLst/>
                        </a:rPr>
                        <a:t> Developer </a:t>
                      </a:r>
                      <a:endParaRPr lang="pl-PL" sz="1600" dirty="0">
                        <a:effectLst/>
                        <a:latin typeface="Google Sans Text"/>
                      </a:endParaRPr>
                    </a:p>
                  </a:txBody>
                  <a:tcPr anchor="ctr"/>
                </a:tc>
                <a:extLst>
                  <a:ext uri="{0D108BD9-81ED-4DB2-BD59-A6C34878D82A}">
                    <a16:rowId xmlns:a16="http://schemas.microsoft.com/office/drawing/2014/main" val="2604679402"/>
                  </a:ext>
                </a:extLst>
              </a:tr>
              <a:tr h="0">
                <a:tc>
                  <a:txBody>
                    <a:bodyPr/>
                    <a:lstStyle/>
                    <a:p>
                      <a:pPr>
                        <a:buNone/>
                      </a:pPr>
                      <a:r>
                        <a:rPr lang="pl-PL" sz="1600">
                          <a:effectLst/>
                        </a:rPr>
                        <a:t>Starszy programista </a:t>
                      </a:r>
                      <a:endParaRPr lang="pl-PL" sz="1600">
                        <a:effectLst/>
                        <a:latin typeface="Google Sans Text"/>
                      </a:endParaRPr>
                    </a:p>
                  </a:txBody>
                  <a:tcPr anchor="ctr"/>
                </a:tc>
                <a:tc>
                  <a:txBody>
                    <a:bodyPr/>
                    <a:lstStyle/>
                    <a:p>
                      <a:pPr>
                        <a:buNone/>
                      </a:pPr>
                      <a:r>
                        <a:rPr lang="pl-PL" sz="1600" dirty="0">
                          <a:effectLst/>
                        </a:rPr>
                        <a:t>Senior Developer </a:t>
                      </a:r>
                      <a:endParaRPr lang="pl-PL" sz="1600" dirty="0">
                        <a:effectLst/>
                        <a:latin typeface="Google Sans Text"/>
                      </a:endParaRPr>
                    </a:p>
                  </a:txBody>
                  <a:tcPr anchor="ctr"/>
                </a:tc>
                <a:extLst>
                  <a:ext uri="{0D108BD9-81ED-4DB2-BD59-A6C34878D82A}">
                    <a16:rowId xmlns:a16="http://schemas.microsoft.com/office/drawing/2014/main" val="1641580823"/>
                  </a:ext>
                </a:extLst>
              </a:tr>
              <a:tr h="0">
                <a:tc>
                  <a:txBody>
                    <a:bodyPr/>
                    <a:lstStyle/>
                    <a:p>
                      <a:pPr>
                        <a:buNone/>
                      </a:pPr>
                      <a:r>
                        <a:rPr lang="pl-PL" sz="1600" dirty="0">
                          <a:effectLst/>
                          <a:latin typeface="Google Sans Text"/>
                        </a:rPr>
                        <a:t>Dyrektor ds. informacji</a:t>
                      </a:r>
                    </a:p>
                  </a:txBody>
                  <a:tcPr anchor="ctr"/>
                </a:tc>
                <a:tc>
                  <a:txBody>
                    <a:bodyPr/>
                    <a:lstStyle/>
                    <a:p>
                      <a:pPr>
                        <a:buNone/>
                      </a:pPr>
                      <a:r>
                        <a:rPr lang="pl-PL" sz="1600" dirty="0">
                          <a:effectLst/>
                          <a:latin typeface="Google Sans Text"/>
                        </a:rPr>
                        <a:t>Chief Information </a:t>
                      </a:r>
                      <a:r>
                        <a:rPr lang="pl-PL" sz="1600" dirty="0" err="1">
                          <a:effectLst/>
                          <a:latin typeface="Google Sans Text"/>
                        </a:rPr>
                        <a:t>Officer</a:t>
                      </a:r>
                      <a:r>
                        <a:rPr lang="pl-PL" sz="1600" dirty="0">
                          <a:effectLst/>
                          <a:latin typeface="Google Sans Text"/>
                        </a:rPr>
                        <a:t> (CIO) </a:t>
                      </a:r>
                    </a:p>
                  </a:txBody>
                  <a:tcPr anchor="ctr"/>
                </a:tc>
                <a:extLst>
                  <a:ext uri="{0D108BD9-81ED-4DB2-BD59-A6C34878D82A}">
                    <a16:rowId xmlns:a16="http://schemas.microsoft.com/office/drawing/2014/main" val="3938703947"/>
                  </a:ext>
                </a:extLst>
              </a:tr>
              <a:tr h="0">
                <a:tc>
                  <a:txBody>
                    <a:bodyPr/>
                    <a:lstStyle/>
                    <a:p>
                      <a:pPr>
                        <a:buNone/>
                      </a:pPr>
                      <a:r>
                        <a:rPr lang="pl-PL" sz="1600" dirty="0">
                          <a:effectLst/>
                          <a:latin typeface="Google Sans Text"/>
                        </a:rPr>
                        <a:t>Prezes / dyrektor generalny</a:t>
                      </a:r>
                    </a:p>
                  </a:txBody>
                  <a:tcPr anchor="ctr"/>
                </a:tc>
                <a:tc>
                  <a:txBody>
                    <a:bodyPr/>
                    <a:lstStyle/>
                    <a:p>
                      <a:pPr>
                        <a:buNone/>
                      </a:pPr>
                      <a:r>
                        <a:rPr lang="pl-PL" sz="1600" dirty="0">
                          <a:effectLst/>
                          <a:latin typeface="Google Sans Text"/>
                        </a:rPr>
                        <a:t>Chief </a:t>
                      </a:r>
                      <a:r>
                        <a:rPr lang="pl-PL" sz="1600" dirty="0" err="1">
                          <a:effectLst/>
                          <a:latin typeface="Google Sans Text"/>
                        </a:rPr>
                        <a:t>Executive</a:t>
                      </a:r>
                      <a:r>
                        <a:rPr lang="pl-PL" sz="1600" dirty="0">
                          <a:effectLst/>
                          <a:latin typeface="Google Sans Text"/>
                        </a:rPr>
                        <a:t> </a:t>
                      </a:r>
                      <a:r>
                        <a:rPr lang="pl-PL" sz="1600" dirty="0" err="1">
                          <a:effectLst/>
                          <a:latin typeface="Google Sans Text"/>
                        </a:rPr>
                        <a:t>Officer</a:t>
                      </a:r>
                      <a:r>
                        <a:rPr lang="pl-PL" sz="1600" dirty="0">
                          <a:effectLst/>
                          <a:latin typeface="Google Sans Text"/>
                        </a:rPr>
                        <a:t> (CEO) </a:t>
                      </a:r>
                    </a:p>
                  </a:txBody>
                  <a:tcPr anchor="ctr"/>
                </a:tc>
                <a:extLst>
                  <a:ext uri="{0D108BD9-81ED-4DB2-BD59-A6C34878D82A}">
                    <a16:rowId xmlns:a16="http://schemas.microsoft.com/office/drawing/2014/main" val="572434317"/>
                  </a:ext>
                </a:extLst>
              </a:tr>
              <a:tr h="0">
                <a:tc>
                  <a:txBody>
                    <a:bodyPr/>
                    <a:lstStyle/>
                    <a:p>
                      <a:pPr>
                        <a:buNone/>
                      </a:pPr>
                      <a:r>
                        <a:rPr lang="pl-PL" sz="1600" dirty="0">
                          <a:effectLst/>
                          <a:latin typeface="Google Sans Text"/>
                        </a:rPr>
                        <a:t>Dyrektor IT</a:t>
                      </a:r>
                    </a:p>
                  </a:txBody>
                  <a:tcPr anchor="ctr"/>
                </a:tc>
                <a:tc>
                  <a:txBody>
                    <a:bodyPr/>
                    <a:lstStyle/>
                    <a:p>
                      <a:pPr>
                        <a:buNone/>
                      </a:pPr>
                      <a:r>
                        <a:rPr lang="pl-PL" sz="1600" dirty="0">
                          <a:effectLst/>
                          <a:latin typeface="Google Sans Text"/>
                        </a:rPr>
                        <a:t>IT </a:t>
                      </a:r>
                      <a:r>
                        <a:rPr lang="pl-PL" sz="1600" dirty="0" err="1">
                          <a:effectLst/>
                          <a:latin typeface="Google Sans Text"/>
                        </a:rPr>
                        <a:t>Director</a:t>
                      </a:r>
                      <a:r>
                        <a:rPr lang="pl-PL" sz="1600" dirty="0">
                          <a:effectLst/>
                          <a:latin typeface="Google Sans Text"/>
                        </a:rPr>
                        <a:t> </a:t>
                      </a:r>
                    </a:p>
                  </a:txBody>
                  <a:tcPr anchor="ctr"/>
                </a:tc>
                <a:extLst>
                  <a:ext uri="{0D108BD9-81ED-4DB2-BD59-A6C34878D82A}">
                    <a16:rowId xmlns:a16="http://schemas.microsoft.com/office/drawing/2014/main" val="1612125494"/>
                  </a:ext>
                </a:extLst>
              </a:tr>
            </a:tbl>
          </a:graphicData>
        </a:graphic>
      </p:graphicFrame>
      <p:graphicFrame>
        <p:nvGraphicFramePr>
          <p:cNvPr id="5" name="Tabela 4">
            <a:extLst>
              <a:ext uri="{FF2B5EF4-FFF2-40B4-BE49-F238E27FC236}">
                <a16:creationId xmlns:a16="http://schemas.microsoft.com/office/drawing/2014/main" id="{3DA8E835-A877-F973-DBB1-E8E7036ECC0D}"/>
              </a:ext>
            </a:extLst>
          </p:cNvPr>
          <p:cNvGraphicFramePr>
            <a:graphicFrameLocks noGrp="1"/>
          </p:cNvGraphicFramePr>
          <p:nvPr>
            <p:extLst>
              <p:ext uri="{D42A27DB-BD31-4B8C-83A1-F6EECF244321}">
                <p14:modId xmlns:p14="http://schemas.microsoft.com/office/powerpoint/2010/main" val="1550594705"/>
              </p:ext>
            </p:extLst>
          </p:nvPr>
        </p:nvGraphicFramePr>
        <p:xfrm>
          <a:off x="6457953" y="488315"/>
          <a:ext cx="5245098" cy="6004560"/>
        </p:xfrm>
        <a:graphic>
          <a:graphicData uri="http://schemas.openxmlformats.org/drawingml/2006/table">
            <a:tbl>
              <a:tblPr>
                <a:tableStyleId>{5940675A-B579-460E-94D1-54222C63F5DA}</a:tableStyleId>
              </a:tblPr>
              <a:tblGrid>
                <a:gridCol w="2622549">
                  <a:extLst>
                    <a:ext uri="{9D8B030D-6E8A-4147-A177-3AD203B41FA5}">
                      <a16:colId xmlns:a16="http://schemas.microsoft.com/office/drawing/2014/main" val="2487429538"/>
                    </a:ext>
                  </a:extLst>
                </a:gridCol>
                <a:gridCol w="2622549">
                  <a:extLst>
                    <a:ext uri="{9D8B030D-6E8A-4147-A177-3AD203B41FA5}">
                      <a16:colId xmlns:a16="http://schemas.microsoft.com/office/drawing/2014/main" val="446003577"/>
                    </a:ext>
                  </a:extLst>
                </a:gridCol>
              </a:tblGrid>
              <a:tr h="0">
                <a:tc>
                  <a:txBody>
                    <a:bodyPr/>
                    <a:lstStyle/>
                    <a:p>
                      <a:pPr>
                        <a:buNone/>
                      </a:pPr>
                      <a:r>
                        <a:rPr lang="pl-PL" sz="1600" b="1" dirty="0">
                          <a:effectLst/>
                        </a:rPr>
                        <a:t>Termin polski</a:t>
                      </a:r>
                      <a:endParaRPr lang="pl-PL" sz="1600" dirty="0">
                        <a:effectLst/>
                        <a:latin typeface="Google Sans Text"/>
                      </a:endParaRPr>
                    </a:p>
                  </a:txBody>
                  <a:tcPr anchor="ctr"/>
                </a:tc>
                <a:tc>
                  <a:txBody>
                    <a:bodyPr/>
                    <a:lstStyle/>
                    <a:p>
                      <a:pPr>
                        <a:buNone/>
                      </a:pPr>
                      <a:r>
                        <a:rPr lang="pl-PL" sz="1600" b="1" dirty="0">
                          <a:effectLst/>
                        </a:rPr>
                        <a:t>Termin angielski</a:t>
                      </a:r>
                      <a:endParaRPr lang="pl-PL" sz="1600" dirty="0">
                        <a:effectLst/>
                        <a:latin typeface="Google Sans Text"/>
                      </a:endParaRPr>
                    </a:p>
                  </a:txBody>
                  <a:tcPr anchor="ctr"/>
                </a:tc>
                <a:extLst>
                  <a:ext uri="{0D108BD9-81ED-4DB2-BD59-A6C34878D82A}">
                    <a16:rowId xmlns:a16="http://schemas.microsoft.com/office/drawing/2014/main" val="1251428748"/>
                  </a:ext>
                </a:extLst>
              </a:tr>
              <a:tr h="0">
                <a:tc>
                  <a:txBody>
                    <a:bodyPr/>
                    <a:lstStyle/>
                    <a:p>
                      <a:pPr>
                        <a:buNone/>
                      </a:pPr>
                      <a:r>
                        <a:rPr lang="pl-PL" sz="1600">
                          <a:effectLst/>
                          <a:latin typeface="Google Sans Text"/>
                        </a:rPr>
                        <a:t>Infrastruktura</a:t>
                      </a:r>
                    </a:p>
                  </a:txBody>
                  <a:tcPr anchor="ctr"/>
                </a:tc>
                <a:tc>
                  <a:txBody>
                    <a:bodyPr/>
                    <a:lstStyle/>
                    <a:p>
                      <a:pPr>
                        <a:buNone/>
                      </a:pPr>
                      <a:r>
                        <a:rPr lang="pl-PL" sz="1600" dirty="0" err="1">
                          <a:effectLst/>
                          <a:latin typeface="Google Sans Text"/>
                        </a:rPr>
                        <a:t>Infrastructure</a:t>
                      </a:r>
                      <a:r>
                        <a:rPr lang="pl-PL" sz="1600" dirty="0">
                          <a:effectLst/>
                          <a:latin typeface="Google Sans Text"/>
                        </a:rPr>
                        <a:t> </a:t>
                      </a:r>
                    </a:p>
                  </a:txBody>
                  <a:tcPr anchor="ctr"/>
                </a:tc>
                <a:extLst>
                  <a:ext uri="{0D108BD9-81ED-4DB2-BD59-A6C34878D82A}">
                    <a16:rowId xmlns:a16="http://schemas.microsoft.com/office/drawing/2014/main" val="107702467"/>
                  </a:ext>
                </a:extLst>
              </a:tr>
              <a:tr h="0">
                <a:tc>
                  <a:txBody>
                    <a:bodyPr/>
                    <a:lstStyle/>
                    <a:p>
                      <a:pPr>
                        <a:buNone/>
                      </a:pPr>
                      <a:r>
                        <a:rPr lang="pl-PL" sz="1600">
                          <a:effectLst/>
                          <a:latin typeface="Google Sans Text"/>
                        </a:rPr>
                        <a:t>Rozwój oprogramowania</a:t>
                      </a:r>
                    </a:p>
                  </a:txBody>
                  <a:tcPr anchor="ctr"/>
                </a:tc>
                <a:tc>
                  <a:txBody>
                    <a:bodyPr/>
                    <a:lstStyle/>
                    <a:p>
                      <a:pPr>
                        <a:buNone/>
                      </a:pPr>
                      <a:r>
                        <a:rPr lang="pl-PL" sz="1600">
                          <a:effectLst/>
                          <a:latin typeface="Google Sans Text"/>
                        </a:rPr>
                        <a:t>Software Development </a:t>
                      </a:r>
                    </a:p>
                  </a:txBody>
                  <a:tcPr anchor="ctr"/>
                </a:tc>
                <a:extLst>
                  <a:ext uri="{0D108BD9-81ED-4DB2-BD59-A6C34878D82A}">
                    <a16:rowId xmlns:a16="http://schemas.microsoft.com/office/drawing/2014/main" val="3946231857"/>
                  </a:ext>
                </a:extLst>
              </a:tr>
              <a:tr h="0">
                <a:tc>
                  <a:txBody>
                    <a:bodyPr/>
                    <a:lstStyle/>
                    <a:p>
                      <a:pPr>
                        <a:buNone/>
                      </a:pPr>
                      <a:r>
                        <a:rPr lang="pl-PL" sz="1600">
                          <a:effectLst/>
                          <a:latin typeface="Google Sans Text"/>
                        </a:rPr>
                        <a:t>Cyberbezpieczeństwo</a:t>
                      </a:r>
                    </a:p>
                  </a:txBody>
                  <a:tcPr anchor="ctr"/>
                </a:tc>
                <a:tc>
                  <a:txBody>
                    <a:bodyPr/>
                    <a:lstStyle/>
                    <a:p>
                      <a:pPr>
                        <a:buNone/>
                      </a:pPr>
                      <a:r>
                        <a:rPr lang="pl-PL" sz="1600" dirty="0" err="1">
                          <a:effectLst/>
                          <a:latin typeface="Google Sans Text"/>
                        </a:rPr>
                        <a:t>Cybersecurity</a:t>
                      </a:r>
                      <a:r>
                        <a:rPr lang="pl-PL" sz="1600" dirty="0">
                          <a:effectLst/>
                          <a:latin typeface="Google Sans Text"/>
                        </a:rPr>
                        <a:t> </a:t>
                      </a:r>
                    </a:p>
                  </a:txBody>
                  <a:tcPr anchor="ctr"/>
                </a:tc>
                <a:extLst>
                  <a:ext uri="{0D108BD9-81ED-4DB2-BD59-A6C34878D82A}">
                    <a16:rowId xmlns:a16="http://schemas.microsoft.com/office/drawing/2014/main" val="2839804070"/>
                  </a:ext>
                </a:extLst>
              </a:tr>
              <a:tr h="0">
                <a:tc>
                  <a:txBody>
                    <a:bodyPr/>
                    <a:lstStyle/>
                    <a:p>
                      <a:pPr>
                        <a:buNone/>
                      </a:pPr>
                      <a:r>
                        <a:rPr lang="pl-PL" sz="1600">
                          <a:effectLst/>
                          <a:latin typeface="Google Sans Text"/>
                        </a:rPr>
                        <a:t>Dane i analityka</a:t>
                      </a:r>
                    </a:p>
                  </a:txBody>
                  <a:tcPr anchor="ctr"/>
                </a:tc>
                <a:tc>
                  <a:txBody>
                    <a:bodyPr/>
                    <a:lstStyle/>
                    <a:p>
                      <a:pPr>
                        <a:buNone/>
                      </a:pPr>
                      <a:r>
                        <a:rPr lang="pl-PL" sz="1600">
                          <a:effectLst/>
                          <a:latin typeface="Google Sans Text"/>
                        </a:rPr>
                        <a:t>Data &amp; Analytics </a:t>
                      </a:r>
                    </a:p>
                  </a:txBody>
                  <a:tcPr anchor="ctr"/>
                </a:tc>
                <a:extLst>
                  <a:ext uri="{0D108BD9-81ED-4DB2-BD59-A6C34878D82A}">
                    <a16:rowId xmlns:a16="http://schemas.microsoft.com/office/drawing/2014/main" val="4196220772"/>
                  </a:ext>
                </a:extLst>
              </a:tr>
              <a:tr h="0">
                <a:tc>
                  <a:txBody>
                    <a:bodyPr/>
                    <a:lstStyle/>
                    <a:p>
                      <a:pPr>
                        <a:buNone/>
                      </a:pPr>
                      <a:r>
                        <a:rPr lang="pl-PL" sz="1600">
                          <a:effectLst/>
                          <a:latin typeface="Google Sans Text"/>
                        </a:rPr>
                        <a:t>Zarządzanie produktem i projektem</a:t>
                      </a:r>
                    </a:p>
                  </a:txBody>
                  <a:tcPr anchor="ctr"/>
                </a:tc>
                <a:tc>
                  <a:txBody>
                    <a:bodyPr/>
                    <a:lstStyle/>
                    <a:p>
                      <a:pPr>
                        <a:buNone/>
                      </a:pPr>
                      <a:r>
                        <a:rPr lang="pl-PL" sz="1600" dirty="0">
                          <a:effectLst/>
                          <a:latin typeface="Google Sans Text"/>
                        </a:rPr>
                        <a:t>Product &amp; Project Management </a:t>
                      </a:r>
                    </a:p>
                  </a:txBody>
                  <a:tcPr anchor="ctr"/>
                </a:tc>
                <a:extLst>
                  <a:ext uri="{0D108BD9-81ED-4DB2-BD59-A6C34878D82A}">
                    <a16:rowId xmlns:a16="http://schemas.microsoft.com/office/drawing/2014/main" val="3523877386"/>
                  </a:ext>
                </a:extLst>
              </a:tr>
              <a:tr h="0">
                <a:tc>
                  <a:txBody>
                    <a:bodyPr/>
                    <a:lstStyle/>
                    <a:p>
                      <a:pPr>
                        <a:buNone/>
                      </a:pPr>
                      <a:r>
                        <a:rPr lang="pl-PL">
                          <a:effectLst/>
                          <a:latin typeface="Google Sans Text"/>
                        </a:rPr>
                        <a:t>Administrator systemów </a:t>
                      </a:r>
                    </a:p>
                  </a:txBody>
                  <a:tcPr anchor="ctr"/>
                </a:tc>
                <a:tc>
                  <a:txBody>
                    <a:bodyPr/>
                    <a:lstStyle/>
                    <a:p>
                      <a:pPr>
                        <a:buNone/>
                      </a:pPr>
                      <a:r>
                        <a:rPr lang="pl-PL" dirty="0">
                          <a:effectLst/>
                          <a:latin typeface="Google Sans Text"/>
                        </a:rPr>
                        <a:t>System Administrator </a:t>
                      </a:r>
                    </a:p>
                  </a:txBody>
                  <a:tcPr anchor="ctr"/>
                </a:tc>
                <a:extLst>
                  <a:ext uri="{0D108BD9-81ED-4DB2-BD59-A6C34878D82A}">
                    <a16:rowId xmlns:a16="http://schemas.microsoft.com/office/drawing/2014/main" val="1570037275"/>
                  </a:ext>
                </a:extLst>
              </a:tr>
              <a:tr h="0">
                <a:tc>
                  <a:txBody>
                    <a:bodyPr/>
                    <a:lstStyle/>
                    <a:p>
                      <a:pPr>
                        <a:buNone/>
                      </a:pPr>
                      <a:r>
                        <a:rPr lang="pl-PL">
                          <a:effectLst/>
                          <a:latin typeface="Google Sans Text"/>
                        </a:rPr>
                        <a:t>Inżynier ds. sieci </a:t>
                      </a:r>
                    </a:p>
                  </a:txBody>
                  <a:tcPr anchor="ctr"/>
                </a:tc>
                <a:tc>
                  <a:txBody>
                    <a:bodyPr/>
                    <a:lstStyle/>
                    <a:p>
                      <a:pPr>
                        <a:buNone/>
                      </a:pPr>
                      <a:r>
                        <a:rPr lang="pl-PL">
                          <a:effectLst/>
                          <a:latin typeface="Google Sans Text"/>
                        </a:rPr>
                        <a:t>Network Engineer </a:t>
                      </a:r>
                    </a:p>
                  </a:txBody>
                  <a:tcPr anchor="ctr"/>
                </a:tc>
                <a:extLst>
                  <a:ext uri="{0D108BD9-81ED-4DB2-BD59-A6C34878D82A}">
                    <a16:rowId xmlns:a16="http://schemas.microsoft.com/office/drawing/2014/main" val="1377500240"/>
                  </a:ext>
                </a:extLst>
              </a:tr>
              <a:tr h="0">
                <a:tc>
                  <a:txBody>
                    <a:bodyPr/>
                    <a:lstStyle/>
                    <a:p>
                      <a:pPr>
                        <a:buNone/>
                      </a:pPr>
                      <a:r>
                        <a:rPr lang="pl-PL">
                          <a:effectLst/>
                          <a:latin typeface="Google Sans Text"/>
                        </a:rPr>
                        <a:t>Architekt oprogramowania </a:t>
                      </a:r>
                    </a:p>
                  </a:txBody>
                  <a:tcPr anchor="ctr"/>
                </a:tc>
                <a:tc>
                  <a:txBody>
                    <a:bodyPr/>
                    <a:lstStyle/>
                    <a:p>
                      <a:pPr>
                        <a:buNone/>
                      </a:pPr>
                      <a:r>
                        <a:rPr lang="pl-PL">
                          <a:effectLst/>
                          <a:latin typeface="Google Sans Text"/>
                        </a:rPr>
                        <a:t>Software Architect </a:t>
                      </a:r>
                    </a:p>
                  </a:txBody>
                  <a:tcPr anchor="ctr"/>
                </a:tc>
                <a:extLst>
                  <a:ext uri="{0D108BD9-81ED-4DB2-BD59-A6C34878D82A}">
                    <a16:rowId xmlns:a16="http://schemas.microsoft.com/office/drawing/2014/main" val="2957881292"/>
                  </a:ext>
                </a:extLst>
              </a:tr>
              <a:tr h="0">
                <a:tc>
                  <a:txBody>
                    <a:bodyPr/>
                    <a:lstStyle/>
                    <a:p>
                      <a:pPr>
                        <a:buNone/>
                      </a:pPr>
                      <a:r>
                        <a:rPr lang="pl-PL">
                          <a:effectLst/>
                          <a:latin typeface="Google Sans Text"/>
                        </a:rPr>
                        <a:t>Kierownik zespołu programistów </a:t>
                      </a:r>
                    </a:p>
                  </a:txBody>
                  <a:tcPr anchor="ctr"/>
                </a:tc>
                <a:tc>
                  <a:txBody>
                    <a:bodyPr/>
                    <a:lstStyle/>
                    <a:p>
                      <a:pPr>
                        <a:buNone/>
                      </a:pPr>
                      <a:r>
                        <a:rPr lang="pl-PL">
                          <a:effectLst/>
                          <a:latin typeface="Google Sans Text"/>
                        </a:rPr>
                        <a:t>Team Lead / Technical Lead </a:t>
                      </a:r>
                    </a:p>
                  </a:txBody>
                  <a:tcPr anchor="ctr"/>
                </a:tc>
                <a:extLst>
                  <a:ext uri="{0D108BD9-81ED-4DB2-BD59-A6C34878D82A}">
                    <a16:rowId xmlns:a16="http://schemas.microsoft.com/office/drawing/2014/main" val="2491183602"/>
                  </a:ext>
                </a:extLst>
              </a:tr>
              <a:tr h="0">
                <a:tc>
                  <a:txBody>
                    <a:bodyPr/>
                    <a:lstStyle/>
                    <a:p>
                      <a:pPr>
                        <a:buNone/>
                      </a:pPr>
                      <a:r>
                        <a:rPr lang="pl-PL">
                          <a:effectLst/>
                          <a:latin typeface="Google Sans Text"/>
                        </a:rPr>
                        <a:t>Analityk ds. cyberbezpieczeństwa </a:t>
                      </a:r>
                    </a:p>
                  </a:txBody>
                  <a:tcPr anchor="ctr"/>
                </a:tc>
                <a:tc>
                  <a:txBody>
                    <a:bodyPr/>
                    <a:lstStyle/>
                    <a:p>
                      <a:pPr>
                        <a:buNone/>
                      </a:pPr>
                      <a:r>
                        <a:rPr lang="pl-PL">
                          <a:effectLst/>
                          <a:latin typeface="Google Sans Text"/>
                        </a:rPr>
                        <a:t>Cybersecurity Analyst </a:t>
                      </a:r>
                    </a:p>
                  </a:txBody>
                  <a:tcPr anchor="ctr"/>
                </a:tc>
                <a:extLst>
                  <a:ext uri="{0D108BD9-81ED-4DB2-BD59-A6C34878D82A}">
                    <a16:rowId xmlns:a16="http://schemas.microsoft.com/office/drawing/2014/main" val="4272742125"/>
                  </a:ext>
                </a:extLst>
              </a:tr>
              <a:tr h="0">
                <a:tc>
                  <a:txBody>
                    <a:bodyPr/>
                    <a:lstStyle/>
                    <a:p>
                      <a:pPr>
                        <a:buNone/>
                      </a:pPr>
                      <a:r>
                        <a:rPr lang="pl-PL">
                          <a:effectLst/>
                          <a:latin typeface="Google Sans Text"/>
                        </a:rPr>
                        <a:t>Kierownik produktu </a:t>
                      </a:r>
                    </a:p>
                  </a:txBody>
                  <a:tcPr anchor="ctr"/>
                </a:tc>
                <a:tc>
                  <a:txBody>
                    <a:bodyPr/>
                    <a:lstStyle/>
                    <a:p>
                      <a:pPr>
                        <a:buNone/>
                      </a:pPr>
                      <a:r>
                        <a:rPr lang="pl-PL">
                          <a:effectLst/>
                          <a:latin typeface="Google Sans Text"/>
                        </a:rPr>
                        <a:t>Product Manager </a:t>
                      </a:r>
                    </a:p>
                  </a:txBody>
                  <a:tcPr anchor="ctr"/>
                </a:tc>
                <a:extLst>
                  <a:ext uri="{0D108BD9-81ED-4DB2-BD59-A6C34878D82A}">
                    <a16:rowId xmlns:a16="http://schemas.microsoft.com/office/drawing/2014/main" val="3767582057"/>
                  </a:ext>
                </a:extLst>
              </a:tr>
              <a:tr h="0">
                <a:tc>
                  <a:txBody>
                    <a:bodyPr/>
                    <a:lstStyle/>
                    <a:p>
                      <a:pPr>
                        <a:buNone/>
                      </a:pPr>
                      <a:r>
                        <a:rPr lang="pl-PL">
                          <a:effectLst/>
                          <a:latin typeface="Google Sans Text"/>
                        </a:rPr>
                        <a:t>Kierownik projektu </a:t>
                      </a:r>
                    </a:p>
                  </a:txBody>
                  <a:tcPr anchor="ctr"/>
                </a:tc>
                <a:tc>
                  <a:txBody>
                    <a:bodyPr/>
                    <a:lstStyle/>
                    <a:p>
                      <a:pPr>
                        <a:buNone/>
                      </a:pPr>
                      <a:r>
                        <a:rPr lang="pl-PL">
                          <a:effectLst/>
                          <a:latin typeface="Google Sans Text"/>
                        </a:rPr>
                        <a:t>Project Manager </a:t>
                      </a:r>
                    </a:p>
                  </a:txBody>
                  <a:tcPr anchor="ctr"/>
                </a:tc>
                <a:extLst>
                  <a:ext uri="{0D108BD9-81ED-4DB2-BD59-A6C34878D82A}">
                    <a16:rowId xmlns:a16="http://schemas.microsoft.com/office/drawing/2014/main" val="2680875925"/>
                  </a:ext>
                </a:extLst>
              </a:tr>
              <a:tr h="0">
                <a:tc>
                  <a:txBody>
                    <a:bodyPr/>
                    <a:lstStyle/>
                    <a:p>
                      <a:pPr>
                        <a:buNone/>
                      </a:pPr>
                      <a:r>
                        <a:rPr lang="pl-PL">
                          <a:effectLst/>
                          <a:latin typeface="Google Sans Text"/>
                        </a:rPr>
                        <a:t>Analityk biznesowy </a:t>
                      </a:r>
                    </a:p>
                  </a:txBody>
                  <a:tcPr anchor="ctr"/>
                </a:tc>
                <a:tc>
                  <a:txBody>
                    <a:bodyPr/>
                    <a:lstStyle/>
                    <a:p>
                      <a:pPr>
                        <a:buNone/>
                      </a:pPr>
                      <a:r>
                        <a:rPr lang="pl-PL" dirty="0">
                          <a:effectLst/>
                          <a:latin typeface="Google Sans Text"/>
                        </a:rPr>
                        <a:t>Business </a:t>
                      </a:r>
                      <a:r>
                        <a:rPr lang="pl-PL" dirty="0" err="1">
                          <a:effectLst/>
                          <a:latin typeface="Google Sans Text"/>
                        </a:rPr>
                        <a:t>Analyst</a:t>
                      </a:r>
                      <a:r>
                        <a:rPr lang="pl-PL" dirty="0">
                          <a:effectLst/>
                          <a:latin typeface="Google Sans Text"/>
                        </a:rPr>
                        <a:t> </a:t>
                      </a:r>
                    </a:p>
                  </a:txBody>
                  <a:tcPr anchor="ctr"/>
                </a:tc>
                <a:extLst>
                  <a:ext uri="{0D108BD9-81ED-4DB2-BD59-A6C34878D82A}">
                    <a16:rowId xmlns:a16="http://schemas.microsoft.com/office/drawing/2014/main" val="3025700933"/>
                  </a:ext>
                </a:extLst>
              </a:tr>
            </a:tbl>
          </a:graphicData>
        </a:graphic>
      </p:graphicFrame>
    </p:spTree>
    <p:extLst>
      <p:ext uri="{BB962C8B-B14F-4D97-AF65-F5344CB8AC3E}">
        <p14:creationId xmlns:p14="http://schemas.microsoft.com/office/powerpoint/2010/main" val="28147696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ytuł 1">
            <a:extLst>
              <a:ext uri="{FF2B5EF4-FFF2-40B4-BE49-F238E27FC236}">
                <a16:creationId xmlns:a16="http://schemas.microsoft.com/office/drawing/2014/main" id="{7CE5EB52-1847-4C92-DFDF-28A0749A933D}"/>
              </a:ext>
            </a:extLst>
          </p:cNvPr>
          <p:cNvSpPr>
            <a:spLocks noGrp="1"/>
          </p:cNvSpPr>
          <p:nvPr>
            <p:ph type="title"/>
          </p:nvPr>
        </p:nvSpPr>
        <p:spPr>
          <a:xfrm>
            <a:off x="640080" y="1243013"/>
            <a:ext cx="3855720" cy="4371974"/>
          </a:xfrm>
        </p:spPr>
        <p:txBody>
          <a:bodyPr>
            <a:normAutofit/>
          </a:bodyPr>
          <a:lstStyle/>
          <a:p>
            <a:r>
              <a:rPr lang="pl-PL" sz="3600">
                <a:solidFill>
                  <a:schemeClr val="tx2"/>
                </a:solidFill>
              </a:rPr>
              <a:t>Rodzaje struktur organizacyjnych</a:t>
            </a:r>
          </a:p>
        </p:txBody>
      </p:sp>
      <p:sp>
        <p:nvSpPr>
          <p:cNvPr id="3" name="Symbol zastępczy zawartości 2">
            <a:extLst>
              <a:ext uri="{FF2B5EF4-FFF2-40B4-BE49-F238E27FC236}">
                <a16:creationId xmlns:a16="http://schemas.microsoft.com/office/drawing/2014/main" id="{4D11D6EA-1FF5-26BA-0168-FB2C32DCDC8D}"/>
              </a:ext>
            </a:extLst>
          </p:cNvPr>
          <p:cNvSpPr>
            <a:spLocks noGrp="1"/>
          </p:cNvSpPr>
          <p:nvPr>
            <p:ph idx="1"/>
          </p:nvPr>
        </p:nvSpPr>
        <p:spPr>
          <a:xfrm>
            <a:off x="6172200" y="804672"/>
            <a:ext cx="5221224" cy="5230368"/>
          </a:xfrm>
        </p:spPr>
        <p:txBody>
          <a:bodyPr anchor="ctr">
            <a:normAutofit/>
          </a:bodyPr>
          <a:lstStyle/>
          <a:p>
            <a:pPr fontAlgn="ctr"/>
            <a:r>
              <a:rPr lang="pl-PL" sz="1800">
                <a:solidFill>
                  <a:schemeClr val="tx2"/>
                </a:solidFill>
              </a:rPr>
              <a:t>Struktura scentralizowana</a:t>
            </a:r>
          </a:p>
          <a:p>
            <a:pPr fontAlgn="ctr"/>
            <a:r>
              <a:rPr lang="pl-PL" sz="1800">
                <a:solidFill>
                  <a:schemeClr val="tx2"/>
                </a:solidFill>
              </a:rPr>
              <a:t>Struktura zdecentralizowana</a:t>
            </a:r>
          </a:p>
          <a:p>
            <a:pPr fontAlgn="ctr"/>
            <a:r>
              <a:rPr lang="pl-PL" sz="1800">
                <a:solidFill>
                  <a:schemeClr val="tx2"/>
                </a:solidFill>
              </a:rPr>
              <a:t>Struktura funkcjonalna</a:t>
            </a:r>
          </a:p>
          <a:p>
            <a:pPr fontAlgn="ctr"/>
            <a:r>
              <a:rPr lang="pl-PL" sz="1800">
                <a:solidFill>
                  <a:schemeClr val="tx2"/>
                </a:solidFill>
              </a:rPr>
              <a:t>Struktura macierzowa</a:t>
            </a:r>
          </a:p>
          <a:p>
            <a:pPr fontAlgn="ctr"/>
            <a:r>
              <a:rPr lang="pl-PL" sz="1800">
                <a:solidFill>
                  <a:schemeClr val="tx2"/>
                </a:solidFill>
              </a:rPr>
              <a:t>Struktura oparta na produkcie</a:t>
            </a:r>
          </a:p>
          <a:p>
            <a:pPr fontAlgn="ctr"/>
            <a:r>
              <a:rPr lang="pl-PL" sz="1800">
                <a:solidFill>
                  <a:schemeClr val="tx2"/>
                </a:solidFill>
              </a:rPr>
              <a:t>Struktura federacyjna</a:t>
            </a:r>
          </a:p>
          <a:p>
            <a:endParaRPr lang="pl-PL" sz="1800">
              <a:solidFill>
                <a:schemeClr val="tx2"/>
              </a:solidFill>
            </a:endParaRPr>
          </a:p>
        </p:txBody>
      </p:sp>
    </p:spTree>
    <p:extLst>
      <p:ext uri="{BB962C8B-B14F-4D97-AF65-F5344CB8AC3E}">
        <p14:creationId xmlns:p14="http://schemas.microsoft.com/office/powerpoint/2010/main" val="1637860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1E020063-2385-44AC-BD67-258E1F0B9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7E014A0B-5338-4077-AFE9-A90D04D449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D56532ED-8D3D-B088-BCF7-D78AA4A80C59}"/>
              </a:ext>
            </a:extLst>
          </p:cNvPr>
          <p:cNvSpPr>
            <a:spLocks noGrp="1"/>
          </p:cNvSpPr>
          <p:nvPr>
            <p:ph type="title"/>
          </p:nvPr>
        </p:nvSpPr>
        <p:spPr>
          <a:xfrm>
            <a:off x="1179576" y="1261423"/>
            <a:ext cx="9829800" cy="1325880"/>
          </a:xfrm>
        </p:spPr>
        <p:txBody>
          <a:bodyPr anchor="b">
            <a:normAutofit/>
          </a:bodyPr>
          <a:lstStyle/>
          <a:p>
            <a:pPr algn="ctr" fontAlgn="ctr"/>
            <a:r>
              <a:rPr lang="pl-PL" sz="3600" dirty="0">
                <a:solidFill>
                  <a:schemeClr val="tx2"/>
                </a:solidFill>
              </a:rPr>
              <a:t>Struktura scentralizowana</a:t>
            </a:r>
          </a:p>
        </p:txBody>
      </p:sp>
      <p:grpSp>
        <p:nvGrpSpPr>
          <p:cNvPr id="1037" name="Group 1036">
            <a:extLst>
              <a:ext uri="{FF2B5EF4-FFF2-40B4-BE49-F238E27FC236}">
                <a16:creationId xmlns:a16="http://schemas.microsoft.com/office/drawing/2014/main" id="{78127680-150F-4A90-9950-F663925781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
            <a:ext cx="3362070" cy="2522849"/>
            <a:chOff x="-305" y="-1"/>
            <a:chExt cx="3832880" cy="2876136"/>
          </a:xfrm>
        </p:grpSpPr>
        <p:sp>
          <p:nvSpPr>
            <p:cNvPr id="1038" name="Freeform: Shape 1037">
              <a:extLst>
                <a:ext uri="{FF2B5EF4-FFF2-40B4-BE49-F238E27FC236}">
                  <a16:creationId xmlns:a16="http://schemas.microsoft.com/office/drawing/2014/main" id="{5088F97A-8362-4967-B664-D748B846EC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9" name="Freeform: Shape 1038">
              <a:extLst>
                <a:ext uri="{FF2B5EF4-FFF2-40B4-BE49-F238E27FC236}">
                  <a16:creationId xmlns:a16="http://schemas.microsoft.com/office/drawing/2014/main" id="{30F9DEDE-4318-412A-81C5-C8C90F689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0" name="Freeform: Shape 1039">
              <a:extLst>
                <a:ext uri="{FF2B5EF4-FFF2-40B4-BE49-F238E27FC236}">
                  <a16:creationId xmlns:a16="http://schemas.microsoft.com/office/drawing/2014/main" id="{09E97DE9-7844-4707-8928-1CD88ADB72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1" name="Freeform: Shape 1040">
              <a:extLst>
                <a:ext uri="{FF2B5EF4-FFF2-40B4-BE49-F238E27FC236}">
                  <a16:creationId xmlns:a16="http://schemas.microsoft.com/office/drawing/2014/main" id="{EC58954E-44A5-4A0D-97A9-8A2BB43D6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Symbol zastępczy zawartości 2">
            <a:extLst>
              <a:ext uri="{FF2B5EF4-FFF2-40B4-BE49-F238E27FC236}">
                <a16:creationId xmlns:a16="http://schemas.microsoft.com/office/drawing/2014/main" id="{71D5D486-4273-86CA-922B-96FD4068028C}"/>
              </a:ext>
            </a:extLst>
          </p:cNvPr>
          <p:cNvSpPr>
            <a:spLocks noGrp="1"/>
          </p:cNvSpPr>
          <p:nvPr>
            <p:ph idx="1"/>
          </p:nvPr>
        </p:nvSpPr>
        <p:spPr>
          <a:xfrm>
            <a:off x="804672" y="2827419"/>
            <a:ext cx="5126896" cy="3227626"/>
          </a:xfrm>
        </p:spPr>
        <p:txBody>
          <a:bodyPr anchor="ctr">
            <a:normAutofit/>
          </a:bodyPr>
          <a:lstStyle/>
          <a:p>
            <a:r>
              <a:rPr lang="pl-PL" sz="1800">
                <a:solidFill>
                  <a:schemeClr val="tx2"/>
                </a:solidFill>
              </a:rPr>
              <a:t>Wszystkie zadania związane z IT są wykonywane przez jeden zespół.</a:t>
            </a:r>
          </a:p>
          <a:p>
            <a:r>
              <a:rPr lang="pl-PL" sz="1800">
                <a:solidFill>
                  <a:schemeClr val="tx2"/>
                </a:solidFill>
              </a:rPr>
              <a:t>Decyzje są podejmowane w jednym miejscu.</a:t>
            </a:r>
          </a:p>
          <a:p>
            <a:r>
              <a:rPr lang="pl-PL" sz="1800">
                <a:solidFill>
                  <a:schemeClr val="tx2"/>
                </a:solidFill>
              </a:rPr>
              <a:t>Efektywność i bezpieczeństwo są ważniejsze niż łatwość wprowadzania zmian.</a:t>
            </a:r>
          </a:p>
        </p:txBody>
      </p:sp>
      <p:grpSp>
        <p:nvGrpSpPr>
          <p:cNvPr id="1043" name="Group 1042">
            <a:extLst>
              <a:ext uri="{FF2B5EF4-FFF2-40B4-BE49-F238E27FC236}">
                <a16:creationId xmlns:a16="http://schemas.microsoft.com/office/drawing/2014/main" id="{466920E5-8640-4C24-A775-8647637094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10185732" y="4852038"/>
            <a:ext cx="2151670" cy="1860256"/>
            <a:chOff x="-305" y="-4155"/>
            <a:chExt cx="2514948" cy="2174333"/>
          </a:xfrm>
        </p:grpSpPr>
        <p:sp>
          <p:nvSpPr>
            <p:cNvPr id="1044" name="Freeform: Shape 1043">
              <a:extLst>
                <a:ext uri="{FF2B5EF4-FFF2-40B4-BE49-F238E27FC236}">
                  <a16:creationId xmlns:a16="http://schemas.microsoft.com/office/drawing/2014/main" id="{2CBA3142-5A82-43CE-87A2-EB14B17A51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5" name="Freeform: Shape 1044">
              <a:extLst>
                <a:ext uri="{FF2B5EF4-FFF2-40B4-BE49-F238E27FC236}">
                  <a16:creationId xmlns:a16="http://schemas.microsoft.com/office/drawing/2014/main" id="{AEF5A1C7-9938-4A33-A5A4-2B05353B3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6" name="Freeform: Shape 1045">
              <a:extLst>
                <a:ext uri="{FF2B5EF4-FFF2-40B4-BE49-F238E27FC236}">
                  <a16:creationId xmlns:a16="http://schemas.microsoft.com/office/drawing/2014/main" id="{262A936D-E9F6-4A68-82C2-1D1CC7772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047" name="Freeform: Shape 1046">
              <a:extLst>
                <a:ext uri="{FF2B5EF4-FFF2-40B4-BE49-F238E27FC236}">
                  <a16:creationId xmlns:a16="http://schemas.microsoft.com/office/drawing/2014/main" id="{C68A9229-BBBE-4934-9700-BA72A1BB03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028" name="Picture 4">
            <a:extLst>
              <a:ext uri="{FF2B5EF4-FFF2-40B4-BE49-F238E27FC236}">
                <a16:creationId xmlns:a16="http://schemas.microsoft.com/office/drawing/2014/main" id="{78DA749D-9A1F-9D99-3888-A98A871F9FB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29378" y="3858009"/>
            <a:ext cx="4954693" cy="11767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2575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ytuł 1">
            <a:extLst>
              <a:ext uri="{FF2B5EF4-FFF2-40B4-BE49-F238E27FC236}">
                <a16:creationId xmlns:a16="http://schemas.microsoft.com/office/drawing/2014/main" id="{4D19D61D-1E26-3B2E-EDA2-AAD5CB6BD75A}"/>
              </a:ext>
            </a:extLst>
          </p:cNvPr>
          <p:cNvSpPr>
            <a:spLocks noGrp="1"/>
          </p:cNvSpPr>
          <p:nvPr>
            <p:ph type="title"/>
          </p:nvPr>
        </p:nvSpPr>
        <p:spPr>
          <a:xfrm>
            <a:off x="640080" y="1243013"/>
            <a:ext cx="3855720" cy="4371974"/>
          </a:xfrm>
        </p:spPr>
        <p:txBody>
          <a:bodyPr>
            <a:normAutofit/>
          </a:bodyPr>
          <a:lstStyle/>
          <a:p>
            <a:r>
              <a:rPr lang="pl-PL" sz="3600">
                <a:solidFill>
                  <a:schemeClr val="tx2"/>
                </a:solidFill>
              </a:rPr>
              <a:t>Cechy struktury scentralizowanej</a:t>
            </a:r>
          </a:p>
        </p:txBody>
      </p:sp>
      <p:sp>
        <p:nvSpPr>
          <p:cNvPr id="3" name="Symbol zastępczy zawartości 2">
            <a:extLst>
              <a:ext uri="{FF2B5EF4-FFF2-40B4-BE49-F238E27FC236}">
                <a16:creationId xmlns:a16="http://schemas.microsoft.com/office/drawing/2014/main" id="{A2578827-A53C-6C39-717F-2380A549471B}"/>
              </a:ext>
            </a:extLst>
          </p:cNvPr>
          <p:cNvSpPr>
            <a:spLocks noGrp="1"/>
          </p:cNvSpPr>
          <p:nvPr>
            <p:ph idx="1"/>
          </p:nvPr>
        </p:nvSpPr>
        <p:spPr>
          <a:xfrm>
            <a:off x="6172200" y="804672"/>
            <a:ext cx="5221224" cy="5230368"/>
          </a:xfrm>
        </p:spPr>
        <p:txBody>
          <a:bodyPr anchor="ctr">
            <a:normAutofit/>
          </a:bodyPr>
          <a:lstStyle/>
          <a:p>
            <a:r>
              <a:rPr lang="pl-PL" sz="1800">
                <a:solidFill>
                  <a:schemeClr val="tx2"/>
                </a:solidFill>
              </a:rPr>
              <a:t>Potrzeba dużej kontroli nad infrastrukturą IT</a:t>
            </a:r>
          </a:p>
          <a:p>
            <a:r>
              <a:rPr lang="pl-PL" sz="1800">
                <a:solidFill>
                  <a:schemeClr val="tx2"/>
                </a:solidFill>
              </a:rPr>
              <a:t>Używana przy wymaganiu zgodności z przepisami</a:t>
            </a:r>
          </a:p>
          <a:p>
            <a:r>
              <a:rPr lang="pl-PL" sz="1800">
                <a:solidFill>
                  <a:schemeClr val="tx2"/>
                </a:solidFill>
              </a:rPr>
              <a:t>Wysokie standardy bezpieczeństwa</a:t>
            </a:r>
          </a:p>
          <a:p>
            <a:r>
              <a:rPr lang="pl-PL" sz="1800">
                <a:solidFill>
                  <a:schemeClr val="tx2"/>
                </a:solidFill>
              </a:rPr>
              <a:t>Wydajność i bezbłędność jest ważniejsza niż szybkość wdrożenia</a:t>
            </a:r>
          </a:p>
        </p:txBody>
      </p:sp>
    </p:spTree>
    <p:extLst>
      <p:ext uri="{BB962C8B-B14F-4D97-AF65-F5344CB8AC3E}">
        <p14:creationId xmlns:p14="http://schemas.microsoft.com/office/powerpoint/2010/main" val="2504129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7" name="Rectangle 2056">
            <a:extLst>
              <a:ext uri="{FF2B5EF4-FFF2-40B4-BE49-F238E27FC236}">
                <a16:creationId xmlns:a16="http://schemas.microsoft.com/office/drawing/2014/main" id="{1E020063-2385-44AC-BD67-258E1F0B9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7E014A0B-5338-4077-AFE9-A90D04D449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294C43B1-C87D-328F-8930-A9B14E92DC2F}"/>
              </a:ext>
            </a:extLst>
          </p:cNvPr>
          <p:cNvSpPr>
            <a:spLocks noGrp="1"/>
          </p:cNvSpPr>
          <p:nvPr>
            <p:ph type="title"/>
          </p:nvPr>
        </p:nvSpPr>
        <p:spPr>
          <a:xfrm>
            <a:off x="1179576" y="1261423"/>
            <a:ext cx="9829800" cy="1325880"/>
          </a:xfrm>
        </p:spPr>
        <p:txBody>
          <a:bodyPr anchor="b">
            <a:normAutofit/>
          </a:bodyPr>
          <a:lstStyle/>
          <a:p>
            <a:pPr algn="ctr" fontAlgn="ctr"/>
            <a:r>
              <a:rPr lang="pl-PL" sz="3600">
                <a:solidFill>
                  <a:schemeClr val="tx2"/>
                </a:solidFill>
              </a:rPr>
              <a:t>Struktura zdecentralizowana</a:t>
            </a:r>
          </a:p>
        </p:txBody>
      </p:sp>
      <p:grpSp>
        <p:nvGrpSpPr>
          <p:cNvPr id="2061" name="Group 2060">
            <a:extLst>
              <a:ext uri="{FF2B5EF4-FFF2-40B4-BE49-F238E27FC236}">
                <a16:creationId xmlns:a16="http://schemas.microsoft.com/office/drawing/2014/main" id="{78127680-150F-4A90-9950-F663925781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
            <a:ext cx="3362070" cy="2522849"/>
            <a:chOff x="-305" y="-1"/>
            <a:chExt cx="3832880" cy="2876136"/>
          </a:xfrm>
        </p:grpSpPr>
        <p:sp>
          <p:nvSpPr>
            <p:cNvPr id="2062" name="Freeform: Shape 2061">
              <a:extLst>
                <a:ext uri="{FF2B5EF4-FFF2-40B4-BE49-F238E27FC236}">
                  <a16:creationId xmlns:a16="http://schemas.microsoft.com/office/drawing/2014/main" id="{5088F97A-8362-4967-B664-D748B846EC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3" name="Freeform: Shape 2062">
              <a:extLst>
                <a:ext uri="{FF2B5EF4-FFF2-40B4-BE49-F238E27FC236}">
                  <a16:creationId xmlns:a16="http://schemas.microsoft.com/office/drawing/2014/main" id="{30F9DEDE-4318-412A-81C5-C8C90F689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64" name="Freeform: Shape 2063">
              <a:extLst>
                <a:ext uri="{FF2B5EF4-FFF2-40B4-BE49-F238E27FC236}">
                  <a16:creationId xmlns:a16="http://schemas.microsoft.com/office/drawing/2014/main" id="{09E97DE9-7844-4707-8928-1CD88ADB72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65" name="Freeform: Shape 2064">
              <a:extLst>
                <a:ext uri="{FF2B5EF4-FFF2-40B4-BE49-F238E27FC236}">
                  <a16:creationId xmlns:a16="http://schemas.microsoft.com/office/drawing/2014/main" id="{EC58954E-44A5-4A0D-97A9-8A2BB43D6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Symbol zastępczy zawartości 2">
            <a:extLst>
              <a:ext uri="{FF2B5EF4-FFF2-40B4-BE49-F238E27FC236}">
                <a16:creationId xmlns:a16="http://schemas.microsoft.com/office/drawing/2014/main" id="{1F286E99-767A-A03B-66D5-DAB51451B035}"/>
              </a:ext>
            </a:extLst>
          </p:cNvPr>
          <p:cNvSpPr>
            <a:spLocks noGrp="1"/>
          </p:cNvSpPr>
          <p:nvPr>
            <p:ph idx="1"/>
          </p:nvPr>
        </p:nvSpPr>
        <p:spPr>
          <a:xfrm>
            <a:off x="804672" y="2827419"/>
            <a:ext cx="5126896" cy="3227626"/>
          </a:xfrm>
        </p:spPr>
        <p:txBody>
          <a:bodyPr anchor="ctr">
            <a:normAutofit/>
          </a:bodyPr>
          <a:lstStyle/>
          <a:p>
            <a:r>
              <a:rPr lang="pl-PL" sz="1800">
                <a:solidFill>
                  <a:schemeClr val="tx2"/>
                </a:solidFill>
              </a:rPr>
              <a:t>Każda jednostka biznesowa posiada własny zespół IT.</a:t>
            </a:r>
          </a:p>
          <a:p>
            <a:r>
              <a:rPr lang="pl-PL" sz="1800">
                <a:solidFill>
                  <a:schemeClr val="tx2"/>
                </a:solidFill>
              </a:rPr>
              <a:t>Zespoły są niezależne od siebie i podejmują większość decyzji samodzielnie.</a:t>
            </a:r>
          </a:p>
          <a:p>
            <a:r>
              <a:rPr lang="pl-PL" sz="1800">
                <a:solidFill>
                  <a:schemeClr val="tx2"/>
                </a:solidFill>
              </a:rPr>
              <a:t>Podejmowane decyzje skupiają się na potrzebach danej jednostki biznesowej, mniej na utrzymywaniu standardów.</a:t>
            </a:r>
          </a:p>
        </p:txBody>
      </p:sp>
      <p:grpSp>
        <p:nvGrpSpPr>
          <p:cNvPr id="2067" name="Group 2066">
            <a:extLst>
              <a:ext uri="{FF2B5EF4-FFF2-40B4-BE49-F238E27FC236}">
                <a16:creationId xmlns:a16="http://schemas.microsoft.com/office/drawing/2014/main" id="{466920E5-8640-4C24-A775-8647637094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10185732" y="4852038"/>
            <a:ext cx="2151670" cy="1860256"/>
            <a:chOff x="-305" y="-4155"/>
            <a:chExt cx="2514948" cy="2174333"/>
          </a:xfrm>
        </p:grpSpPr>
        <p:sp>
          <p:nvSpPr>
            <p:cNvPr id="2068" name="Freeform: Shape 2067">
              <a:extLst>
                <a:ext uri="{FF2B5EF4-FFF2-40B4-BE49-F238E27FC236}">
                  <a16:creationId xmlns:a16="http://schemas.microsoft.com/office/drawing/2014/main" id="{2CBA3142-5A82-43CE-87A2-EB14B17A51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9" name="Freeform: Shape 2068">
              <a:extLst>
                <a:ext uri="{FF2B5EF4-FFF2-40B4-BE49-F238E27FC236}">
                  <a16:creationId xmlns:a16="http://schemas.microsoft.com/office/drawing/2014/main" id="{AEF5A1C7-9938-4A33-A5A4-2B05353B3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0" name="Freeform: Shape 2069">
              <a:extLst>
                <a:ext uri="{FF2B5EF4-FFF2-40B4-BE49-F238E27FC236}">
                  <a16:creationId xmlns:a16="http://schemas.microsoft.com/office/drawing/2014/main" id="{262A936D-E9F6-4A68-82C2-1D1CC7772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071" name="Freeform: Shape 2070">
              <a:extLst>
                <a:ext uri="{FF2B5EF4-FFF2-40B4-BE49-F238E27FC236}">
                  <a16:creationId xmlns:a16="http://schemas.microsoft.com/office/drawing/2014/main" id="{C68A9229-BBBE-4934-9700-BA72A1BB03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052" name="Picture 4">
            <a:extLst>
              <a:ext uri="{FF2B5EF4-FFF2-40B4-BE49-F238E27FC236}">
                <a16:creationId xmlns:a16="http://schemas.microsoft.com/office/drawing/2014/main" id="{F68AAE98-4739-3DF2-A23D-DA0998090A6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29378" y="3597887"/>
            <a:ext cx="4954693" cy="16969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1482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ytuł 1">
            <a:extLst>
              <a:ext uri="{FF2B5EF4-FFF2-40B4-BE49-F238E27FC236}">
                <a16:creationId xmlns:a16="http://schemas.microsoft.com/office/drawing/2014/main" id="{1817CEFE-4B64-EF79-A740-912D6C83E1B9}"/>
              </a:ext>
            </a:extLst>
          </p:cNvPr>
          <p:cNvSpPr>
            <a:spLocks noGrp="1"/>
          </p:cNvSpPr>
          <p:nvPr>
            <p:ph type="title"/>
          </p:nvPr>
        </p:nvSpPr>
        <p:spPr>
          <a:xfrm>
            <a:off x="640080" y="1243013"/>
            <a:ext cx="3855720" cy="4371974"/>
          </a:xfrm>
        </p:spPr>
        <p:txBody>
          <a:bodyPr>
            <a:normAutofit/>
          </a:bodyPr>
          <a:lstStyle/>
          <a:p>
            <a:pPr fontAlgn="ctr"/>
            <a:r>
              <a:rPr lang="pl-PL" sz="3600">
                <a:solidFill>
                  <a:schemeClr val="tx2"/>
                </a:solidFill>
              </a:rPr>
              <a:t>Cechy struktury zdecentralizowanej</a:t>
            </a:r>
          </a:p>
        </p:txBody>
      </p:sp>
      <p:sp>
        <p:nvSpPr>
          <p:cNvPr id="3" name="Symbol zastępczy zawartości 2">
            <a:extLst>
              <a:ext uri="{FF2B5EF4-FFF2-40B4-BE49-F238E27FC236}">
                <a16:creationId xmlns:a16="http://schemas.microsoft.com/office/drawing/2014/main" id="{7F2F74AA-48F5-50F4-6F83-1F25B8627A53}"/>
              </a:ext>
            </a:extLst>
          </p:cNvPr>
          <p:cNvSpPr>
            <a:spLocks noGrp="1"/>
          </p:cNvSpPr>
          <p:nvPr>
            <p:ph idx="1"/>
          </p:nvPr>
        </p:nvSpPr>
        <p:spPr>
          <a:xfrm>
            <a:off x="6172200" y="804672"/>
            <a:ext cx="5221224" cy="5230368"/>
          </a:xfrm>
        </p:spPr>
        <p:txBody>
          <a:bodyPr anchor="ctr">
            <a:normAutofit/>
          </a:bodyPr>
          <a:lstStyle/>
          <a:p>
            <a:r>
              <a:rPr lang="pl-PL" sz="1800">
                <a:solidFill>
                  <a:schemeClr val="tx2"/>
                </a:solidFill>
              </a:rPr>
              <a:t>Duże organizacje posiadające wiele niezwiązanych obszarów działalności.</a:t>
            </a:r>
          </a:p>
          <a:p>
            <a:r>
              <a:rPr lang="pl-PL" sz="1800">
                <a:solidFill>
                  <a:schemeClr val="tx2"/>
                </a:solidFill>
              </a:rPr>
              <a:t>Wymaganie szybkiej implementacji nie zależnej od innych jednostek.</a:t>
            </a:r>
          </a:p>
          <a:p>
            <a:r>
              <a:rPr lang="pl-PL" sz="1800">
                <a:solidFill>
                  <a:schemeClr val="tx2"/>
                </a:solidFill>
              </a:rPr>
              <a:t>Dedykowane technologie i brak standaryzacji </a:t>
            </a:r>
          </a:p>
          <a:p>
            <a:r>
              <a:rPr lang="pl-PL" sz="1800">
                <a:solidFill>
                  <a:schemeClr val="tx2"/>
                </a:solidFill>
              </a:rPr>
              <a:t>Wyższy koszt z powodu redundancji</a:t>
            </a:r>
          </a:p>
        </p:txBody>
      </p:sp>
    </p:spTree>
    <p:extLst>
      <p:ext uri="{BB962C8B-B14F-4D97-AF65-F5344CB8AC3E}">
        <p14:creationId xmlns:p14="http://schemas.microsoft.com/office/powerpoint/2010/main" val="4260619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1" name="Rectangle 3080">
            <a:extLst>
              <a:ext uri="{FF2B5EF4-FFF2-40B4-BE49-F238E27FC236}">
                <a16:creationId xmlns:a16="http://schemas.microsoft.com/office/drawing/2014/main" id="{D1942232-83D0-49E2-AF9B-1F97E3C1EF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Rectangle 3082">
            <a:extLst>
              <a:ext uri="{FF2B5EF4-FFF2-40B4-BE49-F238E27FC236}">
                <a16:creationId xmlns:a16="http://schemas.microsoft.com/office/drawing/2014/main" id="{E9E70D72-6E23-4015-A4A6-85C120C191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40052494-A5C7-EB68-7F68-F0165D912B74}"/>
              </a:ext>
            </a:extLst>
          </p:cNvPr>
          <p:cNvSpPr>
            <a:spLocks noGrp="1"/>
          </p:cNvSpPr>
          <p:nvPr>
            <p:ph type="title"/>
          </p:nvPr>
        </p:nvSpPr>
        <p:spPr>
          <a:xfrm>
            <a:off x="1179576" y="1163848"/>
            <a:ext cx="9829800" cy="1325880"/>
          </a:xfrm>
        </p:spPr>
        <p:txBody>
          <a:bodyPr anchor="b">
            <a:normAutofit/>
          </a:bodyPr>
          <a:lstStyle/>
          <a:p>
            <a:pPr algn="ctr" fontAlgn="ctr"/>
            <a:r>
              <a:rPr lang="pl-PL" sz="3600">
                <a:solidFill>
                  <a:schemeClr val="tx2"/>
                </a:solidFill>
              </a:rPr>
              <a:t>Struktura funkcjonalna</a:t>
            </a:r>
          </a:p>
        </p:txBody>
      </p:sp>
      <p:grpSp>
        <p:nvGrpSpPr>
          <p:cNvPr id="3085" name="Group 3084">
            <a:extLst>
              <a:ext uri="{FF2B5EF4-FFF2-40B4-BE49-F238E27FC236}">
                <a16:creationId xmlns:a16="http://schemas.microsoft.com/office/drawing/2014/main" id="{C28A977F-B603-4D81-B0FC-C8DE048A7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
            <a:ext cx="3362070" cy="2522848"/>
            <a:chOff x="-305" y="-1"/>
            <a:chExt cx="3832880" cy="2876136"/>
          </a:xfrm>
        </p:grpSpPr>
        <p:sp>
          <p:nvSpPr>
            <p:cNvPr id="3086" name="Freeform: Shape 3085">
              <a:extLst>
                <a:ext uri="{FF2B5EF4-FFF2-40B4-BE49-F238E27FC236}">
                  <a16:creationId xmlns:a16="http://schemas.microsoft.com/office/drawing/2014/main" id="{0183CE8C-E039-4B2F-A36E-5FD5CD5DE1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7" name="Freeform: Shape 3086">
              <a:extLst>
                <a:ext uri="{FF2B5EF4-FFF2-40B4-BE49-F238E27FC236}">
                  <a16:creationId xmlns:a16="http://schemas.microsoft.com/office/drawing/2014/main" id="{3EB77281-FAB4-40D0-B3F3-264EC4AB20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8" name="Freeform: Shape 3087">
              <a:extLst>
                <a:ext uri="{FF2B5EF4-FFF2-40B4-BE49-F238E27FC236}">
                  <a16:creationId xmlns:a16="http://schemas.microsoft.com/office/drawing/2014/main" id="{815E59F3-75FC-494F-8737-5F00A4964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9" name="Freeform: Shape 3088">
              <a:extLst>
                <a:ext uri="{FF2B5EF4-FFF2-40B4-BE49-F238E27FC236}">
                  <a16:creationId xmlns:a16="http://schemas.microsoft.com/office/drawing/2014/main" id="{43ADDCFA-B066-4D79-AB71-062E66E58F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076" name="Picture 4">
            <a:extLst>
              <a:ext uri="{FF2B5EF4-FFF2-40B4-BE49-F238E27FC236}">
                <a16:creationId xmlns:a16="http://schemas.microsoft.com/office/drawing/2014/main" id="{6E45400B-63CA-C5C7-024B-2D91FE93921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04671" y="3597887"/>
            <a:ext cx="4954693" cy="1696982"/>
          </a:xfrm>
          <a:prstGeom prst="rect">
            <a:avLst/>
          </a:prstGeom>
          <a:noFill/>
          <a:extLst>
            <a:ext uri="{909E8E84-426E-40DD-AFC4-6F175D3DCCD1}">
              <a14:hiddenFill xmlns:a14="http://schemas.microsoft.com/office/drawing/2010/main">
                <a:solidFill>
                  <a:srgbClr val="FFFFFF"/>
                </a:solidFill>
              </a14:hiddenFill>
            </a:ext>
          </a:extLst>
        </p:spPr>
      </p:pic>
      <p:sp>
        <p:nvSpPr>
          <p:cNvPr id="3" name="Symbol zastępczy zawartości 2">
            <a:extLst>
              <a:ext uri="{FF2B5EF4-FFF2-40B4-BE49-F238E27FC236}">
                <a16:creationId xmlns:a16="http://schemas.microsoft.com/office/drawing/2014/main" id="{6C49DDEC-2AFE-3032-59A6-43AD83355AB2}"/>
              </a:ext>
            </a:extLst>
          </p:cNvPr>
          <p:cNvSpPr>
            <a:spLocks noGrp="1"/>
          </p:cNvSpPr>
          <p:nvPr>
            <p:ph idx="1"/>
          </p:nvPr>
        </p:nvSpPr>
        <p:spPr>
          <a:xfrm>
            <a:off x="6354871" y="2827419"/>
            <a:ext cx="5029200" cy="3227626"/>
          </a:xfrm>
        </p:spPr>
        <p:txBody>
          <a:bodyPr anchor="ctr">
            <a:normAutofit/>
          </a:bodyPr>
          <a:lstStyle/>
          <a:p>
            <a:r>
              <a:rPr lang="pl-PL" sz="1800">
                <a:solidFill>
                  <a:schemeClr val="tx2"/>
                </a:solidFill>
              </a:rPr>
              <a:t>Struktura jest podzielona według kompetencji zespołów, nie jednostek biznesowych.</a:t>
            </a:r>
          </a:p>
          <a:p>
            <a:r>
              <a:rPr lang="pl-PL" sz="1800">
                <a:solidFill>
                  <a:schemeClr val="tx2"/>
                </a:solidFill>
              </a:rPr>
              <a:t>Sprzyja budowaniu wiedzy eksperckiej w wąskich dziedzinach</a:t>
            </a:r>
          </a:p>
          <a:p>
            <a:endParaRPr lang="pl-PL" sz="1800">
              <a:solidFill>
                <a:schemeClr val="tx2"/>
              </a:solidFill>
            </a:endParaRPr>
          </a:p>
        </p:txBody>
      </p:sp>
      <p:grpSp>
        <p:nvGrpSpPr>
          <p:cNvPr id="3091" name="Group 3090">
            <a:extLst>
              <a:ext uri="{FF2B5EF4-FFF2-40B4-BE49-F238E27FC236}">
                <a16:creationId xmlns:a16="http://schemas.microsoft.com/office/drawing/2014/main" id="{C78D9229-E61D-4FEE-8321-2F8B64A8CAD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10186037" y="4852038"/>
            <a:ext cx="2151670" cy="1860256"/>
            <a:chOff x="-305" y="-4155"/>
            <a:chExt cx="2514948" cy="2174333"/>
          </a:xfrm>
        </p:grpSpPr>
        <p:sp>
          <p:nvSpPr>
            <p:cNvPr id="3092" name="Freeform: Shape 3091">
              <a:extLst>
                <a:ext uri="{FF2B5EF4-FFF2-40B4-BE49-F238E27FC236}">
                  <a16:creationId xmlns:a16="http://schemas.microsoft.com/office/drawing/2014/main" id="{1FDD3CCB-26A3-4D79-AEB6-7A60CF980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3" name="Freeform: Shape 3092">
              <a:extLst>
                <a:ext uri="{FF2B5EF4-FFF2-40B4-BE49-F238E27FC236}">
                  <a16:creationId xmlns:a16="http://schemas.microsoft.com/office/drawing/2014/main" id="{E9AC4470-5113-4709-B29F-CDB937F254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4" name="Freeform: Shape 3093">
              <a:extLst>
                <a:ext uri="{FF2B5EF4-FFF2-40B4-BE49-F238E27FC236}">
                  <a16:creationId xmlns:a16="http://schemas.microsoft.com/office/drawing/2014/main" id="{3E0D146C-9DAB-421E-AE88-5F854BF3F7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095" name="Freeform: Shape 3094">
              <a:extLst>
                <a:ext uri="{FF2B5EF4-FFF2-40B4-BE49-F238E27FC236}">
                  <a16:creationId xmlns:a16="http://schemas.microsoft.com/office/drawing/2014/main" id="{12EB32A5-4408-4F6C-84B2-F9A908237A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2603741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ytuł 1">
            <a:extLst>
              <a:ext uri="{FF2B5EF4-FFF2-40B4-BE49-F238E27FC236}">
                <a16:creationId xmlns:a16="http://schemas.microsoft.com/office/drawing/2014/main" id="{1B86C9B9-3362-6C0C-5B78-F9B8A75DF833}"/>
              </a:ext>
            </a:extLst>
          </p:cNvPr>
          <p:cNvSpPr>
            <a:spLocks noGrp="1"/>
          </p:cNvSpPr>
          <p:nvPr>
            <p:ph type="title"/>
          </p:nvPr>
        </p:nvSpPr>
        <p:spPr>
          <a:xfrm>
            <a:off x="640080" y="1243013"/>
            <a:ext cx="3855720" cy="4371974"/>
          </a:xfrm>
        </p:spPr>
        <p:txBody>
          <a:bodyPr>
            <a:normAutofit/>
          </a:bodyPr>
          <a:lstStyle/>
          <a:p>
            <a:pPr fontAlgn="ctr"/>
            <a:r>
              <a:rPr lang="pl-PL" sz="3600">
                <a:solidFill>
                  <a:schemeClr val="tx2"/>
                </a:solidFill>
              </a:rPr>
              <a:t>Cechy struktury funkcjonalnej</a:t>
            </a:r>
          </a:p>
        </p:txBody>
      </p:sp>
      <p:sp>
        <p:nvSpPr>
          <p:cNvPr id="3" name="Symbol zastępczy zawartości 2">
            <a:extLst>
              <a:ext uri="{FF2B5EF4-FFF2-40B4-BE49-F238E27FC236}">
                <a16:creationId xmlns:a16="http://schemas.microsoft.com/office/drawing/2014/main" id="{7DB7D298-6BE7-8E39-472E-3AE18BC7E845}"/>
              </a:ext>
            </a:extLst>
          </p:cNvPr>
          <p:cNvSpPr>
            <a:spLocks noGrp="1"/>
          </p:cNvSpPr>
          <p:nvPr>
            <p:ph idx="1"/>
          </p:nvPr>
        </p:nvSpPr>
        <p:spPr>
          <a:xfrm>
            <a:off x="6172200" y="804672"/>
            <a:ext cx="5221224" cy="5230368"/>
          </a:xfrm>
        </p:spPr>
        <p:txBody>
          <a:bodyPr anchor="ctr">
            <a:normAutofit/>
          </a:bodyPr>
          <a:lstStyle/>
          <a:p>
            <a:r>
              <a:rPr lang="pl-PL" sz="1800">
                <a:solidFill>
                  <a:schemeClr val="tx2"/>
                </a:solidFill>
              </a:rPr>
              <a:t>Preferowane dla stabilnych firm z ustanowionymi procesami.</a:t>
            </a:r>
          </a:p>
          <a:p>
            <a:r>
              <a:rPr lang="pl-PL" sz="1800">
                <a:solidFill>
                  <a:schemeClr val="tx2"/>
                </a:solidFill>
              </a:rPr>
              <a:t>Potrzeba ekspertyzy w wąskiej dziedzinie.</a:t>
            </a:r>
          </a:p>
          <a:p>
            <a:r>
              <a:rPr lang="pl-PL" sz="1800">
                <a:solidFill>
                  <a:schemeClr val="tx2"/>
                </a:solidFill>
              </a:rPr>
              <a:t>Efektywność operacji jest ważniejsza niż szybkość wdrożenia nowych rozwiązań</a:t>
            </a:r>
          </a:p>
          <a:p>
            <a:endParaRPr lang="pl-PL" sz="1800">
              <a:solidFill>
                <a:schemeClr val="tx2"/>
              </a:solidFill>
            </a:endParaRPr>
          </a:p>
          <a:p>
            <a:endParaRPr lang="pl-PL" sz="1800">
              <a:solidFill>
                <a:schemeClr val="tx2"/>
              </a:solidFill>
            </a:endParaRPr>
          </a:p>
        </p:txBody>
      </p:sp>
    </p:spTree>
    <p:extLst>
      <p:ext uri="{BB962C8B-B14F-4D97-AF65-F5344CB8AC3E}">
        <p14:creationId xmlns:p14="http://schemas.microsoft.com/office/powerpoint/2010/main" val="3682927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1E020063-2385-44AC-BD67-258E1F0B9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5" name="Rectangle 4104">
            <a:extLst>
              <a:ext uri="{FF2B5EF4-FFF2-40B4-BE49-F238E27FC236}">
                <a16:creationId xmlns:a16="http://schemas.microsoft.com/office/drawing/2014/main" id="{7E014A0B-5338-4077-AFE9-A90D04D449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C8AAE988-9E00-AF6E-4CAB-E60007D2A402}"/>
              </a:ext>
            </a:extLst>
          </p:cNvPr>
          <p:cNvSpPr>
            <a:spLocks noGrp="1"/>
          </p:cNvSpPr>
          <p:nvPr>
            <p:ph type="title"/>
          </p:nvPr>
        </p:nvSpPr>
        <p:spPr>
          <a:xfrm>
            <a:off x="1179576" y="1261423"/>
            <a:ext cx="9829800" cy="1325880"/>
          </a:xfrm>
        </p:spPr>
        <p:txBody>
          <a:bodyPr anchor="b">
            <a:normAutofit/>
          </a:bodyPr>
          <a:lstStyle/>
          <a:p>
            <a:pPr algn="ctr" fontAlgn="ctr"/>
            <a:r>
              <a:rPr lang="pl-PL" sz="3600">
                <a:solidFill>
                  <a:schemeClr val="tx2"/>
                </a:solidFill>
              </a:rPr>
              <a:t>Struktura macierzowa</a:t>
            </a:r>
          </a:p>
        </p:txBody>
      </p:sp>
      <p:grpSp>
        <p:nvGrpSpPr>
          <p:cNvPr id="4107" name="Group 4106">
            <a:extLst>
              <a:ext uri="{FF2B5EF4-FFF2-40B4-BE49-F238E27FC236}">
                <a16:creationId xmlns:a16="http://schemas.microsoft.com/office/drawing/2014/main" id="{78127680-150F-4A90-9950-F663925781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
            <a:ext cx="3362070" cy="2522849"/>
            <a:chOff x="-305" y="-1"/>
            <a:chExt cx="3832880" cy="2876136"/>
          </a:xfrm>
        </p:grpSpPr>
        <p:sp>
          <p:nvSpPr>
            <p:cNvPr id="4108" name="Freeform: Shape 4107">
              <a:extLst>
                <a:ext uri="{FF2B5EF4-FFF2-40B4-BE49-F238E27FC236}">
                  <a16:creationId xmlns:a16="http://schemas.microsoft.com/office/drawing/2014/main" id="{5088F97A-8362-4967-B664-D748B846EC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9" name="Freeform: Shape 4108">
              <a:extLst>
                <a:ext uri="{FF2B5EF4-FFF2-40B4-BE49-F238E27FC236}">
                  <a16:creationId xmlns:a16="http://schemas.microsoft.com/office/drawing/2014/main" id="{30F9DEDE-4318-412A-81C5-C8C90F689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10" name="Freeform: Shape 4109">
              <a:extLst>
                <a:ext uri="{FF2B5EF4-FFF2-40B4-BE49-F238E27FC236}">
                  <a16:creationId xmlns:a16="http://schemas.microsoft.com/office/drawing/2014/main" id="{09E97DE9-7844-4707-8928-1CD88ADB72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11" name="Freeform: Shape 4110">
              <a:extLst>
                <a:ext uri="{FF2B5EF4-FFF2-40B4-BE49-F238E27FC236}">
                  <a16:creationId xmlns:a16="http://schemas.microsoft.com/office/drawing/2014/main" id="{EC58954E-44A5-4A0D-97A9-8A2BB43D6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Symbol zastępczy zawartości 2">
            <a:extLst>
              <a:ext uri="{FF2B5EF4-FFF2-40B4-BE49-F238E27FC236}">
                <a16:creationId xmlns:a16="http://schemas.microsoft.com/office/drawing/2014/main" id="{42027E9D-7C98-0343-B4AD-B5C95977F25E}"/>
              </a:ext>
            </a:extLst>
          </p:cNvPr>
          <p:cNvSpPr>
            <a:spLocks noGrp="1"/>
          </p:cNvSpPr>
          <p:nvPr>
            <p:ph idx="1"/>
          </p:nvPr>
        </p:nvSpPr>
        <p:spPr>
          <a:xfrm>
            <a:off x="804672" y="2827419"/>
            <a:ext cx="5126896" cy="3227626"/>
          </a:xfrm>
        </p:spPr>
        <p:txBody>
          <a:bodyPr anchor="ctr">
            <a:normAutofit/>
          </a:bodyPr>
          <a:lstStyle/>
          <a:p>
            <a:r>
              <a:rPr lang="pl-PL" sz="1800">
                <a:solidFill>
                  <a:schemeClr val="tx2"/>
                </a:solidFill>
              </a:rPr>
              <a:t>Pracownicy podlegają jednocześnie kierownictwu technicznemu oraz liderom jednostek biznesowych.</a:t>
            </a:r>
          </a:p>
          <a:p>
            <a:r>
              <a:rPr lang="pl-PL" sz="1800">
                <a:solidFill>
                  <a:schemeClr val="tx2"/>
                </a:solidFill>
              </a:rPr>
              <a:t>Umożliwia ścisłą współprace z daną jednostką biznesową</a:t>
            </a:r>
          </a:p>
          <a:p>
            <a:r>
              <a:rPr lang="pl-PL" sz="1800">
                <a:solidFill>
                  <a:schemeClr val="tx2"/>
                </a:solidFill>
              </a:rPr>
              <a:t>Jednocześnie umożliwia utrzymywanie ogólnych standardów i bezpieczeństwa.</a:t>
            </a:r>
          </a:p>
        </p:txBody>
      </p:sp>
      <p:grpSp>
        <p:nvGrpSpPr>
          <p:cNvPr id="4113" name="Group 4112">
            <a:extLst>
              <a:ext uri="{FF2B5EF4-FFF2-40B4-BE49-F238E27FC236}">
                <a16:creationId xmlns:a16="http://schemas.microsoft.com/office/drawing/2014/main" id="{466920E5-8640-4C24-A775-8647637094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10185732" y="4852038"/>
            <a:ext cx="2151670" cy="1860256"/>
            <a:chOff x="-305" y="-4155"/>
            <a:chExt cx="2514948" cy="2174333"/>
          </a:xfrm>
        </p:grpSpPr>
        <p:sp>
          <p:nvSpPr>
            <p:cNvPr id="4114" name="Freeform: Shape 4113">
              <a:extLst>
                <a:ext uri="{FF2B5EF4-FFF2-40B4-BE49-F238E27FC236}">
                  <a16:creationId xmlns:a16="http://schemas.microsoft.com/office/drawing/2014/main" id="{2CBA3142-5A82-43CE-87A2-EB14B17A51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5" name="Freeform: Shape 4114">
              <a:extLst>
                <a:ext uri="{FF2B5EF4-FFF2-40B4-BE49-F238E27FC236}">
                  <a16:creationId xmlns:a16="http://schemas.microsoft.com/office/drawing/2014/main" id="{AEF5A1C7-9938-4A33-A5A4-2B05353B3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6" name="Freeform: Shape 4115">
              <a:extLst>
                <a:ext uri="{FF2B5EF4-FFF2-40B4-BE49-F238E27FC236}">
                  <a16:creationId xmlns:a16="http://schemas.microsoft.com/office/drawing/2014/main" id="{262A936D-E9F6-4A68-82C2-1D1CC7772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4117" name="Freeform: Shape 4116">
              <a:extLst>
                <a:ext uri="{FF2B5EF4-FFF2-40B4-BE49-F238E27FC236}">
                  <a16:creationId xmlns:a16="http://schemas.microsoft.com/office/drawing/2014/main" id="{C68A9229-BBBE-4934-9700-BA72A1BB03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098" name="Picture 2">
            <a:extLst>
              <a:ext uri="{FF2B5EF4-FFF2-40B4-BE49-F238E27FC236}">
                <a16:creationId xmlns:a16="http://schemas.microsoft.com/office/drawing/2014/main" id="{3C2037DE-9747-63A9-9C9C-169286DC51F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29378" y="3337766"/>
            <a:ext cx="4954693" cy="2217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923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ytuł 1">
            <a:extLst>
              <a:ext uri="{FF2B5EF4-FFF2-40B4-BE49-F238E27FC236}">
                <a16:creationId xmlns:a16="http://schemas.microsoft.com/office/drawing/2014/main" id="{EB40F8CD-2D34-E14A-58C3-29E9039572D2}"/>
              </a:ext>
            </a:extLst>
          </p:cNvPr>
          <p:cNvSpPr>
            <a:spLocks noGrp="1"/>
          </p:cNvSpPr>
          <p:nvPr>
            <p:ph type="title"/>
          </p:nvPr>
        </p:nvSpPr>
        <p:spPr>
          <a:xfrm>
            <a:off x="640080" y="1243013"/>
            <a:ext cx="3855720" cy="4371974"/>
          </a:xfrm>
        </p:spPr>
        <p:txBody>
          <a:bodyPr>
            <a:normAutofit/>
          </a:bodyPr>
          <a:lstStyle/>
          <a:p>
            <a:pPr fontAlgn="ctr"/>
            <a:r>
              <a:rPr lang="pl-PL" sz="3600">
                <a:solidFill>
                  <a:schemeClr val="tx2"/>
                </a:solidFill>
              </a:rPr>
              <a:t>Cechy struktury macierzowej</a:t>
            </a:r>
          </a:p>
        </p:txBody>
      </p:sp>
      <p:sp>
        <p:nvSpPr>
          <p:cNvPr id="3" name="Symbol zastępczy zawartości 2">
            <a:extLst>
              <a:ext uri="{FF2B5EF4-FFF2-40B4-BE49-F238E27FC236}">
                <a16:creationId xmlns:a16="http://schemas.microsoft.com/office/drawing/2014/main" id="{01A5FF47-3002-1B56-AF4A-F24B568C011B}"/>
              </a:ext>
            </a:extLst>
          </p:cNvPr>
          <p:cNvSpPr>
            <a:spLocks noGrp="1"/>
          </p:cNvSpPr>
          <p:nvPr>
            <p:ph idx="1"/>
          </p:nvPr>
        </p:nvSpPr>
        <p:spPr>
          <a:xfrm>
            <a:off x="6172200" y="804672"/>
            <a:ext cx="5221224" cy="5230368"/>
          </a:xfrm>
        </p:spPr>
        <p:txBody>
          <a:bodyPr anchor="ctr">
            <a:normAutofit/>
          </a:bodyPr>
          <a:lstStyle/>
          <a:p>
            <a:r>
              <a:rPr lang="pl-PL" sz="1800">
                <a:solidFill>
                  <a:schemeClr val="tx2"/>
                </a:solidFill>
              </a:rPr>
              <a:t>Preferowane dla organizacji które posiadają wiele jednostek biznesowych, które powinny posiadać wspólne standardy.</a:t>
            </a:r>
          </a:p>
          <a:p>
            <a:r>
              <a:rPr lang="pl-PL" sz="1800">
                <a:solidFill>
                  <a:schemeClr val="tx2"/>
                </a:solidFill>
              </a:rPr>
              <a:t>Potrzeba szybkiej implementacji oraz zgodności z normami prawnymi lub polityką bezpieczeństwa.</a:t>
            </a:r>
          </a:p>
          <a:p>
            <a:r>
              <a:rPr lang="pl-PL" sz="1800">
                <a:solidFill>
                  <a:schemeClr val="tx2"/>
                </a:solidFill>
              </a:rPr>
              <a:t>Podejmowanie decyzji jest wolniejsze ponieważ zespół musi komunikować się z dwoma zarządami</a:t>
            </a:r>
          </a:p>
        </p:txBody>
      </p:sp>
    </p:spTree>
    <p:extLst>
      <p:ext uri="{BB962C8B-B14F-4D97-AF65-F5344CB8AC3E}">
        <p14:creationId xmlns:p14="http://schemas.microsoft.com/office/powerpoint/2010/main" val="396538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1E020063-2385-44AC-BD67-258E1F0B9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9" name="Rectangle 5128">
            <a:extLst>
              <a:ext uri="{FF2B5EF4-FFF2-40B4-BE49-F238E27FC236}">
                <a16:creationId xmlns:a16="http://schemas.microsoft.com/office/drawing/2014/main" id="{7E014A0B-5338-4077-AFE9-A90D04D449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EE4102AD-FBAF-4386-9B3E-9E1223B86252}"/>
              </a:ext>
            </a:extLst>
          </p:cNvPr>
          <p:cNvSpPr>
            <a:spLocks noGrp="1"/>
          </p:cNvSpPr>
          <p:nvPr>
            <p:ph type="title"/>
          </p:nvPr>
        </p:nvSpPr>
        <p:spPr>
          <a:xfrm>
            <a:off x="1179576" y="1261423"/>
            <a:ext cx="9829800" cy="1325880"/>
          </a:xfrm>
        </p:spPr>
        <p:txBody>
          <a:bodyPr anchor="b">
            <a:normAutofit/>
          </a:bodyPr>
          <a:lstStyle/>
          <a:p>
            <a:pPr algn="ctr" fontAlgn="ctr"/>
            <a:r>
              <a:rPr lang="pl-PL" sz="3600">
                <a:solidFill>
                  <a:schemeClr val="tx2"/>
                </a:solidFill>
              </a:rPr>
              <a:t>Struktura oparta na produkcie</a:t>
            </a:r>
          </a:p>
        </p:txBody>
      </p:sp>
      <p:grpSp>
        <p:nvGrpSpPr>
          <p:cNvPr id="5131" name="Group 5130">
            <a:extLst>
              <a:ext uri="{FF2B5EF4-FFF2-40B4-BE49-F238E27FC236}">
                <a16:creationId xmlns:a16="http://schemas.microsoft.com/office/drawing/2014/main" id="{78127680-150F-4A90-9950-F663925781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
            <a:ext cx="3362070" cy="2522849"/>
            <a:chOff x="-305" y="-1"/>
            <a:chExt cx="3832880" cy="2876136"/>
          </a:xfrm>
        </p:grpSpPr>
        <p:sp>
          <p:nvSpPr>
            <p:cNvPr id="5132" name="Freeform: Shape 5131">
              <a:extLst>
                <a:ext uri="{FF2B5EF4-FFF2-40B4-BE49-F238E27FC236}">
                  <a16:creationId xmlns:a16="http://schemas.microsoft.com/office/drawing/2014/main" id="{5088F97A-8362-4967-B664-D748B846EC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3" name="Freeform: Shape 5132">
              <a:extLst>
                <a:ext uri="{FF2B5EF4-FFF2-40B4-BE49-F238E27FC236}">
                  <a16:creationId xmlns:a16="http://schemas.microsoft.com/office/drawing/2014/main" id="{30F9DEDE-4318-412A-81C5-C8C90F689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34" name="Freeform: Shape 5133">
              <a:extLst>
                <a:ext uri="{FF2B5EF4-FFF2-40B4-BE49-F238E27FC236}">
                  <a16:creationId xmlns:a16="http://schemas.microsoft.com/office/drawing/2014/main" id="{09E97DE9-7844-4707-8928-1CD88ADB72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35" name="Freeform: Shape 5134">
              <a:extLst>
                <a:ext uri="{FF2B5EF4-FFF2-40B4-BE49-F238E27FC236}">
                  <a16:creationId xmlns:a16="http://schemas.microsoft.com/office/drawing/2014/main" id="{EC58954E-44A5-4A0D-97A9-8A2BB43D6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Symbol zastępczy zawartości 2">
            <a:extLst>
              <a:ext uri="{FF2B5EF4-FFF2-40B4-BE49-F238E27FC236}">
                <a16:creationId xmlns:a16="http://schemas.microsoft.com/office/drawing/2014/main" id="{0B0D0C5B-FD55-C508-683F-684C17E19338}"/>
              </a:ext>
            </a:extLst>
          </p:cNvPr>
          <p:cNvSpPr>
            <a:spLocks noGrp="1"/>
          </p:cNvSpPr>
          <p:nvPr>
            <p:ph idx="1"/>
          </p:nvPr>
        </p:nvSpPr>
        <p:spPr>
          <a:xfrm>
            <a:off x="804672" y="2827419"/>
            <a:ext cx="5126896" cy="3227626"/>
          </a:xfrm>
        </p:spPr>
        <p:txBody>
          <a:bodyPr anchor="ctr">
            <a:normAutofit/>
          </a:bodyPr>
          <a:lstStyle/>
          <a:p>
            <a:r>
              <a:rPr lang="pl-PL" sz="1800">
                <a:solidFill>
                  <a:schemeClr val="tx2"/>
                </a:solidFill>
              </a:rPr>
              <a:t>Struktura jest budowana wokół rozwiązań i produktów wytwarzanych przez firmę.</a:t>
            </a:r>
          </a:p>
          <a:p>
            <a:r>
              <a:rPr lang="pl-PL" sz="1800">
                <a:solidFill>
                  <a:schemeClr val="tx2"/>
                </a:solidFill>
              </a:rPr>
              <a:t>Każdy produkt jest samowystarczalny i posiada odrębny zespół IT.</a:t>
            </a:r>
          </a:p>
          <a:p>
            <a:r>
              <a:rPr lang="pl-PL" sz="1800">
                <a:solidFill>
                  <a:schemeClr val="tx2"/>
                </a:solidFill>
              </a:rPr>
              <a:t>Każdy zespół jest odpowiedzialny za swój produkt od początku do końca.</a:t>
            </a:r>
          </a:p>
        </p:txBody>
      </p:sp>
      <p:grpSp>
        <p:nvGrpSpPr>
          <p:cNvPr id="5137" name="Group 5136">
            <a:extLst>
              <a:ext uri="{FF2B5EF4-FFF2-40B4-BE49-F238E27FC236}">
                <a16:creationId xmlns:a16="http://schemas.microsoft.com/office/drawing/2014/main" id="{466920E5-8640-4C24-A775-8647637094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10185732" y="4852038"/>
            <a:ext cx="2151670" cy="1860256"/>
            <a:chOff x="-305" y="-4155"/>
            <a:chExt cx="2514948" cy="2174333"/>
          </a:xfrm>
        </p:grpSpPr>
        <p:sp>
          <p:nvSpPr>
            <p:cNvPr id="5138" name="Freeform: Shape 5137">
              <a:extLst>
                <a:ext uri="{FF2B5EF4-FFF2-40B4-BE49-F238E27FC236}">
                  <a16:creationId xmlns:a16="http://schemas.microsoft.com/office/drawing/2014/main" id="{2CBA3142-5A82-43CE-87A2-EB14B17A51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9" name="Freeform: Shape 5138">
              <a:extLst>
                <a:ext uri="{FF2B5EF4-FFF2-40B4-BE49-F238E27FC236}">
                  <a16:creationId xmlns:a16="http://schemas.microsoft.com/office/drawing/2014/main" id="{AEF5A1C7-9938-4A33-A5A4-2B05353B3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40" name="Freeform: Shape 5139">
              <a:extLst>
                <a:ext uri="{FF2B5EF4-FFF2-40B4-BE49-F238E27FC236}">
                  <a16:creationId xmlns:a16="http://schemas.microsoft.com/office/drawing/2014/main" id="{262A936D-E9F6-4A68-82C2-1D1CC7772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5141" name="Freeform: Shape 5140">
              <a:extLst>
                <a:ext uri="{FF2B5EF4-FFF2-40B4-BE49-F238E27FC236}">
                  <a16:creationId xmlns:a16="http://schemas.microsoft.com/office/drawing/2014/main" id="{C68A9229-BBBE-4934-9700-BA72A1BB03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122" name="Picture 2">
            <a:extLst>
              <a:ext uri="{FF2B5EF4-FFF2-40B4-BE49-F238E27FC236}">
                <a16:creationId xmlns:a16="http://schemas.microsoft.com/office/drawing/2014/main" id="{63527320-F014-E68C-DA78-FE2646381EE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29378" y="3319186"/>
            <a:ext cx="4954693" cy="22543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2751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ytuł 1">
            <a:extLst>
              <a:ext uri="{FF2B5EF4-FFF2-40B4-BE49-F238E27FC236}">
                <a16:creationId xmlns:a16="http://schemas.microsoft.com/office/drawing/2014/main" id="{4A491535-AE55-ABCF-E377-5DE45B1D1BA5}"/>
              </a:ext>
            </a:extLst>
          </p:cNvPr>
          <p:cNvSpPr>
            <a:spLocks noGrp="1"/>
          </p:cNvSpPr>
          <p:nvPr>
            <p:ph type="title"/>
          </p:nvPr>
        </p:nvSpPr>
        <p:spPr>
          <a:xfrm>
            <a:off x="640080" y="1243013"/>
            <a:ext cx="3855720" cy="4371974"/>
          </a:xfrm>
        </p:spPr>
        <p:txBody>
          <a:bodyPr>
            <a:normAutofit/>
          </a:bodyPr>
          <a:lstStyle/>
          <a:p>
            <a:pPr fontAlgn="ctr"/>
            <a:r>
              <a:rPr lang="pl-PL" sz="3600">
                <a:solidFill>
                  <a:schemeClr val="tx2"/>
                </a:solidFill>
              </a:rPr>
              <a:t>Cechy struktury opartej na produkcie</a:t>
            </a:r>
          </a:p>
        </p:txBody>
      </p:sp>
      <p:sp>
        <p:nvSpPr>
          <p:cNvPr id="3" name="Symbol zastępczy zawartości 2">
            <a:extLst>
              <a:ext uri="{FF2B5EF4-FFF2-40B4-BE49-F238E27FC236}">
                <a16:creationId xmlns:a16="http://schemas.microsoft.com/office/drawing/2014/main" id="{F8C1E45B-2DCD-AFBF-4099-3679F09127CA}"/>
              </a:ext>
            </a:extLst>
          </p:cNvPr>
          <p:cNvSpPr>
            <a:spLocks noGrp="1"/>
          </p:cNvSpPr>
          <p:nvPr>
            <p:ph idx="1"/>
          </p:nvPr>
        </p:nvSpPr>
        <p:spPr>
          <a:xfrm>
            <a:off x="6172200" y="804672"/>
            <a:ext cx="5221224" cy="5230368"/>
          </a:xfrm>
        </p:spPr>
        <p:txBody>
          <a:bodyPr anchor="ctr">
            <a:normAutofit/>
          </a:bodyPr>
          <a:lstStyle/>
          <a:p>
            <a:r>
              <a:rPr lang="pl-PL" sz="1800">
                <a:solidFill>
                  <a:schemeClr val="tx2"/>
                </a:solidFill>
              </a:rPr>
              <a:t>Preferowane dla organizacji które wytwarzają produkty cyfrowe np. Netflix.</a:t>
            </a:r>
          </a:p>
          <a:p>
            <a:r>
              <a:rPr lang="pl-PL" sz="1800">
                <a:solidFill>
                  <a:schemeClr val="tx2"/>
                </a:solidFill>
              </a:rPr>
              <a:t>Innowacyjność i szybkość działania zespołu są ważniejsze od utrzymywania standardów.</a:t>
            </a:r>
          </a:p>
          <a:p>
            <a:r>
              <a:rPr lang="pl-PL" sz="1800">
                <a:solidFill>
                  <a:schemeClr val="tx2"/>
                </a:solidFill>
              </a:rPr>
              <a:t>Każdy zespół jest odpowiedzialny za osobny produkt więc może dochodzić do redundancji.</a:t>
            </a:r>
          </a:p>
        </p:txBody>
      </p:sp>
    </p:spTree>
    <p:extLst>
      <p:ext uri="{BB962C8B-B14F-4D97-AF65-F5344CB8AC3E}">
        <p14:creationId xmlns:p14="http://schemas.microsoft.com/office/powerpoint/2010/main" val="298367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1E020063-2385-44AC-BD67-258E1F0B9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3" name="Rectangle 6152">
            <a:extLst>
              <a:ext uri="{FF2B5EF4-FFF2-40B4-BE49-F238E27FC236}">
                <a16:creationId xmlns:a16="http://schemas.microsoft.com/office/drawing/2014/main" id="{7E014A0B-5338-4077-AFE9-A90D04D449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898D20E6-2D5E-D723-FA02-535A775E5E93}"/>
              </a:ext>
            </a:extLst>
          </p:cNvPr>
          <p:cNvSpPr>
            <a:spLocks noGrp="1"/>
          </p:cNvSpPr>
          <p:nvPr>
            <p:ph type="title"/>
          </p:nvPr>
        </p:nvSpPr>
        <p:spPr>
          <a:xfrm>
            <a:off x="1179576" y="1261423"/>
            <a:ext cx="9829800" cy="1325880"/>
          </a:xfrm>
        </p:spPr>
        <p:txBody>
          <a:bodyPr anchor="b">
            <a:normAutofit/>
          </a:bodyPr>
          <a:lstStyle/>
          <a:p>
            <a:pPr algn="ctr" fontAlgn="ctr"/>
            <a:r>
              <a:rPr lang="pl-PL" sz="3600">
                <a:solidFill>
                  <a:schemeClr val="tx2"/>
                </a:solidFill>
              </a:rPr>
              <a:t>Struktura federacyjna</a:t>
            </a:r>
          </a:p>
        </p:txBody>
      </p:sp>
      <p:grpSp>
        <p:nvGrpSpPr>
          <p:cNvPr id="6155" name="Group 6154">
            <a:extLst>
              <a:ext uri="{FF2B5EF4-FFF2-40B4-BE49-F238E27FC236}">
                <a16:creationId xmlns:a16="http://schemas.microsoft.com/office/drawing/2014/main" id="{78127680-150F-4A90-9950-F663925781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
            <a:ext cx="3362070" cy="2522849"/>
            <a:chOff x="-305" y="-1"/>
            <a:chExt cx="3832880" cy="2876136"/>
          </a:xfrm>
        </p:grpSpPr>
        <p:sp>
          <p:nvSpPr>
            <p:cNvPr id="6156" name="Freeform: Shape 6155">
              <a:extLst>
                <a:ext uri="{FF2B5EF4-FFF2-40B4-BE49-F238E27FC236}">
                  <a16:creationId xmlns:a16="http://schemas.microsoft.com/office/drawing/2014/main" id="{5088F97A-8362-4967-B664-D748B846EC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7" name="Freeform: Shape 6156">
              <a:extLst>
                <a:ext uri="{FF2B5EF4-FFF2-40B4-BE49-F238E27FC236}">
                  <a16:creationId xmlns:a16="http://schemas.microsoft.com/office/drawing/2014/main" id="{30F9DEDE-4318-412A-81C5-C8C90F689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58" name="Freeform: Shape 6157">
              <a:extLst>
                <a:ext uri="{FF2B5EF4-FFF2-40B4-BE49-F238E27FC236}">
                  <a16:creationId xmlns:a16="http://schemas.microsoft.com/office/drawing/2014/main" id="{09E97DE9-7844-4707-8928-1CD88ADB72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59" name="Freeform: Shape 6158">
              <a:extLst>
                <a:ext uri="{FF2B5EF4-FFF2-40B4-BE49-F238E27FC236}">
                  <a16:creationId xmlns:a16="http://schemas.microsoft.com/office/drawing/2014/main" id="{EC58954E-44A5-4A0D-97A9-8A2BB43D6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Symbol zastępczy zawartości 2">
            <a:extLst>
              <a:ext uri="{FF2B5EF4-FFF2-40B4-BE49-F238E27FC236}">
                <a16:creationId xmlns:a16="http://schemas.microsoft.com/office/drawing/2014/main" id="{3C3C26BA-91BF-C96A-2587-F938C53E92E7}"/>
              </a:ext>
            </a:extLst>
          </p:cNvPr>
          <p:cNvSpPr>
            <a:spLocks noGrp="1"/>
          </p:cNvSpPr>
          <p:nvPr>
            <p:ph idx="1"/>
          </p:nvPr>
        </p:nvSpPr>
        <p:spPr>
          <a:xfrm>
            <a:off x="804672" y="2827419"/>
            <a:ext cx="5126896" cy="3227626"/>
          </a:xfrm>
        </p:spPr>
        <p:txBody>
          <a:bodyPr anchor="ctr">
            <a:normAutofit/>
          </a:bodyPr>
          <a:lstStyle/>
          <a:p>
            <a:r>
              <a:rPr lang="pl-PL" sz="1800">
                <a:solidFill>
                  <a:schemeClr val="tx2"/>
                </a:solidFill>
              </a:rPr>
              <a:t>Połączenie zcentralizowanej i zdecentralizowanej struktury.</a:t>
            </a:r>
          </a:p>
          <a:p>
            <a:r>
              <a:rPr lang="pl-PL" sz="1800">
                <a:solidFill>
                  <a:schemeClr val="tx2"/>
                </a:solidFill>
              </a:rPr>
              <a:t>Krytyczne usługi są nadzorowane centralnie, zapewniając standaryzacje i bezpieczeństwo.</a:t>
            </a:r>
          </a:p>
          <a:p>
            <a:r>
              <a:rPr lang="pl-PL" sz="1800">
                <a:solidFill>
                  <a:schemeClr val="tx2"/>
                </a:solidFill>
              </a:rPr>
              <a:t>Każda jednostka ma również swój zespół IT co pozwala na niezależne realizowanie codziennych zadań.</a:t>
            </a:r>
          </a:p>
        </p:txBody>
      </p:sp>
      <p:grpSp>
        <p:nvGrpSpPr>
          <p:cNvPr id="6161" name="Group 6160">
            <a:extLst>
              <a:ext uri="{FF2B5EF4-FFF2-40B4-BE49-F238E27FC236}">
                <a16:creationId xmlns:a16="http://schemas.microsoft.com/office/drawing/2014/main" id="{466920E5-8640-4C24-A775-8647637094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10185732" y="4852038"/>
            <a:ext cx="2151670" cy="1860256"/>
            <a:chOff x="-305" y="-4155"/>
            <a:chExt cx="2514948" cy="2174333"/>
          </a:xfrm>
        </p:grpSpPr>
        <p:sp>
          <p:nvSpPr>
            <p:cNvPr id="6162" name="Freeform: Shape 6161">
              <a:extLst>
                <a:ext uri="{FF2B5EF4-FFF2-40B4-BE49-F238E27FC236}">
                  <a16:creationId xmlns:a16="http://schemas.microsoft.com/office/drawing/2014/main" id="{2CBA3142-5A82-43CE-87A2-EB14B17A51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3" name="Freeform: Shape 6162">
              <a:extLst>
                <a:ext uri="{FF2B5EF4-FFF2-40B4-BE49-F238E27FC236}">
                  <a16:creationId xmlns:a16="http://schemas.microsoft.com/office/drawing/2014/main" id="{AEF5A1C7-9938-4A33-A5A4-2B05353B3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4" name="Freeform: Shape 6163">
              <a:extLst>
                <a:ext uri="{FF2B5EF4-FFF2-40B4-BE49-F238E27FC236}">
                  <a16:creationId xmlns:a16="http://schemas.microsoft.com/office/drawing/2014/main" id="{262A936D-E9F6-4A68-82C2-1D1CC7772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6165" name="Freeform: Shape 6164">
              <a:extLst>
                <a:ext uri="{FF2B5EF4-FFF2-40B4-BE49-F238E27FC236}">
                  <a16:creationId xmlns:a16="http://schemas.microsoft.com/office/drawing/2014/main" id="{C68A9229-BBBE-4934-9700-BA72A1BB03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6146" name="Picture 2">
            <a:extLst>
              <a:ext uri="{FF2B5EF4-FFF2-40B4-BE49-F238E27FC236}">
                <a16:creationId xmlns:a16="http://schemas.microsoft.com/office/drawing/2014/main" id="{D22EF723-5717-D2FD-D32D-049E608EE18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29378" y="3597887"/>
            <a:ext cx="4954693" cy="16969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1217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ytuł 1">
            <a:extLst>
              <a:ext uri="{FF2B5EF4-FFF2-40B4-BE49-F238E27FC236}">
                <a16:creationId xmlns:a16="http://schemas.microsoft.com/office/drawing/2014/main" id="{6D60A795-8221-50D4-FDBB-547B163B3839}"/>
              </a:ext>
            </a:extLst>
          </p:cNvPr>
          <p:cNvSpPr>
            <a:spLocks noGrp="1"/>
          </p:cNvSpPr>
          <p:nvPr>
            <p:ph type="title"/>
          </p:nvPr>
        </p:nvSpPr>
        <p:spPr>
          <a:xfrm>
            <a:off x="640080" y="1243013"/>
            <a:ext cx="3855720" cy="4371974"/>
          </a:xfrm>
        </p:spPr>
        <p:txBody>
          <a:bodyPr>
            <a:normAutofit/>
          </a:bodyPr>
          <a:lstStyle/>
          <a:p>
            <a:r>
              <a:rPr lang="pl-PL" sz="3600">
                <a:solidFill>
                  <a:schemeClr val="tx2"/>
                </a:solidFill>
              </a:rPr>
              <a:t>Cechy struktury federacyjnej</a:t>
            </a:r>
          </a:p>
        </p:txBody>
      </p:sp>
      <p:sp>
        <p:nvSpPr>
          <p:cNvPr id="3" name="Symbol zastępczy zawartości 2">
            <a:extLst>
              <a:ext uri="{FF2B5EF4-FFF2-40B4-BE49-F238E27FC236}">
                <a16:creationId xmlns:a16="http://schemas.microsoft.com/office/drawing/2014/main" id="{B727EC79-078D-660D-6A80-D46C90A48C4D}"/>
              </a:ext>
            </a:extLst>
          </p:cNvPr>
          <p:cNvSpPr>
            <a:spLocks noGrp="1"/>
          </p:cNvSpPr>
          <p:nvPr>
            <p:ph idx="1"/>
          </p:nvPr>
        </p:nvSpPr>
        <p:spPr>
          <a:xfrm>
            <a:off x="6172200" y="804672"/>
            <a:ext cx="5221224" cy="5230368"/>
          </a:xfrm>
        </p:spPr>
        <p:txBody>
          <a:bodyPr anchor="ctr">
            <a:normAutofit/>
          </a:bodyPr>
          <a:lstStyle/>
          <a:p>
            <a:r>
              <a:rPr lang="pl-PL" sz="1800">
                <a:solidFill>
                  <a:schemeClr val="tx2"/>
                </a:solidFill>
              </a:rPr>
              <a:t>Preferowane dla międzynarodowych korporacji, które potrzebują utrzymywać globalne standardy.</a:t>
            </a:r>
          </a:p>
          <a:p>
            <a:r>
              <a:rPr lang="pl-PL" sz="1800">
                <a:solidFill>
                  <a:schemeClr val="tx2"/>
                </a:solidFill>
              </a:rPr>
              <a:t>Ale także dostosowywać się do lokalnych potrzeb</a:t>
            </a:r>
          </a:p>
          <a:p>
            <a:r>
              <a:rPr lang="pl-PL" sz="1800">
                <a:solidFill>
                  <a:schemeClr val="tx2"/>
                </a:solidFill>
              </a:rPr>
              <a:t>Również dla firm które są innowacyjne jednak muszą spełniać przepisy i regulacje oraz dbać o bezpieczeństwo.</a:t>
            </a:r>
          </a:p>
        </p:txBody>
      </p:sp>
    </p:spTree>
    <p:extLst>
      <p:ext uri="{BB962C8B-B14F-4D97-AF65-F5344CB8AC3E}">
        <p14:creationId xmlns:p14="http://schemas.microsoft.com/office/powerpoint/2010/main" val="11361449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43A7A40-1AE6-4218-A8E0-8248174A53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D8AB40A-4374-4897-B5EE-9F8913476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09DF341E-E254-3101-FACF-20445AD7CB21}"/>
              </a:ext>
            </a:extLst>
          </p:cNvPr>
          <p:cNvSpPr>
            <a:spLocks noGrp="1"/>
          </p:cNvSpPr>
          <p:nvPr>
            <p:ph type="title"/>
          </p:nvPr>
        </p:nvSpPr>
        <p:spPr>
          <a:xfrm>
            <a:off x="8325852" y="1118937"/>
            <a:ext cx="3404937" cy="2683187"/>
          </a:xfrm>
        </p:spPr>
        <p:txBody>
          <a:bodyPr vert="horz" lIns="91440" tIns="45720" rIns="91440" bIns="45720" rtlCol="0" anchor="b">
            <a:normAutofit/>
          </a:bodyPr>
          <a:lstStyle/>
          <a:p>
            <a:r>
              <a:rPr lang="en-US" sz="4000" kern="1200">
                <a:solidFill>
                  <a:schemeClr val="tx2"/>
                </a:solidFill>
                <a:latin typeface="+mj-lt"/>
                <a:ea typeface="+mj-ea"/>
                <a:cs typeface="+mj-cs"/>
              </a:rPr>
              <a:t>Stanowiska pracy ze względu na doświadczenie</a:t>
            </a:r>
          </a:p>
        </p:txBody>
      </p:sp>
      <p:grpSp>
        <p:nvGrpSpPr>
          <p:cNvPr id="13" name="Group 12">
            <a:extLst>
              <a:ext uri="{FF2B5EF4-FFF2-40B4-BE49-F238E27FC236}">
                <a16:creationId xmlns:a16="http://schemas.microsoft.com/office/drawing/2014/main" id="{2783379C-045E-4010-ABDC-A270A0AA10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flipH="1">
            <a:off x="-176401" y="170308"/>
            <a:ext cx="2514948" cy="2174333"/>
            <a:chOff x="-305" y="-4155"/>
            <a:chExt cx="2514948" cy="2174333"/>
          </a:xfrm>
        </p:grpSpPr>
        <p:sp>
          <p:nvSpPr>
            <p:cNvPr id="14" name="Freeform: Shape 13">
              <a:extLst>
                <a:ext uri="{FF2B5EF4-FFF2-40B4-BE49-F238E27FC236}">
                  <a16:creationId xmlns:a16="http://schemas.microsoft.com/office/drawing/2014/main" id="{0B0AB1BF-11AE-4CFF-85EC-E51DBD316A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526548A0-953E-4FBA-97A5-592ACAF42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F84FA27B-CD1F-421B-BB4F-B141F02FF4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7" name="Freeform: Shape 16">
              <a:extLst>
                <a:ext uri="{FF2B5EF4-FFF2-40B4-BE49-F238E27FC236}">
                  <a16:creationId xmlns:a16="http://schemas.microsoft.com/office/drawing/2014/main" id="{3CDBD6AB-1AC7-4807-9C34-01139BB7C2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F5FDDF18-F156-4D2D-82C6-F55008E338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130553" y="4560734"/>
            <a:ext cx="3061446" cy="2297265"/>
            <a:chOff x="-305" y="-1"/>
            <a:chExt cx="3832880" cy="2876136"/>
          </a:xfrm>
        </p:grpSpPr>
        <p:sp>
          <p:nvSpPr>
            <p:cNvPr id="20" name="Freeform: Shape 19">
              <a:extLst>
                <a:ext uri="{FF2B5EF4-FFF2-40B4-BE49-F238E27FC236}">
                  <a16:creationId xmlns:a16="http://schemas.microsoft.com/office/drawing/2014/main" id="{3822C29E-FFDD-45BC-A286-9C00C8E2D2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C9E2381D-1763-4D42-A3A2-B2345DD35E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D2A622D5-9532-4E0C-B9A8-DAEDD46462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5C0ABE88-5ADF-4A31-8505-78968DBB5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4" name="Tabela 3">
            <a:extLst>
              <a:ext uri="{FF2B5EF4-FFF2-40B4-BE49-F238E27FC236}">
                <a16:creationId xmlns:a16="http://schemas.microsoft.com/office/drawing/2014/main" id="{45AF9473-758B-289D-13B6-9BF2E300A8E9}"/>
              </a:ext>
            </a:extLst>
          </p:cNvPr>
          <p:cNvGraphicFramePr>
            <a:graphicFrameLocks noGrp="1"/>
          </p:cNvGraphicFramePr>
          <p:nvPr>
            <p:extLst>
              <p:ext uri="{D42A27DB-BD31-4B8C-83A1-F6EECF244321}">
                <p14:modId xmlns:p14="http://schemas.microsoft.com/office/powerpoint/2010/main" val="288953782"/>
              </p:ext>
            </p:extLst>
          </p:nvPr>
        </p:nvGraphicFramePr>
        <p:xfrm>
          <a:off x="1094150" y="1718665"/>
          <a:ext cx="6137551" cy="4166918"/>
        </p:xfrm>
        <a:graphic>
          <a:graphicData uri="http://schemas.openxmlformats.org/drawingml/2006/table">
            <a:tbl>
              <a:tblPr>
                <a:tableStyleId>{5940675A-B579-460E-94D1-54222C63F5DA}</a:tableStyleId>
              </a:tblPr>
              <a:tblGrid>
                <a:gridCol w="1405609">
                  <a:extLst>
                    <a:ext uri="{9D8B030D-6E8A-4147-A177-3AD203B41FA5}">
                      <a16:colId xmlns:a16="http://schemas.microsoft.com/office/drawing/2014/main" val="1065434078"/>
                    </a:ext>
                  </a:extLst>
                </a:gridCol>
                <a:gridCol w="1822606">
                  <a:extLst>
                    <a:ext uri="{9D8B030D-6E8A-4147-A177-3AD203B41FA5}">
                      <a16:colId xmlns:a16="http://schemas.microsoft.com/office/drawing/2014/main" val="3988042970"/>
                    </a:ext>
                  </a:extLst>
                </a:gridCol>
                <a:gridCol w="1437686">
                  <a:extLst>
                    <a:ext uri="{9D8B030D-6E8A-4147-A177-3AD203B41FA5}">
                      <a16:colId xmlns:a16="http://schemas.microsoft.com/office/drawing/2014/main" val="4280691139"/>
                    </a:ext>
                  </a:extLst>
                </a:gridCol>
                <a:gridCol w="1471650">
                  <a:extLst>
                    <a:ext uri="{9D8B030D-6E8A-4147-A177-3AD203B41FA5}">
                      <a16:colId xmlns:a16="http://schemas.microsoft.com/office/drawing/2014/main" val="802791284"/>
                    </a:ext>
                  </a:extLst>
                </a:gridCol>
              </a:tblGrid>
              <a:tr h="284750">
                <a:tc>
                  <a:txBody>
                    <a:bodyPr/>
                    <a:lstStyle/>
                    <a:p>
                      <a:pPr>
                        <a:buNone/>
                      </a:pPr>
                      <a:r>
                        <a:rPr lang="pl-PL" sz="1200" b="1">
                          <a:effectLst/>
                        </a:rPr>
                        <a:t>Kryterium</a:t>
                      </a:r>
                      <a:endParaRPr lang="pl-PL" sz="1200">
                        <a:effectLst/>
                        <a:latin typeface="Google Sans Text"/>
                      </a:endParaRPr>
                    </a:p>
                  </a:txBody>
                  <a:tcPr marL="60138" marR="60138" marT="30069" marB="30069" anchor="ctr"/>
                </a:tc>
                <a:tc>
                  <a:txBody>
                    <a:bodyPr/>
                    <a:lstStyle/>
                    <a:p>
                      <a:pPr>
                        <a:buNone/>
                      </a:pPr>
                      <a:r>
                        <a:rPr lang="pl-PL" sz="1200" b="1">
                          <a:effectLst/>
                        </a:rPr>
                        <a:t>Junior Developer</a:t>
                      </a:r>
                      <a:endParaRPr lang="pl-PL" sz="1200">
                        <a:effectLst/>
                        <a:latin typeface="Google Sans Text"/>
                      </a:endParaRPr>
                    </a:p>
                  </a:txBody>
                  <a:tcPr marL="60138" marR="60138" marT="30069" marB="30069" anchor="ctr"/>
                </a:tc>
                <a:tc>
                  <a:txBody>
                    <a:bodyPr/>
                    <a:lstStyle/>
                    <a:p>
                      <a:pPr>
                        <a:buNone/>
                      </a:pPr>
                      <a:r>
                        <a:rPr lang="pl-PL" sz="1200" b="1">
                          <a:effectLst/>
                        </a:rPr>
                        <a:t>Mid Developer</a:t>
                      </a:r>
                      <a:endParaRPr lang="pl-PL" sz="1200">
                        <a:effectLst/>
                        <a:latin typeface="Google Sans Text"/>
                      </a:endParaRPr>
                    </a:p>
                  </a:txBody>
                  <a:tcPr marL="60138" marR="60138" marT="30069" marB="30069" anchor="ctr"/>
                </a:tc>
                <a:tc>
                  <a:txBody>
                    <a:bodyPr/>
                    <a:lstStyle/>
                    <a:p>
                      <a:pPr>
                        <a:buNone/>
                      </a:pPr>
                      <a:r>
                        <a:rPr lang="pl-PL" sz="1200" b="1">
                          <a:effectLst/>
                        </a:rPr>
                        <a:t>Senior Developer</a:t>
                      </a:r>
                      <a:endParaRPr lang="pl-PL" sz="1200">
                        <a:effectLst/>
                        <a:latin typeface="Google Sans Text"/>
                      </a:endParaRPr>
                    </a:p>
                  </a:txBody>
                  <a:tcPr marL="60138" marR="60138" marT="30069" marB="30069" anchor="ctr"/>
                </a:tc>
                <a:extLst>
                  <a:ext uri="{0D108BD9-81ED-4DB2-BD59-A6C34878D82A}">
                    <a16:rowId xmlns:a16="http://schemas.microsoft.com/office/drawing/2014/main" val="2207069694"/>
                  </a:ext>
                </a:extLst>
              </a:tr>
              <a:tr h="284750">
                <a:tc>
                  <a:txBody>
                    <a:bodyPr/>
                    <a:lstStyle/>
                    <a:p>
                      <a:pPr>
                        <a:buNone/>
                      </a:pPr>
                      <a:r>
                        <a:rPr lang="pl-PL" sz="1200" b="1">
                          <a:effectLst/>
                        </a:rPr>
                        <a:t>Doświadczenie</a:t>
                      </a:r>
                      <a:endParaRPr lang="pl-PL" sz="1200">
                        <a:effectLst/>
                        <a:latin typeface="Google Sans Text"/>
                      </a:endParaRPr>
                    </a:p>
                  </a:txBody>
                  <a:tcPr marL="60138" marR="60138" marT="30069" marB="30069" anchor="ctr"/>
                </a:tc>
                <a:tc>
                  <a:txBody>
                    <a:bodyPr/>
                    <a:lstStyle/>
                    <a:p>
                      <a:pPr>
                        <a:buNone/>
                      </a:pPr>
                      <a:r>
                        <a:rPr lang="pl-PL" sz="1200">
                          <a:effectLst/>
                        </a:rPr>
                        <a:t>0 – 1,5 roku</a:t>
                      </a:r>
                      <a:endParaRPr lang="pl-PL" sz="1200">
                        <a:effectLst/>
                        <a:latin typeface="Google Sans Text"/>
                      </a:endParaRPr>
                    </a:p>
                  </a:txBody>
                  <a:tcPr marL="60138" marR="60138" marT="30069" marB="30069" anchor="ctr"/>
                </a:tc>
                <a:tc>
                  <a:txBody>
                    <a:bodyPr/>
                    <a:lstStyle/>
                    <a:p>
                      <a:pPr>
                        <a:buNone/>
                      </a:pPr>
                      <a:r>
                        <a:rPr lang="pl-PL" sz="1200">
                          <a:effectLst/>
                        </a:rPr>
                        <a:t>2 – 4 lata</a:t>
                      </a:r>
                      <a:endParaRPr lang="pl-PL" sz="1200">
                        <a:effectLst/>
                        <a:latin typeface="Google Sans Text"/>
                      </a:endParaRPr>
                    </a:p>
                  </a:txBody>
                  <a:tcPr marL="60138" marR="60138" marT="30069" marB="30069" anchor="ctr"/>
                </a:tc>
                <a:tc>
                  <a:txBody>
                    <a:bodyPr/>
                    <a:lstStyle/>
                    <a:p>
                      <a:pPr>
                        <a:buNone/>
                      </a:pPr>
                      <a:r>
                        <a:rPr lang="pl-PL" sz="1200">
                          <a:effectLst/>
                        </a:rPr>
                        <a:t>5 – 8 lat</a:t>
                      </a:r>
                      <a:endParaRPr lang="pl-PL" sz="1200">
                        <a:effectLst/>
                        <a:latin typeface="Google Sans Text"/>
                      </a:endParaRPr>
                    </a:p>
                  </a:txBody>
                  <a:tcPr marL="60138" marR="60138" marT="30069" marB="30069" anchor="ctr"/>
                </a:tc>
                <a:extLst>
                  <a:ext uri="{0D108BD9-81ED-4DB2-BD59-A6C34878D82A}">
                    <a16:rowId xmlns:a16="http://schemas.microsoft.com/office/drawing/2014/main" val="657617820"/>
                  </a:ext>
                </a:extLst>
              </a:tr>
              <a:tr h="647028">
                <a:tc>
                  <a:txBody>
                    <a:bodyPr/>
                    <a:lstStyle/>
                    <a:p>
                      <a:pPr>
                        <a:buNone/>
                      </a:pPr>
                      <a:r>
                        <a:rPr lang="pl-PL" sz="1200" b="1">
                          <a:effectLst/>
                        </a:rPr>
                        <a:t>Poziom samodzielności pracy</a:t>
                      </a:r>
                      <a:endParaRPr lang="pl-PL" sz="1200">
                        <a:effectLst/>
                        <a:latin typeface="Google Sans Text"/>
                      </a:endParaRPr>
                    </a:p>
                  </a:txBody>
                  <a:tcPr marL="60138" marR="60138" marT="30069" marB="30069" anchor="ctr"/>
                </a:tc>
                <a:tc>
                  <a:txBody>
                    <a:bodyPr/>
                    <a:lstStyle/>
                    <a:p>
                      <a:pPr>
                        <a:buNone/>
                      </a:pPr>
                      <a:r>
                        <a:rPr lang="pl-PL" sz="1200">
                          <a:effectLst/>
                        </a:rPr>
                        <a:t>Pod nadzorem</a:t>
                      </a:r>
                      <a:endParaRPr lang="pl-PL" sz="1200">
                        <a:effectLst/>
                        <a:latin typeface="Google Sans Text"/>
                      </a:endParaRPr>
                    </a:p>
                  </a:txBody>
                  <a:tcPr marL="60138" marR="60138" marT="30069" marB="30069" anchor="ctr"/>
                </a:tc>
                <a:tc>
                  <a:txBody>
                    <a:bodyPr/>
                    <a:lstStyle/>
                    <a:p>
                      <a:pPr>
                        <a:buNone/>
                      </a:pPr>
                      <a:r>
                        <a:rPr lang="pl-PL" sz="1200">
                          <a:effectLst/>
                          <a:latin typeface="Google Sans Text"/>
                        </a:rPr>
                        <a:t>Samodzielna / niewielki nadzór</a:t>
                      </a:r>
                    </a:p>
                  </a:txBody>
                  <a:tcPr marL="60138" marR="60138" marT="30069" marB="30069" anchor="ctr"/>
                </a:tc>
                <a:tc>
                  <a:txBody>
                    <a:bodyPr/>
                    <a:lstStyle/>
                    <a:p>
                      <a:pPr>
                        <a:buNone/>
                      </a:pPr>
                      <a:r>
                        <a:rPr lang="pl-PL" sz="1200">
                          <a:effectLst/>
                        </a:rPr>
                        <a:t>W pełni samodzielna</a:t>
                      </a:r>
                      <a:endParaRPr lang="pl-PL" sz="1200">
                        <a:effectLst/>
                        <a:latin typeface="Google Sans Text"/>
                      </a:endParaRPr>
                    </a:p>
                  </a:txBody>
                  <a:tcPr marL="60138" marR="60138" marT="30069" marB="30069" anchor="ctr"/>
                </a:tc>
                <a:extLst>
                  <a:ext uri="{0D108BD9-81ED-4DB2-BD59-A6C34878D82A}">
                    <a16:rowId xmlns:a16="http://schemas.microsoft.com/office/drawing/2014/main" val="3458626437"/>
                  </a:ext>
                </a:extLst>
              </a:tr>
              <a:tr h="828167">
                <a:tc>
                  <a:txBody>
                    <a:bodyPr/>
                    <a:lstStyle/>
                    <a:p>
                      <a:pPr>
                        <a:buNone/>
                      </a:pPr>
                      <a:r>
                        <a:rPr lang="pl-PL" sz="1200" b="1">
                          <a:effectLst/>
                        </a:rPr>
                        <a:t>Charakter zadań</a:t>
                      </a:r>
                      <a:endParaRPr lang="pl-PL" sz="1200">
                        <a:effectLst/>
                        <a:latin typeface="Google Sans Text"/>
                      </a:endParaRPr>
                    </a:p>
                  </a:txBody>
                  <a:tcPr marL="60138" marR="60138" marT="30069" marB="30069" anchor="ctr"/>
                </a:tc>
                <a:tc>
                  <a:txBody>
                    <a:bodyPr/>
                    <a:lstStyle/>
                    <a:p>
                      <a:pPr>
                        <a:buNone/>
                      </a:pPr>
                      <a:r>
                        <a:rPr lang="pl-PL" sz="1200">
                          <a:effectLst/>
                        </a:rPr>
                        <a:t>Proste, z góry narzucone czynności</a:t>
                      </a:r>
                      <a:endParaRPr lang="pl-PL" sz="1200">
                        <a:effectLst/>
                        <a:latin typeface="Google Sans Text"/>
                      </a:endParaRPr>
                    </a:p>
                  </a:txBody>
                  <a:tcPr marL="60138" marR="60138" marT="30069" marB="30069" anchor="ctr"/>
                </a:tc>
                <a:tc>
                  <a:txBody>
                    <a:bodyPr/>
                    <a:lstStyle/>
                    <a:p>
                      <a:pPr>
                        <a:buNone/>
                      </a:pPr>
                      <a:r>
                        <a:rPr lang="pl-PL" sz="1200">
                          <a:effectLst/>
                        </a:rPr>
                        <a:t>Rozwiązuje problemy na podstawie celów biznesowych</a:t>
                      </a:r>
                      <a:endParaRPr lang="pl-PL" sz="1200">
                        <a:effectLst/>
                        <a:latin typeface="Google Sans Text"/>
                      </a:endParaRPr>
                    </a:p>
                  </a:txBody>
                  <a:tcPr marL="60138" marR="60138" marT="30069" marB="30069" anchor="ctr"/>
                </a:tc>
                <a:tc>
                  <a:txBody>
                    <a:bodyPr/>
                    <a:lstStyle/>
                    <a:p>
                      <a:pPr>
                        <a:buNone/>
                      </a:pPr>
                      <a:r>
                        <a:rPr lang="pl-PL" sz="1200">
                          <a:effectLst/>
                        </a:rPr>
                        <a:t>Planowanie dalszych możliwości rozwoju projektu</a:t>
                      </a:r>
                      <a:endParaRPr lang="pl-PL" sz="1200">
                        <a:effectLst/>
                        <a:latin typeface="Google Sans Text"/>
                      </a:endParaRPr>
                    </a:p>
                  </a:txBody>
                  <a:tcPr marL="60138" marR="60138" marT="30069" marB="30069" anchor="ctr"/>
                </a:tc>
                <a:extLst>
                  <a:ext uri="{0D108BD9-81ED-4DB2-BD59-A6C34878D82A}">
                    <a16:rowId xmlns:a16="http://schemas.microsoft.com/office/drawing/2014/main" val="3080005211"/>
                  </a:ext>
                </a:extLst>
              </a:tr>
              <a:tr h="828167">
                <a:tc>
                  <a:txBody>
                    <a:bodyPr/>
                    <a:lstStyle/>
                    <a:p>
                      <a:pPr>
                        <a:buNone/>
                      </a:pPr>
                      <a:r>
                        <a:rPr lang="pl-PL" sz="1200" b="1">
                          <a:effectLst/>
                        </a:rPr>
                        <a:t>Decyzyjność</a:t>
                      </a:r>
                      <a:endParaRPr lang="pl-PL" sz="1200">
                        <a:effectLst/>
                        <a:latin typeface="Google Sans Text"/>
                      </a:endParaRPr>
                    </a:p>
                  </a:txBody>
                  <a:tcPr marL="60138" marR="60138" marT="30069" marB="30069" anchor="ctr"/>
                </a:tc>
                <a:tc>
                  <a:txBody>
                    <a:bodyPr/>
                    <a:lstStyle/>
                    <a:p>
                      <a:pPr>
                        <a:buNone/>
                      </a:pPr>
                      <a:r>
                        <a:rPr lang="pl-PL" sz="1200">
                          <a:effectLst/>
                        </a:rPr>
                        <a:t>Brak</a:t>
                      </a:r>
                      <a:endParaRPr lang="pl-PL" sz="1200">
                        <a:effectLst/>
                        <a:latin typeface="Google Sans Text"/>
                      </a:endParaRPr>
                    </a:p>
                  </a:txBody>
                  <a:tcPr marL="60138" marR="60138" marT="30069" marB="30069" anchor="ctr"/>
                </a:tc>
                <a:tc>
                  <a:txBody>
                    <a:bodyPr/>
                    <a:lstStyle/>
                    <a:p>
                      <a:pPr>
                        <a:buNone/>
                      </a:pPr>
                      <a:r>
                        <a:rPr lang="pl-PL" sz="1200">
                          <a:effectLst/>
                        </a:rPr>
                        <a:t>Podejmowanie bieżących decyzji projektowych.</a:t>
                      </a:r>
                      <a:endParaRPr lang="pl-PL" sz="1200">
                        <a:effectLst/>
                        <a:latin typeface="Google Sans Text"/>
                      </a:endParaRPr>
                    </a:p>
                  </a:txBody>
                  <a:tcPr marL="60138" marR="60138" marT="30069" marB="30069" anchor="ctr"/>
                </a:tc>
                <a:tc>
                  <a:txBody>
                    <a:bodyPr/>
                    <a:lstStyle/>
                    <a:p>
                      <a:pPr>
                        <a:buNone/>
                      </a:pPr>
                      <a:r>
                        <a:rPr lang="pl-PL" sz="1200">
                          <a:effectLst/>
                        </a:rPr>
                        <a:t>Podejmowanie </a:t>
                      </a:r>
                      <a:r>
                        <a:rPr lang="pl-PL" sz="1200" b="1">
                          <a:effectLst/>
                        </a:rPr>
                        <a:t>strategicznych</a:t>
                      </a:r>
                      <a:r>
                        <a:rPr lang="pl-PL" sz="1200">
                          <a:effectLst/>
                        </a:rPr>
                        <a:t> decyzji dla całego projektu.</a:t>
                      </a:r>
                      <a:endParaRPr lang="pl-PL" sz="1200">
                        <a:effectLst/>
                        <a:latin typeface="Google Sans Text"/>
                      </a:endParaRPr>
                    </a:p>
                  </a:txBody>
                  <a:tcPr marL="60138" marR="60138" marT="30069" marB="30069" anchor="ctr"/>
                </a:tc>
                <a:extLst>
                  <a:ext uri="{0D108BD9-81ED-4DB2-BD59-A6C34878D82A}">
                    <a16:rowId xmlns:a16="http://schemas.microsoft.com/office/drawing/2014/main" val="1181004110"/>
                  </a:ext>
                </a:extLst>
              </a:tr>
              <a:tr h="828167">
                <a:tc>
                  <a:txBody>
                    <a:bodyPr/>
                    <a:lstStyle/>
                    <a:p>
                      <a:pPr>
                        <a:buNone/>
                      </a:pPr>
                      <a:r>
                        <a:rPr lang="pl-PL" sz="1200" b="1">
                          <a:effectLst/>
                        </a:rPr>
                        <a:t>Kontakt z klientem</a:t>
                      </a:r>
                      <a:endParaRPr lang="pl-PL" sz="1200">
                        <a:effectLst/>
                        <a:latin typeface="Google Sans Text"/>
                      </a:endParaRPr>
                    </a:p>
                  </a:txBody>
                  <a:tcPr marL="60138" marR="60138" marT="30069" marB="30069" anchor="ctr"/>
                </a:tc>
                <a:tc>
                  <a:txBody>
                    <a:bodyPr/>
                    <a:lstStyle/>
                    <a:p>
                      <a:pPr>
                        <a:buNone/>
                      </a:pPr>
                      <a:r>
                        <a:rPr lang="pl-PL" sz="1200">
                          <a:effectLst/>
                        </a:rPr>
                        <a:t>Brak komunikacji z klientem.</a:t>
                      </a:r>
                      <a:endParaRPr lang="pl-PL" sz="1200">
                        <a:effectLst/>
                        <a:latin typeface="Google Sans Text"/>
                      </a:endParaRPr>
                    </a:p>
                  </a:txBody>
                  <a:tcPr marL="60138" marR="60138" marT="30069" marB="30069" anchor="ctr"/>
                </a:tc>
                <a:tc>
                  <a:txBody>
                    <a:bodyPr/>
                    <a:lstStyle/>
                    <a:p>
                      <a:pPr>
                        <a:buNone/>
                      </a:pPr>
                      <a:r>
                        <a:rPr lang="pl-PL" sz="1200">
                          <a:effectLst/>
                        </a:rPr>
                        <a:t>Omawianie z klientem założeń i rozwiązań projektowych.</a:t>
                      </a:r>
                      <a:endParaRPr lang="pl-PL" sz="1200">
                        <a:effectLst/>
                        <a:latin typeface="Google Sans Text"/>
                      </a:endParaRPr>
                    </a:p>
                  </a:txBody>
                  <a:tcPr marL="60138" marR="60138" marT="30069" marB="30069" anchor="ctr"/>
                </a:tc>
                <a:tc>
                  <a:txBody>
                    <a:bodyPr/>
                    <a:lstStyle/>
                    <a:p>
                      <a:pPr>
                        <a:buNone/>
                      </a:pPr>
                      <a:r>
                        <a:rPr lang="pl-PL" sz="1200">
                          <a:effectLst/>
                        </a:rPr>
                        <a:t>Bezpośrednie doradztwo technologiczne wspierające.</a:t>
                      </a:r>
                      <a:endParaRPr lang="pl-PL" sz="1200">
                        <a:effectLst/>
                        <a:latin typeface="Google Sans Text"/>
                      </a:endParaRPr>
                    </a:p>
                  </a:txBody>
                  <a:tcPr marL="60138" marR="60138" marT="30069" marB="30069" anchor="ctr"/>
                </a:tc>
                <a:extLst>
                  <a:ext uri="{0D108BD9-81ED-4DB2-BD59-A6C34878D82A}">
                    <a16:rowId xmlns:a16="http://schemas.microsoft.com/office/drawing/2014/main" val="2833374070"/>
                  </a:ext>
                </a:extLst>
              </a:tr>
              <a:tr h="465889">
                <a:tc>
                  <a:txBody>
                    <a:bodyPr/>
                    <a:lstStyle/>
                    <a:p>
                      <a:pPr>
                        <a:buNone/>
                      </a:pPr>
                      <a:r>
                        <a:rPr lang="pl-PL" sz="1200" b="1">
                          <a:effectLst/>
                        </a:rPr>
                        <a:t>Wymagania i wiedza</a:t>
                      </a:r>
                      <a:endParaRPr lang="pl-PL" sz="1200">
                        <a:effectLst/>
                        <a:latin typeface="Google Sans Text"/>
                      </a:endParaRPr>
                    </a:p>
                  </a:txBody>
                  <a:tcPr marL="60138" marR="60138" marT="30069" marB="30069" anchor="ctr"/>
                </a:tc>
                <a:tc>
                  <a:txBody>
                    <a:bodyPr/>
                    <a:lstStyle/>
                    <a:p>
                      <a:pPr>
                        <a:buNone/>
                      </a:pPr>
                      <a:r>
                        <a:rPr lang="pl-PL" sz="1200">
                          <a:effectLst/>
                        </a:rPr>
                        <a:t>Podstawy technologii/frameworku.</a:t>
                      </a:r>
                      <a:endParaRPr lang="pl-PL" sz="1200">
                        <a:effectLst/>
                        <a:latin typeface="Google Sans Text"/>
                      </a:endParaRPr>
                    </a:p>
                  </a:txBody>
                  <a:tcPr marL="60138" marR="60138" marT="30069" marB="30069" anchor="ctr"/>
                </a:tc>
                <a:tc>
                  <a:txBody>
                    <a:bodyPr/>
                    <a:lstStyle/>
                    <a:p>
                      <a:pPr>
                        <a:buNone/>
                      </a:pPr>
                      <a:r>
                        <a:rPr lang="pl-PL" sz="1200">
                          <a:effectLst/>
                        </a:rPr>
                        <a:t>Biegłość w narzędziach.</a:t>
                      </a:r>
                      <a:endParaRPr lang="pl-PL" sz="1200">
                        <a:effectLst/>
                        <a:latin typeface="Google Sans Text"/>
                      </a:endParaRPr>
                    </a:p>
                  </a:txBody>
                  <a:tcPr marL="60138" marR="60138" marT="30069" marB="30069" anchor="ctr"/>
                </a:tc>
                <a:tc>
                  <a:txBody>
                    <a:bodyPr/>
                    <a:lstStyle/>
                    <a:p>
                      <a:pPr>
                        <a:buNone/>
                      </a:pPr>
                      <a:r>
                        <a:rPr lang="pl-PL" sz="1200" dirty="0">
                          <a:effectLst/>
                        </a:rPr>
                        <a:t>Ekspercka wiedza i doświadczenie</a:t>
                      </a:r>
                      <a:endParaRPr lang="pl-PL" sz="1200" dirty="0">
                        <a:effectLst/>
                        <a:latin typeface="Google Sans Text"/>
                      </a:endParaRPr>
                    </a:p>
                  </a:txBody>
                  <a:tcPr marL="60138" marR="60138" marT="30069" marB="30069" anchor="ctr"/>
                </a:tc>
                <a:extLst>
                  <a:ext uri="{0D108BD9-81ED-4DB2-BD59-A6C34878D82A}">
                    <a16:rowId xmlns:a16="http://schemas.microsoft.com/office/drawing/2014/main" val="1945309273"/>
                  </a:ext>
                </a:extLst>
              </a:tr>
            </a:tbl>
          </a:graphicData>
        </a:graphic>
      </p:graphicFrame>
    </p:spTree>
    <p:extLst>
      <p:ext uri="{BB962C8B-B14F-4D97-AF65-F5344CB8AC3E}">
        <p14:creationId xmlns:p14="http://schemas.microsoft.com/office/powerpoint/2010/main" val="3856117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ytuł 1">
            <a:extLst>
              <a:ext uri="{FF2B5EF4-FFF2-40B4-BE49-F238E27FC236}">
                <a16:creationId xmlns:a16="http://schemas.microsoft.com/office/drawing/2014/main" id="{DC6C5C9E-44B7-B1C8-19C8-7C8247E598E3}"/>
              </a:ext>
            </a:extLst>
          </p:cNvPr>
          <p:cNvSpPr>
            <a:spLocks noGrp="1"/>
          </p:cNvSpPr>
          <p:nvPr>
            <p:ph type="title"/>
          </p:nvPr>
        </p:nvSpPr>
        <p:spPr>
          <a:xfrm>
            <a:off x="640080" y="1243013"/>
            <a:ext cx="3855720" cy="4371974"/>
          </a:xfrm>
        </p:spPr>
        <p:txBody>
          <a:bodyPr>
            <a:normAutofit/>
          </a:bodyPr>
          <a:lstStyle/>
          <a:p>
            <a:r>
              <a:rPr lang="pl-PL" sz="3600">
                <a:solidFill>
                  <a:schemeClr val="tx2"/>
                </a:solidFill>
              </a:rPr>
              <a:t>Podział ról według specjalizacji</a:t>
            </a:r>
          </a:p>
        </p:txBody>
      </p:sp>
      <p:sp>
        <p:nvSpPr>
          <p:cNvPr id="3" name="Symbol zastępczy zawartości 2">
            <a:extLst>
              <a:ext uri="{FF2B5EF4-FFF2-40B4-BE49-F238E27FC236}">
                <a16:creationId xmlns:a16="http://schemas.microsoft.com/office/drawing/2014/main" id="{C54F4A1D-3F56-8042-6729-C3EC5C70FFBE}"/>
              </a:ext>
            </a:extLst>
          </p:cNvPr>
          <p:cNvSpPr>
            <a:spLocks noGrp="1"/>
          </p:cNvSpPr>
          <p:nvPr>
            <p:ph idx="1"/>
          </p:nvPr>
        </p:nvSpPr>
        <p:spPr>
          <a:xfrm>
            <a:off x="6172200" y="804672"/>
            <a:ext cx="5221224" cy="5230368"/>
          </a:xfrm>
        </p:spPr>
        <p:txBody>
          <a:bodyPr anchor="ctr">
            <a:normAutofit/>
          </a:bodyPr>
          <a:lstStyle/>
          <a:p>
            <a:r>
              <a:rPr lang="pl-PL" sz="1800" dirty="0">
                <a:solidFill>
                  <a:schemeClr val="tx2"/>
                </a:solidFill>
              </a:rPr>
              <a:t>Infrastruktura </a:t>
            </a:r>
          </a:p>
          <a:p>
            <a:r>
              <a:rPr lang="pl-PL" sz="1800" dirty="0">
                <a:solidFill>
                  <a:schemeClr val="tx2"/>
                </a:solidFill>
              </a:rPr>
              <a:t>Rozwój oprogramowania</a:t>
            </a:r>
          </a:p>
          <a:p>
            <a:r>
              <a:rPr lang="pl-PL" sz="1800" dirty="0" err="1">
                <a:solidFill>
                  <a:schemeClr val="tx2"/>
                </a:solidFill>
              </a:rPr>
              <a:t>Cyberbezpieczeństwo</a:t>
            </a:r>
            <a:endParaRPr lang="pl-PL" sz="1800" dirty="0">
              <a:solidFill>
                <a:schemeClr val="tx2"/>
              </a:solidFill>
            </a:endParaRPr>
          </a:p>
          <a:p>
            <a:r>
              <a:rPr lang="pl-PL" sz="1800" dirty="0">
                <a:solidFill>
                  <a:schemeClr val="tx2"/>
                </a:solidFill>
              </a:rPr>
              <a:t>Dane i analityka</a:t>
            </a:r>
          </a:p>
          <a:p>
            <a:r>
              <a:rPr lang="pl-PL" sz="1800" dirty="0">
                <a:solidFill>
                  <a:schemeClr val="tx2"/>
                </a:solidFill>
              </a:rPr>
              <a:t>Zarządzanie produktem i projektem</a:t>
            </a:r>
          </a:p>
        </p:txBody>
      </p:sp>
    </p:spTree>
    <p:extLst>
      <p:ext uri="{BB962C8B-B14F-4D97-AF65-F5344CB8AC3E}">
        <p14:creationId xmlns:p14="http://schemas.microsoft.com/office/powerpoint/2010/main" val="19900898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0">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2">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5B263E66-1C5F-05A2-A709-64AFC720CAA7}"/>
              </a:ext>
            </a:extLst>
          </p:cNvPr>
          <p:cNvSpPr>
            <a:spLocks noGrp="1"/>
          </p:cNvSpPr>
          <p:nvPr>
            <p:ph type="title"/>
          </p:nvPr>
        </p:nvSpPr>
        <p:spPr>
          <a:xfrm>
            <a:off x="6590662" y="4267832"/>
            <a:ext cx="4805996" cy="1297115"/>
          </a:xfrm>
        </p:spPr>
        <p:txBody>
          <a:bodyPr vert="horz" lIns="91440" tIns="45720" rIns="91440" bIns="45720" rtlCol="0" anchor="t">
            <a:normAutofit/>
          </a:bodyPr>
          <a:lstStyle/>
          <a:p>
            <a:r>
              <a:rPr lang="pl-PL" sz="4000" kern="1200" dirty="0">
                <a:solidFill>
                  <a:schemeClr val="tx2"/>
                </a:solidFill>
                <a:latin typeface="+mj-lt"/>
                <a:ea typeface="+mj-ea"/>
                <a:cs typeface="+mj-cs"/>
              </a:rPr>
              <a:t>Infrastruktura</a:t>
            </a:r>
            <a:endParaRPr lang="en-US" sz="4000" kern="1200" dirty="0">
              <a:solidFill>
                <a:schemeClr val="tx2"/>
              </a:solidFill>
              <a:latin typeface="+mj-lt"/>
              <a:ea typeface="+mj-ea"/>
              <a:cs typeface="+mj-cs"/>
            </a:endParaRPr>
          </a:p>
        </p:txBody>
      </p:sp>
      <p:grpSp>
        <p:nvGrpSpPr>
          <p:cNvPr id="22" name="Group 14">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23" name="Freeform: Shape 15">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Shape 16">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17">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6" name="Symbol zastępczy zawartości 5">
            <a:extLst>
              <a:ext uri="{FF2B5EF4-FFF2-40B4-BE49-F238E27FC236}">
                <a16:creationId xmlns:a16="http://schemas.microsoft.com/office/drawing/2014/main" id="{5B8E5A85-A604-6E95-3DDE-F9FE4B476A99}"/>
              </a:ext>
            </a:extLst>
          </p:cNvPr>
          <p:cNvGraphicFramePr>
            <a:graphicFrameLocks noGrp="1"/>
          </p:cNvGraphicFramePr>
          <p:nvPr>
            <p:ph idx="1"/>
            <p:extLst>
              <p:ext uri="{D42A27DB-BD31-4B8C-83A1-F6EECF244321}">
                <p14:modId xmlns:p14="http://schemas.microsoft.com/office/powerpoint/2010/main" val="2442718282"/>
              </p:ext>
            </p:extLst>
          </p:nvPr>
        </p:nvGraphicFramePr>
        <p:xfrm>
          <a:off x="340470" y="2010814"/>
          <a:ext cx="4141761" cy="3750773"/>
        </p:xfrm>
        <a:graphic>
          <a:graphicData uri="http://schemas.openxmlformats.org/drawingml/2006/table">
            <a:tbl>
              <a:tblPr>
                <a:tableStyleId>{5940675A-B579-460E-94D1-54222C63F5DA}</a:tableStyleId>
              </a:tblPr>
              <a:tblGrid>
                <a:gridCol w="2003640">
                  <a:extLst>
                    <a:ext uri="{9D8B030D-6E8A-4147-A177-3AD203B41FA5}">
                      <a16:colId xmlns:a16="http://schemas.microsoft.com/office/drawing/2014/main" val="3717093120"/>
                    </a:ext>
                  </a:extLst>
                </a:gridCol>
                <a:gridCol w="2138121">
                  <a:extLst>
                    <a:ext uri="{9D8B030D-6E8A-4147-A177-3AD203B41FA5}">
                      <a16:colId xmlns:a16="http://schemas.microsoft.com/office/drawing/2014/main" val="3777117450"/>
                    </a:ext>
                  </a:extLst>
                </a:gridCol>
              </a:tblGrid>
              <a:tr h="603385">
                <a:tc>
                  <a:txBody>
                    <a:bodyPr/>
                    <a:lstStyle/>
                    <a:p>
                      <a:pPr>
                        <a:buNone/>
                      </a:pPr>
                      <a:r>
                        <a:rPr lang="pl-PL" sz="1600" b="1">
                          <a:effectLst/>
                        </a:rPr>
                        <a:t>Stanowisko</a:t>
                      </a:r>
                      <a:endParaRPr lang="pl-PL" sz="1600">
                        <a:effectLst/>
                        <a:latin typeface="Google Sans Text"/>
                      </a:endParaRPr>
                    </a:p>
                  </a:txBody>
                  <a:tcPr marL="81539" marR="81539" marT="40769" marB="40769" anchor="ctr"/>
                </a:tc>
                <a:tc>
                  <a:txBody>
                    <a:bodyPr/>
                    <a:lstStyle/>
                    <a:p>
                      <a:pPr>
                        <a:buNone/>
                      </a:pPr>
                      <a:r>
                        <a:rPr lang="pl-PL" sz="1600" b="1">
                          <a:effectLst/>
                        </a:rPr>
                        <a:t>Główne zadania i cel</a:t>
                      </a:r>
                      <a:endParaRPr lang="pl-PL" sz="1600">
                        <a:effectLst/>
                        <a:latin typeface="Google Sans Text"/>
                      </a:endParaRPr>
                    </a:p>
                  </a:txBody>
                  <a:tcPr marL="81539" marR="81539" marT="40769" marB="40769" anchor="ctr"/>
                </a:tc>
                <a:extLst>
                  <a:ext uri="{0D108BD9-81ED-4DB2-BD59-A6C34878D82A}">
                    <a16:rowId xmlns:a16="http://schemas.microsoft.com/office/drawing/2014/main" val="825622662"/>
                  </a:ext>
                </a:extLst>
              </a:tr>
              <a:tr h="848001">
                <a:tc>
                  <a:txBody>
                    <a:bodyPr/>
                    <a:lstStyle/>
                    <a:p>
                      <a:pPr>
                        <a:buNone/>
                      </a:pPr>
                      <a:r>
                        <a:rPr lang="pl-PL" sz="1600" b="1">
                          <a:effectLst/>
                        </a:rPr>
                        <a:t>System Administrator</a:t>
                      </a:r>
                      <a:endParaRPr lang="pl-PL" sz="1600">
                        <a:effectLst/>
                        <a:latin typeface="Google Sans Text"/>
                      </a:endParaRPr>
                    </a:p>
                  </a:txBody>
                  <a:tcPr marL="81539" marR="81539" marT="40769" marB="40769" anchor="ctr"/>
                </a:tc>
                <a:tc>
                  <a:txBody>
                    <a:bodyPr/>
                    <a:lstStyle/>
                    <a:p>
                      <a:pPr>
                        <a:buNone/>
                      </a:pPr>
                      <a:r>
                        <a:rPr lang="pl-PL" sz="1600">
                          <a:effectLst/>
                        </a:rPr>
                        <a:t>Zarządza serwerami i systemami operacyjnymi.</a:t>
                      </a:r>
                      <a:endParaRPr lang="pl-PL" sz="1600">
                        <a:effectLst/>
                        <a:latin typeface="Google Sans Text"/>
                      </a:endParaRPr>
                    </a:p>
                  </a:txBody>
                  <a:tcPr marL="81539" marR="81539" marT="40769" marB="40769" anchor="ctr"/>
                </a:tc>
                <a:extLst>
                  <a:ext uri="{0D108BD9-81ED-4DB2-BD59-A6C34878D82A}">
                    <a16:rowId xmlns:a16="http://schemas.microsoft.com/office/drawing/2014/main" val="3919380888"/>
                  </a:ext>
                </a:extLst>
              </a:tr>
              <a:tr h="603385">
                <a:tc>
                  <a:txBody>
                    <a:bodyPr/>
                    <a:lstStyle/>
                    <a:p>
                      <a:pPr>
                        <a:buNone/>
                      </a:pPr>
                      <a:r>
                        <a:rPr lang="pl-PL" sz="1600" b="1">
                          <a:effectLst/>
                        </a:rPr>
                        <a:t>Network Engineer</a:t>
                      </a:r>
                      <a:endParaRPr lang="pl-PL" sz="1600">
                        <a:effectLst/>
                        <a:latin typeface="Google Sans Text"/>
                      </a:endParaRPr>
                    </a:p>
                  </a:txBody>
                  <a:tcPr marL="81539" marR="81539" marT="40769" marB="40769" anchor="ctr"/>
                </a:tc>
                <a:tc>
                  <a:txBody>
                    <a:bodyPr/>
                    <a:lstStyle/>
                    <a:p>
                      <a:pPr>
                        <a:buNone/>
                      </a:pPr>
                      <a:r>
                        <a:rPr lang="pl-PL" sz="1600">
                          <a:effectLst/>
                        </a:rPr>
                        <a:t>Projektuje i utrzymuje sieci komputerowe.</a:t>
                      </a:r>
                      <a:endParaRPr lang="pl-PL" sz="1600">
                        <a:effectLst/>
                        <a:latin typeface="Google Sans Text"/>
                      </a:endParaRPr>
                    </a:p>
                  </a:txBody>
                  <a:tcPr marL="81539" marR="81539" marT="40769" marB="40769" anchor="ctr"/>
                </a:tc>
                <a:extLst>
                  <a:ext uri="{0D108BD9-81ED-4DB2-BD59-A6C34878D82A}">
                    <a16:rowId xmlns:a16="http://schemas.microsoft.com/office/drawing/2014/main" val="2050378085"/>
                  </a:ext>
                </a:extLst>
              </a:tr>
              <a:tr h="848001">
                <a:tc>
                  <a:txBody>
                    <a:bodyPr/>
                    <a:lstStyle/>
                    <a:p>
                      <a:pPr>
                        <a:buNone/>
                      </a:pPr>
                      <a:r>
                        <a:rPr lang="pl-PL" sz="1600" b="1">
                          <a:effectLst/>
                        </a:rPr>
                        <a:t>Cloud Engineer</a:t>
                      </a:r>
                      <a:endParaRPr lang="pl-PL" sz="1600">
                        <a:effectLst/>
                        <a:latin typeface="Google Sans Text"/>
                      </a:endParaRPr>
                    </a:p>
                  </a:txBody>
                  <a:tcPr marL="81539" marR="81539" marT="40769" marB="40769" anchor="ctr"/>
                </a:tc>
                <a:tc>
                  <a:txBody>
                    <a:bodyPr/>
                    <a:lstStyle/>
                    <a:p>
                      <a:pPr>
                        <a:buNone/>
                      </a:pPr>
                      <a:r>
                        <a:rPr lang="pl-PL" sz="1600">
                          <a:effectLst/>
                        </a:rPr>
                        <a:t>Zarządza infrastrukturą w chmurze.</a:t>
                      </a:r>
                      <a:endParaRPr lang="pl-PL" sz="1600">
                        <a:effectLst/>
                        <a:latin typeface="Google Sans Text"/>
                      </a:endParaRPr>
                    </a:p>
                  </a:txBody>
                  <a:tcPr marL="81539" marR="81539" marT="40769" marB="40769" anchor="ctr"/>
                </a:tc>
                <a:extLst>
                  <a:ext uri="{0D108BD9-81ED-4DB2-BD59-A6C34878D82A}">
                    <a16:rowId xmlns:a16="http://schemas.microsoft.com/office/drawing/2014/main" val="4138772112"/>
                  </a:ext>
                </a:extLst>
              </a:tr>
              <a:tr h="848001">
                <a:tc>
                  <a:txBody>
                    <a:bodyPr/>
                    <a:lstStyle/>
                    <a:p>
                      <a:pPr>
                        <a:buNone/>
                      </a:pPr>
                      <a:r>
                        <a:rPr lang="pl-PL" sz="1600" b="1">
                          <a:effectLst/>
                        </a:rPr>
                        <a:t>DevOps Engineer</a:t>
                      </a:r>
                      <a:endParaRPr lang="pl-PL" sz="1600">
                        <a:effectLst/>
                        <a:latin typeface="Google Sans Text"/>
                      </a:endParaRPr>
                    </a:p>
                  </a:txBody>
                  <a:tcPr marL="81539" marR="81539" marT="40769" marB="40769" anchor="ctr"/>
                </a:tc>
                <a:tc>
                  <a:txBody>
                    <a:bodyPr/>
                    <a:lstStyle/>
                    <a:p>
                      <a:pPr>
                        <a:buNone/>
                      </a:pPr>
                      <a:r>
                        <a:rPr lang="pl-PL" sz="1600">
                          <a:effectLst/>
                        </a:rPr>
                        <a:t>Automatyzuje procesy budowania i wdrażania aplikacji.</a:t>
                      </a:r>
                      <a:endParaRPr lang="pl-PL" sz="1600">
                        <a:effectLst/>
                        <a:latin typeface="Google Sans Text"/>
                      </a:endParaRPr>
                    </a:p>
                  </a:txBody>
                  <a:tcPr marL="81539" marR="81539" marT="40769" marB="40769" anchor="ctr"/>
                </a:tc>
                <a:extLst>
                  <a:ext uri="{0D108BD9-81ED-4DB2-BD59-A6C34878D82A}">
                    <a16:rowId xmlns:a16="http://schemas.microsoft.com/office/drawing/2014/main" val="2643940177"/>
                  </a:ext>
                </a:extLst>
              </a:tr>
            </a:tbl>
          </a:graphicData>
        </a:graphic>
      </p:graphicFrame>
    </p:spTree>
    <p:extLst>
      <p:ext uri="{BB962C8B-B14F-4D97-AF65-F5344CB8AC3E}">
        <p14:creationId xmlns:p14="http://schemas.microsoft.com/office/powerpoint/2010/main" val="1582396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7A6FF128-F332-0751-155D-13FB0D5D0CC3}"/>
              </a:ext>
            </a:extLst>
          </p:cNvPr>
          <p:cNvSpPr>
            <a:spLocks noGrp="1"/>
          </p:cNvSpPr>
          <p:nvPr>
            <p:ph type="title"/>
          </p:nvPr>
        </p:nvSpPr>
        <p:spPr>
          <a:xfrm>
            <a:off x="6590662" y="4267832"/>
            <a:ext cx="4805996" cy="1297115"/>
          </a:xfrm>
        </p:spPr>
        <p:txBody>
          <a:bodyPr vert="horz" lIns="91440" tIns="45720" rIns="91440" bIns="45720" rtlCol="0" anchor="t">
            <a:normAutofit/>
          </a:bodyPr>
          <a:lstStyle/>
          <a:p>
            <a:r>
              <a:rPr lang="pl-PL" sz="4000" kern="1200" dirty="0">
                <a:solidFill>
                  <a:schemeClr val="tx2"/>
                </a:solidFill>
                <a:latin typeface="+mj-lt"/>
                <a:ea typeface="+mj-ea"/>
                <a:cs typeface="+mj-cs"/>
              </a:rPr>
              <a:t>Rozwój oprogramowania</a:t>
            </a:r>
            <a:endParaRPr lang="en-US" sz="4000" kern="1200" dirty="0">
              <a:solidFill>
                <a:schemeClr val="tx2"/>
              </a:solidFill>
              <a:latin typeface="+mj-lt"/>
              <a:ea typeface="+mj-ea"/>
              <a:cs typeface="+mj-cs"/>
            </a:endParaRPr>
          </a:p>
        </p:txBody>
      </p:sp>
      <p:grpSp>
        <p:nvGrpSpPr>
          <p:cNvPr id="14"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5" name="Symbol zastępczy zawartości 4">
            <a:extLst>
              <a:ext uri="{FF2B5EF4-FFF2-40B4-BE49-F238E27FC236}">
                <a16:creationId xmlns:a16="http://schemas.microsoft.com/office/drawing/2014/main" id="{678FF867-6BCB-35CA-5706-EA17935C81DF}"/>
              </a:ext>
            </a:extLst>
          </p:cNvPr>
          <p:cNvGraphicFramePr>
            <a:graphicFrameLocks noGrp="1"/>
          </p:cNvGraphicFramePr>
          <p:nvPr>
            <p:ph idx="1"/>
            <p:extLst>
              <p:ext uri="{D42A27DB-BD31-4B8C-83A1-F6EECF244321}">
                <p14:modId xmlns:p14="http://schemas.microsoft.com/office/powerpoint/2010/main" val="2433313605"/>
              </p:ext>
            </p:extLst>
          </p:nvPr>
        </p:nvGraphicFramePr>
        <p:xfrm>
          <a:off x="340470" y="2048120"/>
          <a:ext cx="4141761" cy="3676166"/>
        </p:xfrm>
        <a:graphic>
          <a:graphicData uri="http://schemas.openxmlformats.org/drawingml/2006/table">
            <a:tbl>
              <a:tblPr>
                <a:tableStyleId>{5940675A-B579-460E-94D1-54222C63F5DA}</a:tableStyleId>
              </a:tblPr>
              <a:tblGrid>
                <a:gridCol w="2035102">
                  <a:extLst>
                    <a:ext uri="{9D8B030D-6E8A-4147-A177-3AD203B41FA5}">
                      <a16:colId xmlns:a16="http://schemas.microsoft.com/office/drawing/2014/main" val="4209469967"/>
                    </a:ext>
                  </a:extLst>
                </a:gridCol>
                <a:gridCol w="2106659">
                  <a:extLst>
                    <a:ext uri="{9D8B030D-6E8A-4147-A177-3AD203B41FA5}">
                      <a16:colId xmlns:a16="http://schemas.microsoft.com/office/drawing/2014/main" val="2530866511"/>
                    </a:ext>
                  </a:extLst>
                </a:gridCol>
              </a:tblGrid>
              <a:tr h="335055">
                <a:tc>
                  <a:txBody>
                    <a:bodyPr/>
                    <a:lstStyle/>
                    <a:p>
                      <a:pPr>
                        <a:buNone/>
                      </a:pPr>
                      <a:r>
                        <a:rPr lang="pl-PL" sz="1100" b="1" cap="none" spc="0">
                          <a:solidFill>
                            <a:schemeClr val="tx1"/>
                          </a:solidFill>
                          <a:effectLst/>
                        </a:rPr>
                        <a:t>Stanowisko</a:t>
                      </a:r>
                      <a:endParaRPr lang="pl-PL" sz="1100" cap="none" spc="0">
                        <a:solidFill>
                          <a:schemeClr val="tx1"/>
                        </a:solidFill>
                        <a:effectLst/>
                        <a:latin typeface="Google Sans Text"/>
                      </a:endParaRPr>
                    </a:p>
                  </a:txBody>
                  <a:tcPr marL="92022" marR="44913" marT="70786" marB="70786" anchor="ctr"/>
                </a:tc>
                <a:tc>
                  <a:txBody>
                    <a:bodyPr/>
                    <a:lstStyle/>
                    <a:p>
                      <a:pPr>
                        <a:buNone/>
                      </a:pPr>
                      <a:r>
                        <a:rPr lang="pl-PL" sz="1100" b="1" cap="none" spc="0">
                          <a:solidFill>
                            <a:schemeClr val="tx1"/>
                          </a:solidFill>
                          <a:effectLst/>
                        </a:rPr>
                        <a:t>Główne zadania i cel</a:t>
                      </a:r>
                      <a:endParaRPr lang="pl-PL" sz="1100" cap="none" spc="0">
                        <a:solidFill>
                          <a:schemeClr val="tx1"/>
                        </a:solidFill>
                        <a:effectLst/>
                        <a:latin typeface="Google Sans Text"/>
                      </a:endParaRPr>
                    </a:p>
                  </a:txBody>
                  <a:tcPr marL="92022" marR="44913" marT="70786" marB="70786" anchor="ctr"/>
                </a:tc>
                <a:extLst>
                  <a:ext uri="{0D108BD9-81ED-4DB2-BD59-A6C34878D82A}">
                    <a16:rowId xmlns:a16="http://schemas.microsoft.com/office/drawing/2014/main" val="3579736643"/>
                  </a:ext>
                </a:extLst>
              </a:tr>
              <a:tr h="335055">
                <a:tc>
                  <a:txBody>
                    <a:bodyPr/>
                    <a:lstStyle/>
                    <a:p>
                      <a:pPr>
                        <a:buNone/>
                      </a:pPr>
                      <a:r>
                        <a:rPr lang="pl-PL" sz="1100" b="1" cap="none" spc="0">
                          <a:solidFill>
                            <a:schemeClr val="tx1"/>
                          </a:solidFill>
                          <a:effectLst/>
                        </a:rPr>
                        <a:t>Frontend Developer</a:t>
                      </a:r>
                      <a:endParaRPr lang="pl-PL" sz="1100" cap="none" spc="0">
                        <a:solidFill>
                          <a:schemeClr val="tx1"/>
                        </a:solidFill>
                        <a:effectLst/>
                        <a:latin typeface="Google Sans Text"/>
                      </a:endParaRPr>
                    </a:p>
                  </a:txBody>
                  <a:tcPr marL="92022" marR="44913" marT="70786" marB="70786" anchor="ctr"/>
                </a:tc>
                <a:tc>
                  <a:txBody>
                    <a:bodyPr/>
                    <a:lstStyle/>
                    <a:p>
                      <a:pPr>
                        <a:buNone/>
                      </a:pPr>
                      <a:r>
                        <a:rPr lang="pl-PL" sz="1100" cap="none" spc="0">
                          <a:solidFill>
                            <a:schemeClr val="tx1"/>
                          </a:solidFill>
                          <a:effectLst/>
                        </a:rPr>
                        <a:t>Tworzy interfejs użytkownika.</a:t>
                      </a:r>
                      <a:endParaRPr lang="pl-PL" sz="1100" cap="none" spc="0">
                        <a:solidFill>
                          <a:schemeClr val="tx1"/>
                        </a:solidFill>
                        <a:effectLst/>
                        <a:latin typeface="Google Sans Text"/>
                      </a:endParaRPr>
                    </a:p>
                  </a:txBody>
                  <a:tcPr marL="92022" marR="44913" marT="70786" marB="70786" anchor="ctr"/>
                </a:tc>
                <a:extLst>
                  <a:ext uri="{0D108BD9-81ED-4DB2-BD59-A6C34878D82A}">
                    <a16:rowId xmlns:a16="http://schemas.microsoft.com/office/drawing/2014/main" val="2538232757"/>
                  </a:ext>
                </a:extLst>
              </a:tr>
              <a:tr h="335055">
                <a:tc>
                  <a:txBody>
                    <a:bodyPr/>
                    <a:lstStyle/>
                    <a:p>
                      <a:pPr>
                        <a:buNone/>
                      </a:pPr>
                      <a:r>
                        <a:rPr lang="pl-PL" sz="1100" b="1" cap="none" spc="0">
                          <a:solidFill>
                            <a:schemeClr val="tx1"/>
                          </a:solidFill>
                          <a:effectLst/>
                        </a:rPr>
                        <a:t>Backend Developer</a:t>
                      </a:r>
                      <a:endParaRPr lang="pl-PL" sz="1100" cap="none" spc="0">
                        <a:solidFill>
                          <a:schemeClr val="tx1"/>
                        </a:solidFill>
                        <a:effectLst/>
                        <a:latin typeface="Google Sans Text"/>
                      </a:endParaRPr>
                    </a:p>
                  </a:txBody>
                  <a:tcPr marL="92022" marR="44913" marT="70786" marB="70786" anchor="ctr"/>
                </a:tc>
                <a:tc>
                  <a:txBody>
                    <a:bodyPr/>
                    <a:lstStyle/>
                    <a:p>
                      <a:pPr>
                        <a:buNone/>
                      </a:pPr>
                      <a:r>
                        <a:rPr lang="pl-PL" sz="1100" cap="none" spc="0">
                          <a:solidFill>
                            <a:schemeClr val="tx1"/>
                          </a:solidFill>
                          <a:effectLst/>
                        </a:rPr>
                        <a:t>Tworzy logikę aplikacji i API.</a:t>
                      </a:r>
                      <a:endParaRPr lang="pl-PL" sz="1100" cap="none" spc="0">
                        <a:solidFill>
                          <a:schemeClr val="tx1"/>
                        </a:solidFill>
                        <a:effectLst/>
                        <a:latin typeface="Google Sans Text"/>
                      </a:endParaRPr>
                    </a:p>
                  </a:txBody>
                  <a:tcPr marL="92022" marR="44913" marT="70786" marB="70786" anchor="ctr"/>
                </a:tc>
                <a:extLst>
                  <a:ext uri="{0D108BD9-81ED-4DB2-BD59-A6C34878D82A}">
                    <a16:rowId xmlns:a16="http://schemas.microsoft.com/office/drawing/2014/main" val="3826318499"/>
                  </a:ext>
                </a:extLst>
              </a:tr>
              <a:tr h="500223">
                <a:tc>
                  <a:txBody>
                    <a:bodyPr/>
                    <a:lstStyle/>
                    <a:p>
                      <a:pPr>
                        <a:buNone/>
                      </a:pPr>
                      <a:r>
                        <a:rPr lang="pl-PL" sz="1100" b="1" cap="none" spc="0">
                          <a:solidFill>
                            <a:schemeClr val="tx1"/>
                          </a:solidFill>
                          <a:effectLst/>
                        </a:rPr>
                        <a:t>Full-Stack Developer</a:t>
                      </a:r>
                      <a:endParaRPr lang="pl-PL" sz="1100" cap="none" spc="0">
                        <a:solidFill>
                          <a:schemeClr val="tx1"/>
                        </a:solidFill>
                        <a:effectLst/>
                        <a:latin typeface="Google Sans Text"/>
                      </a:endParaRPr>
                    </a:p>
                  </a:txBody>
                  <a:tcPr marL="92022" marR="44913" marT="70786" marB="70786" anchor="ctr"/>
                </a:tc>
                <a:tc>
                  <a:txBody>
                    <a:bodyPr/>
                    <a:lstStyle/>
                    <a:p>
                      <a:pPr>
                        <a:buNone/>
                      </a:pPr>
                      <a:r>
                        <a:rPr lang="pl-PL" sz="1100" cap="none" spc="0">
                          <a:solidFill>
                            <a:schemeClr val="tx1"/>
                          </a:solidFill>
                          <a:effectLst/>
                        </a:rPr>
                        <a:t>Pracuje nad frontendem i backendem.</a:t>
                      </a:r>
                      <a:endParaRPr lang="pl-PL" sz="1100" cap="none" spc="0">
                        <a:solidFill>
                          <a:schemeClr val="tx1"/>
                        </a:solidFill>
                        <a:effectLst/>
                        <a:latin typeface="Google Sans Text"/>
                      </a:endParaRPr>
                    </a:p>
                  </a:txBody>
                  <a:tcPr marL="92022" marR="44913" marT="70786" marB="70786" anchor="ctr"/>
                </a:tc>
                <a:extLst>
                  <a:ext uri="{0D108BD9-81ED-4DB2-BD59-A6C34878D82A}">
                    <a16:rowId xmlns:a16="http://schemas.microsoft.com/office/drawing/2014/main" val="4035288136"/>
                  </a:ext>
                </a:extLst>
              </a:tr>
              <a:tr h="335055">
                <a:tc>
                  <a:txBody>
                    <a:bodyPr/>
                    <a:lstStyle/>
                    <a:p>
                      <a:pPr>
                        <a:buNone/>
                      </a:pPr>
                      <a:r>
                        <a:rPr lang="pl-PL" sz="1100" b="1" cap="none" spc="0">
                          <a:solidFill>
                            <a:schemeClr val="tx1"/>
                          </a:solidFill>
                          <a:effectLst/>
                        </a:rPr>
                        <a:t>Mobile Developer</a:t>
                      </a:r>
                      <a:endParaRPr lang="pl-PL" sz="1100" cap="none" spc="0">
                        <a:solidFill>
                          <a:schemeClr val="tx1"/>
                        </a:solidFill>
                        <a:effectLst/>
                        <a:latin typeface="Google Sans Text"/>
                      </a:endParaRPr>
                    </a:p>
                  </a:txBody>
                  <a:tcPr marL="92022" marR="44913" marT="70786" marB="70786" anchor="ctr"/>
                </a:tc>
                <a:tc>
                  <a:txBody>
                    <a:bodyPr/>
                    <a:lstStyle/>
                    <a:p>
                      <a:pPr>
                        <a:buNone/>
                      </a:pPr>
                      <a:r>
                        <a:rPr lang="pl-PL" sz="1100" cap="none" spc="0">
                          <a:solidFill>
                            <a:schemeClr val="tx1"/>
                          </a:solidFill>
                          <a:effectLst/>
                        </a:rPr>
                        <a:t>Tworzy aplikacje mobilne.</a:t>
                      </a:r>
                      <a:endParaRPr lang="pl-PL" sz="1100" cap="none" spc="0">
                        <a:solidFill>
                          <a:schemeClr val="tx1"/>
                        </a:solidFill>
                        <a:effectLst/>
                        <a:latin typeface="Google Sans Text"/>
                      </a:endParaRPr>
                    </a:p>
                  </a:txBody>
                  <a:tcPr marL="92022" marR="44913" marT="70786" marB="70786" anchor="ctr"/>
                </a:tc>
                <a:extLst>
                  <a:ext uri="{0D108BD9-81ED-4DB2-BD59-A6C34878D82A}">
                    <a16:rowId xmlns:a16="http://schemas.microsoft.com/office/drawing/2014/main" val="1518477908"/>
                  </a:ext>
                </a:extLst>
              </a:tr>
              <a:tr h="335055">
                <a:tc>
                  <a:txBody>
                    <a:bodyPr/>
                    <a:lstStyle/>
                    <a:p>
                      <a:pPr>
                        <a:buNone/>
                      </a:pPr>
                      <a:r>
                        <a:rPr lang="pl-PL" sz="1100" b="1" cap="none" spc="0">
                          <a:solidFill>
                            <a:schemeClr val="tx1"/>
                          </a:solidFill>
                          <a:effectLst/>
                        </a:rPr>
                        <a:t>Software Architect</a:t>
                      </a:r>
                      <a:endParaRPr lang="pl-PL" sz="1100" cap="none" spc="0">
                        <a:solidFill>
                          <a:schemeClr val="tx1"/>
                        </a:solidFill>
                        <a:effectLst/>
                        <a:latin typeface="Google Sans Text"/>
                      </a:endParaRPr>
                    </a:p>
                  </a:txBody>
                  <a:tcPr marL="92022" marR="44913" marT="70786" marB="70786" anchor="ctr"/>
                </a:tc>
                <a:tc>
                  <a:txBody>
                    <a:bodyPr/>
                    <a:lstStyle/>
                    <a:p>
                      <a:pPr>
                        <a:buNone/>
                      </a:pPr>
                      <a:r>
                        <a:rPr lang="pl-PL" sz="1100" cap="none" spc="0">
                          <a:solidFill>
                            <a:schemeClr val="tx1"/>
                          </a:solidFill>
                          <a:effectLst/>
                        </a:rPr>
                        <a:t>Projektuje architekturę systemu.</a:t>
                      </a:r>
                      <a:endParaRPr lang="pl-PL" sz="1100" cap="none" spc="0">
                        <a:solidFill>
                          <a:schemeClr val="tx1"/>
                        </a:solidFill>
                        <a:effectLst/>
                        <a:latin typeface="Google Sans Text"/>
                      </a:endParaRPr>
                    </a:p>
                  </a:txBody>
                  <a:tcPr marL="92022" marR="44913" marT="70786" marB="70786" anchor="ctr"/>
                </a:tc>
                <a:extLst>
                  <a:ext uri="{0D108BD9-81ED-4DB2-BD59-A6C34878D82A}">
                    <a16:rowId xmlns:a16="http://schemas.microsoft.com/office/drawing/2014/main" val="3378478630"/>
                  </a:ext>
                </a:extLst>
              </a:tr>
              <a:tr h="335055">
                <a:tc>
                  <a:txBody>
                    <a:bodyPr/>
                    <a:lstStyle/>
                    <a:p>
                      <a:pPr>
                        <a:buNone/>
                      </a:pPr>
                      <a:r>
                        <a:rPr lang="pl-PL" sz="1100" b="1" cap="none" spc="0">
                          <a:solidFill>
                            <a:schemeClr val="tx1"/>
                          </a:solidFill>
                          <a:effectLst/>
                        </a:rPr>
                        <a:t>Team / Technical Lead</a:t>
                      </a:r>
                      <a:endParaRPr lang="pl-PL" sz="1100" cap="none" spc="0">
                        <a:solidFill>
                          <a:schemeClr val="tx1"/>
                        </a:solidFill>
                        <a:effectLst/>
                        <a:latin typeface="Google Sans Text"/>
                      </a:endParaRPr>
                    </a:p>
                  </a:txBody>
                  <a:tcPr marL="92022" marR="44913" marT="70786" marB="70786" anchor="ctr"/>
                </a:tc>
                <a:tc>
                  <a:txBody>
                    <a:bodyPr/>
                    <a:lstStyle/>
                    <a:p>
                      <a:pPr>
                        <a:buNone/>
                      </a:pPr>
                      <a:r>
                        <a:rPr lang="pl-PL" sz="1100" cap="none" spc="0">
                          <a:solidFill>
                            <a:schemeClr val="tx1"/>
                          </a:solidFill>
                          <a:effectLst/>
                        </a:rPr>
                        <a:t>Prowadzi zespół programistów.</a:t>
                      </a:r>
                      <a:endParaRPr lang="pl-PL" sz="1100" cap="none" spc="0">
                        <a:solidFill>
                          <a:schemeClr val="tx1"/>
                        </a:solidFill>
                        <a:effectLst/>
                        <a:latin typeface="Google Sans Text"/>
                      </a:endParaRPr>
                    </a:p>
                  </a:txBody>
                  <a:tcPr marL="92022" marR="44913" marT="70786" marB="70786" anchor="ctr"/>
                </a:tc>
                <a:extLst>
                  <a:ext uri="{0D108BD9-81ED-4DB2-BD59-A6C34878D82A}">
                    <a16:rowId xmlns:a16="http://schemas.microsoft.com/office/drawing/2014/main" val="1423827104"/>
                  </a:ext>
                </a:extLst>
              </a:tr>
              <a:tr h="665390">
                <a:tc>
                  <a:txBody>
                    <a:bodyPr/>
                    <a:lstStyle/>
                    <a:p>
                      <a:pPr>
                        <a:buNone/>
                      </a:pPr>
                      <a:r>
                        <a:rPr lang="pl-PL" sz="1100" b="1" cap="none" spc="0">
                          <a:solidFill>
                            <a:schemeClr val="tx1"/>
                          </a:solidFill>
                          <a:effectLst/>
                        </a:rPr>
                        <a:t>QA Engineer / Tester</a:t>
                      </a:r>
                      <a:r>
                        <a:rPr lang="pl-PL" sz="1100" cap="none" spc="0">
                          <a:solidFill>
                            <a:schemeClr val="tx1"/>
                          </a:solidFill>
                          <a:effectLst/>
                        </a:rPr>
                        <a:t>*</a:t>
                      </a:r>
                      <a:endParaRPr lang="pl-PL" sz="1100" cap="none" spc="0">
                        <a:solidFill>
                          <a:schemeClr val="tx1"/>
                        </a:solidFill>
                        <a:effectLst/>
                        <a:latin typeface="Google Sans Text"/>
                      </a:endParaRPr>
                    </a:p>
                  </a:txBody>
                  <a:tcPr marL="92022" marR="44913" marT="70786" marB="70786" anchor="ctr"/>
                </a:tc>
                <a:tc>
                  <a:txBody>
                    <a:bodyPr/>
                    <a:lstStyle/>
                    <a:p>
                      <a:pPr>
                        <a:buNone/>
                      </a:pPr>
                      <a:r>
                        <a:rPr lang="pl-PL" sz="1100" cap="none" spc="0">
                          <a:solidFill>
                            <a:schemeClr val="tx1"/>
                          </a:solidFill>
                          <a:effectLst/>
                        </a:rPr>
                        <a:t>Dodano: Odpowiada za testowanie oprogramowania i zapewnienie jakości.</a:t>
                      </a:r>
                      <a:endParaRPr lang="pl-PL" sz="1100" cap="none" spc="0">
                        <a:solidFill>
                          <a:schemeClr val="tx1"/>
                        </a:solidFill>
                        <a:effectLst/>
                        <a:latin typeface="Google Sans Text"/>
                      </a:endParaRPr>
                    </a:p>
                  </a:txBody>
                  <a:tcPr marL="92022" marR="44913" marT="70786" marB="70786" anchor="ctr"/>
                </a:tc>
                <a:extLst>
                  <a:ext uri="{0D108BD9-81ED-4DB2-BD59-A6C34878D82A}">
                    <a16:rowId xmlns:a16="http://schemas.microsoft.com/office/drawing/2014/main" val="2611511072"/>
                  </a:ext>
                </a:extLst>
              </a:tr>
              <a:tr h="500223">
                <a:tc>
                  <a:txBody>
                    <a:bodyPr/>
                    <a:lstStyle/>
                    <a:p>
                      <a:pPr>
                        <a:buNone/>
                      </a:pPr>
                      <a:r>
                        <a:rPr lang="pl-PL" sz="1100" b="1" cap="none" spc="0">
                          <a:solidFill>
                            <a:schemeClr val="tx1"/>
                          </a:solidFill>
                          <a:effectLst/>
                        </a:rPr>
                        <a:t>UI/UX Designer</a:t>
                      </a:r>
                      <a:r>
                        <a:rPr lang="pl-PL" sz="1100" cap="none" spc="0">
                          <a:solidFill>
                            <a:schemeClr val="tx1"/>
                          </a:solidFill>
                          <a:effectLst/>
                        </a:rPr>
                        <a:t>*</a:t>
                      </a:r>
                      <a:endParaRPr lang="pl-PL" sz="1100" cap="none" spc="0">
                        <a:solidFill>
                          <a:schemeClr val="tx1"/>
                        </a:solidFill>
                        <a:effectLst/>
                        <a:latin typeface="Google Sans Text"/>
                      </a:endParaRPr>
                    </a:p>
                  </a:txBody>
                  <a:tcPr marL="92022" marR="44913" marT="70786" marB="70786" anchor="ctr"/>
                </a:tc>
                <a:tc>
                  <a:txBody>
                    <a:bodyPr/>
                    <a:lstStyle/>
                    <a:p>
                      <a:pPr>
                        <a:buNone/>
                      </a:pPr>
                      <a:r>
                        <a:rPr lang="pl-PL" sz="1100" cap="none" spc="0" dirty="0">
                          <a:solidFill>
                            <a:schemeClr val="tx1"/>
                          </a:solidFill>
                          <a:effectLst/>
                        </a:rPr>
                        <a:t>Dodano: Projektuje ścieżki użytkownika i makiety wizualne.</a:t>
                      </a:r>
                      <a:endParaRPr lang="pl-PL" sz="1100" cap="none" spc="0" dirty="0">
                        <a:solidFill>
                          <a:schemeClr val="tx1"/>
                        </a:solidFill>
                        <a:effectLst/>
                        <a:latin typeface="Google Sans Text"/>
                      </a:endParaRPr>
                    </a:p>
                  </a:txBody>
                  <a:tcPr marL="92022" marR="44913" marT="70786" marB="70786" anchor="ctr"/>
                </a:tc>
                <a:extLst>
                  <a:ext uri="{0D108BD9-81ED-4DB2-BD59-A6C34878D82A}">
                    <a16:rowId xmlns:a16="http://schemas.microsoft.com/office/drawing/2014/main" val="410190119"/>
                  </a:ext>
                </a:extLst>
              </a:tr>
            </a:tbl>
          </a:graphicData>
        </a:graphic>
      </p:graphicFrame>
    </p:spTree>
    <p:extLst>
      <p:ext uri="{BB962C8B-B14F-4D97-AF65-F5344CB8AC3E}">
        <p14:creationId xmlns:p14="http://schemas.microsoft.com/office/powerpoint/2010/main" val="7324236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BFEABB6A-2974-48B6-DE12-850FAEA6C531}"/>
              </a:ext>
            </a:extLst>
          </p:cNvPr>
          <p:cNvSpPr>
            <a:spLocks noGrp="1"/>
          </p:cNvSpPr>
          <p:nvPr>
            <p:ph type="title"/>
          </p:nvPr>
        </p:nvSpPr>
        <p:spPr>
          <a:xfrm>
            <a:off x="6590662" y="4267832"/>
            <a:ext cx="4805996" cy="1297115"/>
          </a:xfrm>
        </p:spPr>
        <p:txBody>
          <a:bodyPr vert="horz" lIns="91440" tIns="45720" rIns="91440" bIns="45720" rtlCol="0" anchor="t">
            <a:normAutofit/>
          </a:bodyPr>
          <a:lstStyle/>
          <a:p>
            <a:r>
              <a:rPr lang="pl-PL" sz="4000" kern="1200" dirty="0" err="1">
                <a:solidFill>
                  <a:schemeClr val="tx2"/>
                </a:solidFill>
                <a:latin typeface="+mj-lt"/>
                <a:ea typeface="+mj-ea"/>
                <a:cs typeface="+mj-cs"/>
              </a:rPr>
              <a:t>Cyberbezpieczeństwo</a:t>
            </a:r>
            <a:endParaRPr lang="en-US" sz="4000" kern="1200" dirty="0">
              <a:solidFill>
                <a:schemeClr val="tx2"/>
              </a:solidFill>
              <a:latin typeface="+mj-lt"/>
              <a:ea typeface="+mj-ea"/>
              <a:cs typeface="+mj-cs"/>
            </a:endParaRPr>
          </a:p>
        </p:txBody>
      </p:sp>
      <p:grpSp>
        <p:nvGrpSpPr>
          <p:cNvPr id="14"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5" name="Symbol zastępczy zawartości 4">
            <a:extLst>
              <a:ext uri="{FF2B5EF4-FFF2-40B4-BE49-F238E27FC236}">
                <a16:creationId xmlns:a16="http://schemas.microsoft.com/office/drawing/2014/main" id="{90876CA7-CD26-0475-0305-A11F1E54B10E}"/>
              </a:ext>
            </a:extLst>
          </p:cNvPr>
          <p:cNvGraphicFramePr>
            <a:graphicFrameLocks noGrp="1"/>
          </p:cNvGraphicFramePr>
          <p:nvPr>
            <p:ph idx="1"/>
            <p:extLst>
              <p:ext uri="{D42A27DB-BD31-4B8C-83A1-F6EECF244321}">
                <p14:modId xmlns:p14="http://schemas.microsoft.com/office/powerpoint/2010/main" val="1152588381"/>
              </p:ext>
            </p:extLst>
          </p:nvPr>
        </p:nvGraphicFramePr>
        <p:xfrm>
          <a:off x="340470" y="1994781"/>
          <a:ext cx="4141761" cy="3782839"/>
        </p:xfrm>
        <a:graphic>
          <a:graphicData uri="http://schemas.openxmlformats.org/drawingml/2006/table">
            <a:tbl>
              <a:tblPr>
                <a:tableStyleId>{5940675A-B579-460E-94D1-54222C63F5DA}</a:tableStyleId>
              </a:tblPr>
              <a:tblGrid>
                <a:gridCol w="2040766">
                  <a:extLst>
                    <a:ext uri="{9D8B030D-6E8A-4147-A177-3AD203B41FA5}">
                      <a16:colId xmlns:a16="http://schemas.microsoft.com/office/drawing/2014/main" val="1869350822"/>
                    </a:ext>
                  </a:extLst>
                </a:gridCol>
                <a:gridCol w="2100995">
                  <a:extLst>
                    <a:ext uri="{9D8B030D-6E8A-4147-A177-3AD203B41FA5}">
                      <a16:colId xmlns:a16="http://schemas.microsoft.com/office/drawing/2014/main" val="1383737445"/>
                    </a:ext>
                  </a:extLst>
                </a:gridCol>
              </a:tblGrid>
              <a:tr h="356429">
                <a:tc>
                  <a:txBody>
                    <a:bodyPr/>
                    <a:lstStyle/>
                    <a:p>
                      <a:pPr>
                        <a:buNone/>
                      </a:pPr>
                      <a:r>
                        <a:rPr lang="pl-PL" sz="1500" b="1">
                          <a:effectLst/>
                        </a:rPr>
                        <a:t>Stanowisko</a:t>
                      </a:r>
                      <a:endParaRPr lang="pl-PL" sz="1500">
                        <a:effectLst/>
                        <a:latin typeface="Google Sans Text"/>
                      </a:endParaRPr>
                    </a:p>
                  </a:txBody>
                  <a:tcPr marL="78167" marR="78167" marT="39084" marB="39084" anchor="ctr"/>
                </a:tc>
                <a:tc>
                  <a:txBody>
                    <a:bodyPr/>
                    <a:lstStyle/>
                    <a:p>
                      <a:pPr>
                        <a:buNone/>
                      </a:pPr>
                      <a:r>
                        <a:rPr lang="pl-PL" sz="1500" b="1">
                          <a:effectLst/>
                        </a:rPr>
                        <a:t>Główne zadania i cel</a:t>
                      </a:r>
                      <a:endParaRPr lang="pl-PL" sz="1500">
                        <a:effectLst/>
                        <a:latin typeface="Google Sans Text"/>
                      </a:endParaRPr>
                    </a:p>
                  </a:txBody>
                  <a:tcPr marL="78167" marR="78167" marT="39084" marB="39084" anchor="ctr"/>
                </a:tc>
                <a:extLst>
                  <a:ext uri="{0D108BD9-81ED-4DB2-BD59-A6C34878D82A}">
                    <a16:rowId xmlns:a16="http://schemas.microsoft.com/office/drawing/2014/main" val="1254397072"/>
                  </a:ext>
                </a:extLst>
              </a:tr>
              <a:tr h="591324">
                <a:tc>
                  <a:txBody>
                    <a:bodyPr/>
                    <a:lstStyle/>
                    <a:p>
                      <a:pPr>
                        <a:buNone/>
                      </a:pPr>
                      <a:r>
                        <a:rPr lang="pl-PL" sz="1500" b="1">
                          <a:effectLst/>
                        </a:rPr>
                        <a:t>Cybersecurity Analyst</a:t>
                      </a:r>
                      <a:endParaRPr lang="pl-PL" sz="1500">
                        <a:effectLst/>
                        <a:latin typeface="Google Sans Text"/>
                      </a:endParaRPr>
                    </a:p>
                  </a:txBody>
                  <a:tcPr marL="78167" marR="78167" marT="39084" marB="39084" anchor="ctr"/>
                </a:tc>
                <a:tc>
                  <a:txBody>
                    <a:bodyPr/>
                    <a:lstStyle/>
                    <a:p>
                      <a:pPr>
                        <a:buNone/>
                      </a:pPr>
                      <a:r>
                        <a:rPr lang="pl-PL" sz="1500">
                          <a:effectLst/>
                        </a:rPr>
                        <a:t>Analizuje zagrożenia bezpieczeństwa.</a:t>
                      </a:r>
                      <a:endParaRPr lang="pl-PL" sz="1500">
                        <a:effectLst/>
                        <a:latin typeface="Google Sans Text"/>
                      </a:endParaRPr>
                    </a:p>
                  </a:txBody>
                  <a:tcPr marL="78167" marR="78167" marT="39084" marB="39084" anchor="ctr"/>
                </a:tc>
                <a:extLst>
                  <a:ext uri="{0D108BD9-81ED-4DB2-BD59-A6C34878D82A}">
                    <a16:rowId xmlns:a16="http://schemas.microsoft.com/office/drawing/2014/main" val="242065458"/>
                  </a:ext>
                </a:extLst>
              </a:tr>
              <a:tr h="826219">
                <a:tc>
                  <a:txBody>
                    <a:bodyPr/>
                    <a:lstStyle/>
                    <a:p>
                      <a:pPr>
                        <a:buNone/>
                      </a:pPr>
                      <a:r>
                        <a:rPr lang="pl-PL" sz="1500" b="1">
                          <a:effectLst/>
                        </a:rPr>
                        <a:t>Security Engineer</a:t>
                      </a:r>
                      <a:endParaRPr lang="pl-PL" sz="1500">
                        <a:effectLst/>
                        <a:latin typeface="Google Sans Text"/>
                      </a:endParaRPr>
                    </a:p>
                  </a:txBody>
                  <a:tcPr marL="78167" marR="78167" marT="39084" marB="39084" anchor="ctr"/>
                </a:tc>
                <a:tc>
                  <a:txBody>
                    <a:bodyPr/>
                    <a:lstStyle/>
                    <a:p>
                      <a:pPr>
                        <a:buNone/>
                      </a:pPr>
                      <a:r>
                        <a:rPr lang="pl-PL" sz="1500">
                          <a:effectLst/>
                        </a:rPr>
                        <a:t>Projektuje zabezpieczenia systemów.</a:t>
                      </a:r>
                      <a:endParaRPr lang="pl-PL" sz="1500">
                        <a:effectLst/>
                        <a:latin typeface="Google Sans Text"/>
                      </a:endParaRPr>
                    </a:p>
                  </a:txBody>
                  <a:tcPr marL="78167" marR="78167" marT="39084" marB="39084" anchor="ctr"/>
                </a:tc>
                <a:extLst>
                  <a:ext uri="{0D108BD9-81ED-4DB2-BD59-A6C34878D82A}">
                    <a16:rowId xmlns:a16="http://schemas.microsoft.com/office/drawing/2014/main" val="3842893337"/>
                  </a:ext>
                </a:extLst>
              </a:tr>
              <a:tr h="591324">
                <a:tc>
                  <a:txBody>
                    <a:bodyPr/>
                    <a:lstStyle/>
                    <a:p>
                      <a:pPr>
                        <a:buNone/>
                      </a:pPr>
                      <a:r>
                        <a:rPr lang="pl-PL" sz="1500" b="1" dirty="0" err="1">
                          <a:effectLst/>
                        </a:rPr>
                        <a:t>Penetration</a:t>
                      </a:r>
                      <a:r>
                        <a:rPr lang="pl-PL" sz="1500" b="1" dirty="0">
                          <a:effectLst/>
                        </a:rPr>
                        <a:t> Tester</a:t>
                      </a:r>
                      <a:endParaRPr lang="pl-PL" sz="1500" dirty="0">
                        <a:effectLst/>
                        <a:latin typeface="Google Sans Text"/>
                      </a:endParaRPr>
                    </a:p>
                  </a:txBody>
                  <a:tcPr marL="78167" marR="78167" marT="39084" marB="39084" anchor="ctr"/>
                </a:tc>
                <a:tc>
                  <a:txBody>
                    <a:bodyPr/>
                    <a:lstStyle/>
                    <a:p>
                      <a:pPr>
                        <a:buNone/>
                      </a:pPr>
                      <a:r>
                        <a:rPr lang="pl-PL" sz="1500">
                          <a:effectLst/>
                        </a:rPr>
                        <a:t>Przeprowadza testy bezpieczeństwa.</a:t>
                      </a:r>
                      <a:endParaRPr lang="pl-PL" sz="1500">
                        <a:effectLst/>
                        <a:latin typeface="Google Sans Text"/>
                      </a:endParaRPr>
                    </a:p>
                  </a:txBody>
                  <a:tcPr marL="78167" marR="78167" marT="39084" marB="39084" anchor="ctr"/>
                </a:tc>
                <a:extLst>
                  <a:ext uri="{0D108BD9-81ED-4DB2-BD59-A6C34878D82A}">
                    <a16:rowId xmlns:a16="http://schemas.microsoft.com/office/drawing/2014/main" val="3367339996"/>
                  </a:ext>
                </a:extLst>
              </a:tr>
              <a:tr h="826219">
                <a:tc>
                  <a:txBody>
                    <a:bodyPr/>
                    <a:lstStyle/>
                    <a:p>
                      <a:pPr>
                        <a:buNone/>
                      </a:pPr>
                      <a:r>
                        <a:rPr lang="pl-PL" sz="1500" b="1">
                          <a:effectLst/>
                        </a:rPr>
                        <a:t>Security Architect</a:t>
                      </a:r>
                      <a:endParaRPr lang="pl-PL" sz="1500">
                        <a:effectLst/>
                        <a:latin typeface="Google Sans Text"/>
                      </a:endParaRPr>
                    </a:p>
                  </a:txBody>
                  <a:tcPr marL="78167" marR="78167" marT="39084" marB="39084" anchor="ctr"/>
                </a:tc>
                <a:tc>
                  <a:txBody>
                    <a:bodyPr/>
                    <a:lstStyle/>
                    <a:p>
                      <a:pPr>
                        <a:buNone/>
                      </a:pPr>
                      <a:r>
                        <a:rPr lang="pl-PL" sz="1500">
                          <a:effectLst/>
                        </a:rPr>
                        <a:t>Projektuje architekturę bezpieczeństwa.</a:t>
                      </a:r>
                      <a:endParaRPr lang="pl-PL" sz="1500">
                        <a:effectLst/>
                        <a:latin typeface="Google Sans Text"/>
                      </a:endParaRPr>
                    </a:p>
                  </a:txBody>
                  <a:tcPr marL="78167" marR="78167" marT="39084" marB="39084" anchor="ctr"/>
                </a:tc>
                <a:extLst>
                  <a:ext uri="{0D108BD9-81ED-4DB2-BD59-A6C34878D82A}">
                    <a16:rowId xmlns:a16="http://schemas.microsoft.com/office/drawing/2014/main" val="2628037357"/>
                  </a:ext>
                </a:extLst>
              </a:tr>
              <a:tr h="591324">
                <a:tc>
                  <a:txBody>
                    <a:bodyPr/>
                    <a:lstStyle/>
                    <a:p>
                      <a:pPr>
                        <a:buNone/>
                      </a:pPr>
                      <a:r>
                        <a:rPr lang="pl-PL" sz="1500" b="1">
                          <a:effectLst/>
                        </a:rPr>
                        <a:t>Incident Response Specialist</a:t>
                      </a:r>
                      <a:endParaRPr lang="pl-PL" sz="1500">
                        <a:effectLst/>
                        <a:latin typeface="Google Sans Text"/>
                      </a:endParaRPr>
                    </a:p>
                  </a:txBody>
                  <a:tcPr marL="78167" marR="78167" marT="39084" marB="39084" anchor="ctr"/>
                </a:tc>
                <a:tc>
                  <a:txBody>
                    <a:bodyPr/>
                    <a:lstStyle/>
                    <a:p>
                      <a:pPr>
                        <a:buNone/>
                      </a:pPr>
                      <a:r>
                        <a:rPr lang="pl-PL" sz="1500" dirty="0">
                          <a:effectLst/>
                        </a:rPr>
                        <a:t>Reaguje na ataki i incydenty.</a:t>
                      </a:r>
                      <a:endParaRPr lang="pl-PL" sz="1500" dirty="0">
                        <a:effectLst/>
                        <a:latin typeface="Google Sans Text"/>
                      </a:endParaRPr>
                    </a:p>
                  </a:txBody>
                  <a:tcPr marL="78167" marR="78167" marT="39084" marB="39084" anchor="ctr"/>
                </a:tc>
                <a:extLst>
                  <a:ext uri="{0D108BD9-81ED-4DB2-BD59-A6C34878D82A}">
                    <a16:rowId xmlns:a16="http://schemas.microsoft.com/office/drawing/2014/main" val="1801883722"/>
                  </a:ext>
                </a:extLst>
              </a:tr>
            </a:tbl>
          </a:graphicData>
        </a:graphic>
      </p:graphicFrame>
    </p:spTree>
    <p:extLst>
      <p:ext uri="{BB962C8B-B14F-4D97-AF65-F5344CB8AC3E}">
        <p14:creationId xmlns:p14="http://schemas.microsoft.com/office/powerpoint/2010/main" val="5245096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5B997E4D-AC86-534F-3AF1-F69A187419EA}"/>
              </a:ext>
            </a:extLst>
          </p:cNvPr>
          <p:cNvSpPr>
            <a:spLocks noGrp="1"/>
          </p:cNvSpPr>
          <p:nvPr>
            <p:ph type="title"/>
          </p:nvPr>
        </p:nvSpPr>
        <p:spPr>
          <a:xfrm>
            <a:off x="6590662" y="4267832"/>
            <a:ext cx="4805996" cy="1297115"/>
          </a:xfrm>
        </p:spPr>
        <p:txBody>
          <a:bodyPr vert="horz" lIns="91440" tIns="45720" rIns="91440" bIns="45720" rtlCol="0" anchor="t">
            <a:normAutofit/>
          </a:bodyPr>
          <a:lstStyle/>
          <a:p>
            <a:r>
              <a:rPr lang="pl-PL" sz="4000" kern="1200" dirty="0">
                <a:solidFill>
                  <a:schemeClr val="tx2"/>
                </a:solidFill>
                <a:latin typeface="+mj-lt"/>
                <a:ea typeface="+mj-ea"/>
                <a:cs typeface="+mj-cs"/>
              </a:rPr>
              <a:t>Dane i analityka</a:t>
            </a:r>
            <a:endParaRPr lang="en-US" sz="4000" kern="1200" dirty="0">
              <a:solidFill>
                <a:schemeClr val="tx2"/>
              </a:solidFill>
              <a:latin typeface="+mj-lt"/>
              <a:ea typeface="+mj-ea"/>
              <a:cs typeface="+mj-cs"/>
            </a:endParaRPr>
          </a:p>
        </p:txBody>
      </p:sp>
      <p:grpSp>
        <p:nvGrpSpPr>
          <p:cNvPr id="13" name="Group 12">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4" name="Freeform: Shape 13">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4" name="Symbol zastępczy zawartości 3">
            <a:extLst>
              <a:ext uri="{FF2B5EF4-FFF2-40B4-BE49-F238E27FC236}">
                <a16:creationId xmlns:a16="http://schemas.microsoft.com/office/drawing/2014/main" id="{4AF4E1BF-53FE-597F-2700-153FE56AC1DE}"/>
              </a:ext>
            </a:extLst>
          </p:cNvPr>
          <p:cNvGraphicFramePr>
            <a:graphicFrameLocks noGrp="1"/>
          </p:cNvGraphicFramePr>
          <p:nvPr>
            <p:ph idx="1"/>
            <p:extLst>
              <p:ext uri="{D42A27DB-BD31-4B8C-83A1-F6EECF244321}">
                <p14:modId xmlns:p14="http://schemas.microsoft.com/office/powerpoint/2010/main" val="1724797681"/>
              </p:ext>
            </p:extLst>
          </p:nvPr>
        </p:nvGraphicFramePr>
        <p:xfrm>
          <a:off x="340470" y="1832918"/>
          <a:ext cx="4141761" cy="4106567"/>
        </p:xfrm>
        <a:graphic>
          <a:graphicData uri="http://schemas.openxmlformats.org/drawingml/2006/table">
            <a:tbl>
              <a:tblPr>
                <a:tableStyleId>{5940675A-B579-460E-94D1-54222C63F5DA}</a:tableStyleId>
              </a:tblPr>
              <a:tblGrid>
                <a:gridCol w="1997063">
                  <a:extLst>
                    <a:ext uri="{9D8B030D-6E8A-4147-A177-3AD203B41FA5}">
                      <a16:colId xmlns:a16="http://schemas.microsoft.com/office/drawing/2014/main" val="3393016145"/>
                    </a:ext>
                  </a:extLst>
                </a:gridCol>
                <a:gridCol w="2144698">
                  <a:extLst>
                    <a:ext uri="{9D8B030D-6E8A-4147-A177-3AD203B41FA5}">
                      <a16:colId xmlns:a16="http://schemas.microsoft.com/office/drawing/2014/main" val="2790807011"/>
                    </a:ext>
                  </a:extLst>
                </a:gridCol>
              </a:tblGrid>
              <a:tr h="361791">
                <a:tc>
                  <a:txBody>
                    <a:bodyPr/>
                    <a:lstStyle/>
                    <a:p>
                      <a:pPr>
                        <a:buNone/>
                      </a:pPr>
                      <a:r>
                        <a:rPr lang="pl-PL" sz="1600" b="1">
                          <a:effectLst/>
                        </a:rPr>
                        <a:t>Stanowisko</a:t>
                      </a:r>
                      <a:endParaRPr lang="pl-PL" sz="1600">
                        <a:effectLst/>
                        <a:latin typeface="Google Sans Text"/>
                      </a:endParaRPr>
                    </a:p>
                  </a:txBody>
                  <a:tcPr marL="78333" marR="78333" marT="39166" marB="39166" anchor="ctr"/>
                </a:tc>
                <a:tc>
                  <a:txBody>
                    <a:bodyPr/>
                    <a:lstStyle/>
                    <a:p>
                      <a:pPr>
                        <a:buNone/>
                      </a:pPr>
                      <a:r>
                        <a:rPr lang="pl-PL" sz="1600" b="1">
                          <a:effectLst/>
                        </a:rPr>
                        <a:t>Główne zadania i cel</a:t>
                      </a:r>
                      <a:endParaRPr lang="pl-PL" sz="1600">
                        <a:effectLst/>
                        <a:latin typeface="Google Sans Text"/>
                      </a:endParaRPr>
                    </a:p>
                  </a:txBody>
                  <a:tcPr marL="78333" marR="78333" marT="39166" marB="39166" anchor="ctr"/>
                </a:tc>
                <a:extLst>
                  <a:ext uri="{0D108BD9-81ED-4DB2-BD59-A6C34878D82A}">
                    <a16:rowId xmlns:a16="http://schemas.microsoft.com/office/drawing/2014/main" val="515902904"/>
                  </a:ext>
                </a:extLst>
              </a:tr>
              <a:tr h="603769">
                <a:tc>
                  <a:txBody>
                    <a:bodyPr/>
                    <a:lstStyle/>
                    <a:p>
                      <a:pPr>
                        <a:buNone/>
                      </a:pPr>
                      <a:r>
                        <a:rPr lang="pl-PL" sz="1600" b="1">
                          <a:effectLst/>
                        </a:rPr>
                        <a:t>Data Analyst</a:t>
                      </a:r>
                      <a:endParaRPr lang="pl-PL" sz="1600">
                        <a:effectLst/>
                        <a:latin typeface="Google Sans Text"/>
                      </a:endParaRPr>
                    </a:p>
                  </a:txBody>
                  <a:tcPr marL="78333" marR="78333" marT="39166" marB="39166" anchor="ctr"/>
                </a:tc>
                <a:tc>
                  <a:txBody>
                    <a:bodyPr/>
                    <a:lstStyle/>
                    <a:p>
                      <a:pPr>
                        <a:buNone/>
                      </a:pPr>
                      <a:r>
                        <a:rPr lang="pl-PL" sz="1600">
                          <a:effectLst/>
                        </a:rPr>
                        <a:t>Analizuje dane i tworzy raporty.</a:t>
                      </a:r>
                      <a:endParaRPr lang="pl-PL" sz="1600">
                        <a:effectLst/>
                        <a:latin typeface="Google Sans Text"/>
                      </a:endParaRPr>
                    </a:p>
                  </a:txBody>
                  <a:tcPr marL="78333" marR="78333" marT="39166" marB="39166" anchor="ctr"/>
                </a:tc>
                <a:extLst>
                  <a:ext uri="{0D108BD9-81ED-4DB2-BD59-A6C34878D82A}">
                    <a16:rowId xmlns:a16="http://schemas.microsoft.com/office/drawing/2014/main" val="2282345724"/>
                  </a:ext>
                </a:extLst>
              </a:tr>
              <a:tr h="603769">
                <a:tc>
                  <a:txBody>
                    <a:bodyPr/>
                    <a:lstStyle/>
                    <a:p>
                      <a:pPr>
                        <a:buNone/>
                      </a:pPr>
                      <a:r>
                        <a:rPr lang="pl-PL" sz="1600" b="1">
                          <a:effectLst/>
                        </a:rPr>
                        <a:t>Data Scientist</a:t>
                      </a:r>
                      <a:endParaRPr lang="pl-PL" sz="1600">
                        <a:effectLst/>
                        <a:latin typeface="Google Sans Text"/>
                      </a:endParaRPr>
                    </a:p>
                  </a:txBody>
                  <a:tcPr marL="78333" marR="78333" marT="39166" marB="39166" anchor="ctr"/>
                </a:tc>
                <a:tc>
                  <a:txBody>
                    <a:bodyPr/>
                    <a:lstStyle/>
                    <a:p>
                      <a:pPr>
                        <a:buNone/>
                      </a:pPr>
                      <a:r>
                        <a:rPr lang="pl-PL" sz="1600">
                          <a:effectLst/>
                        </a:rPr>
                        <a:t>Buduje modele statystyczne i AI.</a:t>
                      </a:r>
                      <a:endParaRPr lang="pl-PL" sz="1600">
                        <a:effectLst/>
                        <a:latin typeface="Google Sans Text"/>
                      </a:endParaRPr>
                    </a:p>
                  </a:txBody>
                  <a:tcPr marL="78333" marR="78333" marT="39166" marB="39166" anchor="ctr"/>
                </a:tc>
                <a:extLst>
                  <a:ext uri="{0D108BD9-81ED-4DB2-BD59-A6C34878D82A}">
                    <a16:rowId xmlns:a16="http://schemas.microsoft.com/office/drawing/2014/main" val="1010551145"/>
                  </a:ext>
                </a:extLst>
              </a:tr>
              <a:tr h="845746">
                <a:tc>
                  <a:txBody>
                    <a:bodyPr/>
                    <a:lstStyle/>
                    <a:p>
                      <a:pPr>
                        <a:buNone/>
                      </a:pPr>
                      <a:r>
                        <a:rPr lang="pl-PL" sz="1600" b="1">
                          <a:effectLst/>
                        </a:rPr>
                        <a:t>Data Engineer</a:t>
                      </a:r>
                      <a:endParaRPr lang="pl-PL" sz="1600">
                        <a:effectLst/>
                        <a:latin typeface="Google Sans Text"/>
                      </a:endParaRPr>
                    </a:p>
                  </a:txBody>
                  <a:tcPr marL="78333" marR="78333" marT="39166" marB="39166" anchor="ctr"/>
                </a:tc>
                <a:tc>
                  <a:txBody>
                    <a:bodyPr/>
                    <a:lstStyle/>
                    <a:p>
                      <a:pPr>
                        <a:buNone/>
                      </a:pPr>
                      <a:r>
                        <a:rPr lang="pl-PL" sz="1600">
                          <a:effectLst/>
                        </a:rPr>
                        <a:t>Tworzy systemy przetwarzania danych.</a:t>
                      </a:r>
                      <a:endParaRPr lang="pl-PL" sz="1600">
                        <a:effectLst/>
                        <a:latin typeface="Google Sans Text"/>
                      </a:endParaRPr>
                    </a:p>
                  </a:txBody>
                  <a:tcPr marL="78333" marR="78333" marT="39166" marB="39166" anchor="ctr"/>
                </a:tc>
                <a:extLst>
                  <a:ext uri="{0D108BD9-81ED-4DB2-BD59-A6C34878D82A}">
                    <a16:rowId xmlns:a16="http://schemas.microsoft.com/office/drawing/2014/main" val="1316939809"/>
                  </a:ext>
                </a:extLst>
              </a:tr>
              <a:tr h="845746">
                <a:tc>
                  <a:txBody>
                    <a:bodyPr/>
                    <a:lstStyle/>
                    <a:p>
                      <a:pPr>
                        <a:buNone/>
                      </a:pPr>
                      <a:r>
                        <a:rPr lang="pl-PL" sz="1600" b="1">
                          <a:effectLst/>
                        </a:rPr>
                        <a:t>Machine Learning Engineer</a:t>
                      </a:r>
                      <a:endParaRPr lang="pl-PL" sz="1600">
                        <a:effectLst/>
                        <a:latin typeface="Google Sans Text"/>
                      </a:endParaRPr>
                    </a:p>
                  </a:txBody>
                  <a:tcPr marL="78333" marR="78333" marT="39166" marB="39166" anchor="ctr"/>
                </a:tc>
                <a:tc>
                  <a:txBody>
                    <a:bodyPr/>
                    <a:lstStyle/>
                    <a:p>
                      <a:pPr>
                        <a:buNone/>
                      </a:pPr>
                      <a:r>
                        <a:rPr lang="pl-PL" sz="1600">
                          <a:effectLst/>
                        </a:rPr>
                        <a:t>Wdraża modele uczenia maszynowego.</a:t>
                      </a:r>
                      <a:endParaRPr lang="pl-PL" sz="1600">
                        <a:effectLst/>
                        <a:latin typeface="Google Sans Text"/>
                      </a:endParaRPr>
                    </a:p>
                  </a:txBody>
                  <a:tcPr marL="78333" marR="78333" marT="39166" marB="39166" anchor="ctr"/>
                </a:tc>
                <a:extLst>
                  <a:ext uri="{0D108BD9-81ED-4DB2-BD59-A6C34878D82A}">
                    <a16:rowId xmlns:a16="http://schemas.microsoft.com/office/drawing/2014/main" val="1412199318"/>
                  </a:ext>
                </a:extLst>
              </a:tr>
              <a:tr h="845746">
                <a:tc>
                  <a:txBody>
                    <a:bodyPr/>
                    <a:lstStyle/>
                    <a:p>
                      <a:pPr>
                        <a:buNone/>
                      </a:pPr>
                      <a:r>
                        <a:rPr lang="pl-PL" sz="1600" b="1">
                          <a:effectLst/>
                        </a:rPr>
                        <a:t>Business Intelligence (BI) Analyst</a:t>
                      </a:r>
                      <a:endParaRPr lang="pl-PL" sz="1600">
                        <a:effectLst/>
                        <a:latin typeface="Google Sans Text"/>
                      </a:endParaRPr>
                    </a:p>
                  </a:txBody>
                  <a:tcPr marL="78333" marR="78333" marT="39166" marB="39166" anchor="ctr"/>
                </a:tc>
                <a:tc>
                  <a:txBody>
                    <a:bodyPr/>
                    <a:lstStyle/>
                    <a:p>
                      <a:pPr>
                        <a:buNone/>
                      </a:pPr>
                      <a:r>
                        <a:rPr lang="pl-PL" sz="1600">
                          <a:effectLst/>
                        </a:rPr>
                        <a:t>Tworzy dashboardy i raporty biznesowe.</a:t>
                      </a:r>
                      <a:endParaRPr lang="pl-PL" sz="1600">
                        <a:effectLst/>
                        <a:latin typeface="Google Sans Text"/>
                      </a:endParaRPr>
                    </a:p>
                  </a:txBody>
                  <a:tcPr marL="78333" marR="78333" marT="39166" marB="39166" anchor="ctr"/>
                </a:tc>
                <a:extLst>
                  <a:ext uri="{0D108BD9-81ED-4DB2-BD59-A6C34878D82A}">
                    <a16:rowId xmlns:a16="http://schemas.microsoft.com/office/drawing/2014/main" val="3968556332"/>
                  </a:ext>
                </a:extLst>
              </a:tr>
            </a:tbl>
          </a:graphicData>
        </a:graphic>
      </p:graphicFrame>
    </p:spTree>
    <p:extLst>
      <p:ext uri="{BB962C8B-B14F-4D97-AF65-F5344CB8AC3E}">
        <p14:creationId xmlns:p14="http://schemas.microsoft.com/office/powerpoint/2010/main" val="16169572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2E999B44-410F-4921-00F2-AF570B10C558}"/>
              </a:ext>
            </a:extLst>
          </p:cNvPr>
          <p:cNvSpPr>
            <a:spLocks noGrp="1"/>
          </p:cNvSpPr>
          <p:nvPr>
            <p:ph type="title"/>
          </p:nvPr>
        </p:nvSpPr>
        <p:spPr>
          <a:xfrm>
            <a:off x="6590662" y="4267832"/>
            <a:ext cx="4805996" cy="1297115"/>
          </a:xfrm>
        </p:spPr>
        <p:txBody>
          <a:bodyPr vert="horz" lIns="91440" tIns="45720" rIns="91440" bIns="45720" rtlCol="0" anchor="t">
            <a:normAutofit/>
          </a:bodyPr>
          <a:lstStyle/>
          <a:p>
            <a:r>
              <a:rPr lang="pl-PL" sz="4000" kern="1200" dirty="0">
                <a:solidFill>
                  <a:schemeClr val="tx2"/>
                </a:solidFill>
                <a:latin typeface="+mj-lt"/>
                <a:ea typeface="+mj-ea"/>
                <a:cs typeface="+mj-cs"/>
              </a:rPr>
              <a:t>Zarządzanie produktem i projektem</a:t>
            </a:r>
            <a:endParaRPr lang="en-US" sz="4000" kern="1200" dirty="0">
              <a:solidFill>
                <a:schemeClr val="tx2"/>
              </a:solidFill>
              <a:latin typeface="+mj-lt"/>
              <a:ea typeface="+mj-ea"/>
              <a:cs typeface="+mj-cs"/>
            </a:endParaRPr>
          </a:p>
        </p:txBody>
      </p:sp>
      <p:grpSp>
        <p:nvGrpSpPr>
          <p:cNvPr id="13" name="Group 12">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4" name="Freeform: Shape 13">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4" name="Symbol zastępczy zawartości 3">
            <a:extLst>
              <a:ext uri="{FF2B5EF4-FFF2-40B4-BE49-F238E27FC236}">
                <a16:creationId xmlns:a16="http://schemas.microsoft.com/office/drawing/2014/main" id="{C4EE2F28-38E9-3553-EB31-83F3E9FC93F5}"/>
              </a:ext>
            </a:extLst>
          </p:cNvPr>
          <p:cNvGraphicFramePr>
            <a:graphicFrameLocks noGrp="1"/>
          </p:cNvGraphicFramePr>
          <p:nvPr>
            <p:ph idx="1"/>
            <p:extLst>
              <p:ext uri="{D42A27DB-BD31-4B8C-83A1-F6EECF244321}">
                <p14:modId xmlns:p14="http://schemas.microsoft.com/office/powerpoint/2010/main" val="1144647181"/>
              </p:ext>
            </p:extLst>
          </p:nvPr>
        </p:nvGraphicFramePr>
        <p:xfrm>
          <a:off x="340470" y="1998824"/>
          <a:ext cx="4141761" cy="3774753"/>
        </p:xfrm>
        <a:graphic>
          <a:graphicData uri="http://schemas.openxmlformats.org/drawingml/2006/table">
            <a:tbl>
              <a:tblPr>
                <a:tableStyleId>{5940675A-B579-460E-94D1-54222C63F5DA}</a:tableStyleId>
              </a:tblPr>
              <a:tblGrid>
                <a:gridCol w="1926165">
                  <a:extLst>
                    <a:ext uri="{9D8B030D-6E8A-4147-A177-3AD203B41FA5}">
                      <a16:colId xmlns:a16="http://schemas.microsoft.com/office/drawing/2014/main" val="711366060"/>
                    </a:ext>
                  </a:extLst>
                </a:gridCol>
                <a:gridCol w="2215596">
                  <a:extLst>
                    <a:ext uri="{9D8B030D-6E8A-4147-A177-3AD203B41FA5}">
                      <a16:colId xmlns:a16="http://schemas.microsoft.com/office/drawing/2014/main" val="2835394282"/>
                    </a:ext>
                  </a:extLst>
                </a:gridCol>
              </a:tblGrid>
              <a:tr h="350804">
                <a:tc>
                  <a:txBody>
                    <a:bodyPr/>
                    <a:lstStyle/>
                    <a:p>
                      <a:pPr>
                        <a:buNone/>
                      </a:pPr>
                      <a:r>
                        <a:rPr lang="pl-PL" sz="1600" b="1">
                          <a:effectLst/>
                        </a:rPr>
                        <a:t>Stanowisko</a:t>
                      </a:r>
                      <a:endParaRPr lang="pl-PL" sz="1600">
                        <a:effectLst/>
                        <a:latin typeface="Google Sans Text"/>
                      </a:endParaRPr>
                    </a:p>
                  </a:txBody>
                  <a:tcPr marL="78563" marR="78563" marT="39281" marB="39281" anchor="ctr"/>
                </a:tc>
                <a:tc>
                  <a:txBody>
                    <a:bodyPr/>
                    <a:lstStyle/>
                    <a:p>
                      <a:pPr>
                        <a:buNone/>
                      </a:pPr>
                      <a:r>
                        <a:rPr lang="pl-PL" sz="1600" b="1">
                          <a:effectLst/>
                        </a:rPr>
                        <a:t>Główne zadania i cel</a:t>
                      </a:r>
                      <a:endParaRPr lang="pl-PL" sz="1600">
                        <a:effectLst/>
                        <a:latin typeface="Google Sans Text"/>
                      </a:endParaRPr>
                    </a:p>
                  </a:txBody>
                  <a:tcPr marL="78563" marR="78563" marT="39281" marB="39281" anchor="ctr"/>
                </a:tc>
                <a:extLst>
                  <a:ext uri="{0D108BD9-81ED-4DB2-BD59-A6C34878D82A}">
                    <a16:rowId xmlns:a16="http://schemas.microsoft.com/office/drawing/2014/main" val="1314209664"/>
                  </a:ext>
                </a:extLst>
              </a:tr>
              <a:tr h="589365">
                <a:tc>
                  <a:txBody>
                    <a:bodyPr/>
                    <a:lstStyle/>
                    <a:p>
                      <a:pPr>
                        <a:buNone/>
                      </a:pPr>
                      <a:r>
                        <a:rPr lang="pl-PL" sz="1600" b="1" dirty="0">
                          <a:effectLst/>
                        </a:rPr>
                        <a:t>Product Manager</a:t>
                      </a:r>
                      <a:endParaRPr lang="pl-PL" sz="1600" dirty="0">
                        <a:effectLst/>
                        <a:latin typeface="Google Sans Text"/>
                      </a:endParaRPr>
                    </a:p>
                  </a:txBody>
                  <a:tcPr marL="78563" marR="78563" marT="39281" marB="39281" anchor="ctr"/>
                </a:tc>
                <a:tc>
                  <a:txBody>
                    <a:bodyPr/>
                    <a:lstStyle/>
                    <a:p>
                      <a:pPr>
                        <a:buNone/>
                      </a:pPr>
                      <a:r>
                        <a:rPr lang="pl-PL" sz="1600" dirty="0">
                          <a:effectLst/>
                        </a:rPr>
                        <a:t>Odpowiada za strategię produktu.</a:t>
                      </a:r>
                      <a:endParaRPr lang="pl-PL" sz="1600" dirty="0">
                        <a:effectLst/>
                        <a:latin typeface="Google Sans Text"/>
                      </a:endParaRPr>
                    </a:p>
                  </a:txBody>
                  <a:tcPr marL="78563" marR="78563" marT="39281" marB="39281" anchor="ctr"/>
                </a:tc>
                <a:extLst>
                  <a:ext uri="{0D108BD9-81ED-4DB2-BD59-A6C34878D82A}">
                    <a16:rowId xmlns:a16="http://schemas.microsoft.com/office/drawing/2014/main" val="4222634710"/>
                  </a:ext>
                </a:extLst>
              </a:tr>
              <a:tr h="589365">
                <a:tc>
                  <a:txBody>
                    <a:bodyPr/>
                    <a:lstStyle/>
                    <a:p>
                      <a:pPr>
                        <a:buNone/>
                      </a:pPr>
                      <a:r>
                        <a:rPr lang="pl-PL" sz="1600" b="1">
                          <a:effectLst/>
                        </a:rPr>
                        <a:t>Product Owner</a:t>
                      </a:r>
                      <a:endParaRPr lang="pl-PL" sz="1600">
                        <a:effectLst/>
                        <a:latin typeface="Google Sans Text"/>
                      </a:endParaRPr>
                    </a:p>
                  </a:txBody>
                  <a:tcPr marL="78563" marR="78563" marT="39281" marB="39281" anchor="ctr"/>
                </a:tc>
                <a:tc>
                  <a:txBody>
                    <a:bodyPr/>
                    <a:lstStyle/>
                    <a:p>
                      <a:pPr>
                        <a:buNone/>
                      </a:pPr>
                      <a:r>
                        <a:rPr lang="pl-PL" sz="1600" dirty="0">
                          <a:effectLst/>
                        </a:rPr>
                        <a:t>Zarządza </a:t>
                      </a:r>
                      <a:r>
                        <a:rPr lang="pl-PL" sz="1600" dirty="0" err="1">
                          <a:effectLst/>
                        </a:rPr>
                        <a:t>backlogiem</a:t>
                      </a:r>
                      <a:r>
                        <a:rPr lang="pl-PL" sz="1600" dirty="0">
                          <a:effectLst/>
                        </a:rPr>
                        <a:t> produktu.</a:t>
                      </a:r>
                      <a:endParaRPr lang="pl-PL" sz="1600" dirty="0">
                        <a:effectLst/>
                        <a:latin typeface="Google Sans Text"/>
                      </a:endParaRPr>
                    </a:p>
                  </a:txBody>
                  <a:tcPr marL="78563" marR="78563" marT="39281" marB="39281" anchor="ctr"/>
                </a:tc>
                <a:extLst>
                  <a:ext uri="{0D108BD9-81ED-4DB2-BD59-A6C34878D82A}">
                    <a16:rowId xmlns:a16="http://schemas.microsoft.com/office/drawing/2014/main" val="1859790410"/>
                  </a:ext>
                </a:extLst>
              </a:tr>
              <a:tr h="827927">
                <a:tc>
                  <a:txBody>
                    <a:bodyPr/>
                    <a:lstStyle/>
                    <a:p>
                      <a:pPr>
                        <a:buNone/>
                      </a:pPr>
                      <a:r>
                        <a:rPr lang="pl-PL" sz="1600" b="1">
                          <a:effectLst/>
                        </a:rPr>
                        <a:t>Project Manager</a:t>
                      </a:r>
                      <a:endParaRPr lang="pl-PL" sz="1600">
                        <a:effectLst/>
                        <a:latin typeface="Google Sans Text"/>
                      </a:endParaRPr>
                    </a:p>
                  </a:txBody>
                  <a:tcPr marL="78563" marR="78563" marT="39281" marB="39281" anchor="ctr"/>
                </a:tc>
                <a:tc>
                  <a:txBody>
                    <a:bodyPr/>
                    <a:lstStyle/>
                    <a:p>
                      <a:pPr>
                        <a:buNone/>
                      </a:pPr>
                      <a:r>
                        <a:rPr lang="pl-PL" sz="1600" dirty="0">
                          <a:effectLst/>
                        </a:rPr>
                        <a:t>Zarządza realizacją projektu.</a:t>
                      </a:r>
                      <a:endParaRPr lang="pl-PL" sz="1600" dirty="0">
                        <a:effectLst/>
                        <a:latin typeface="Google Sans Text"/>
                      </a:endParaRPr>
                    </a:p>
                  </a:txBody>
                  <a:tcPr marL="78563" marR="78563" marT="39281" marB="39281" anchor="ctr"/>
                </a:tc>
                <a:extLst>
                  <a:ext uri="{0D108BD9-81ED-4DB2-BD59-A6C34878D82A}">
                    <a16:rowId xmlns:a16="http://schemas.microsoft.com/office/drawing/2014/main" val="3429047063"/>
                  </a:ext>
                </a:extLst>
              </a:tr>
              <a:tr h="827927">
                <a:tc>
                  <a:txBody>
                    <a:bodyPr/>
                    <a:lstStyle/>
                    <a:p>
                      <a:pPr>
                        <a:buNone/>
                      </a:pPr>
                      <a:r>
                        <a:rPr lang="pl-PL" sz="1600" b="1">
                          <a:effectLst/>
                        </a:rPr>
                        <a:t>Scrum Master</a:t>
                      </a:r>
                      <a:endParaRPr lang="pl-PL" sz="1600">
                        <a:effectLst/>
                        <a:latin typeface="Google Sans Text"/>
                      </a:endParaRPr>
                    </a:p>
                  </a:txBody>
                  <a:tcPr marL="78563" marR="78563" marT="39281" marB="39281" anchor="ctr"/>
                </a:tc>
                <a:tc>
                  <a:txBody>
                    <a:bodyPr/>
                    <a:lstStyle/>
                    <a:p>
                      <a:pPr>
                        <a:buNone/>
                      </a:pPr>
                      <a:r>
                        <a:rPr lang="pl-PL" sz="1600">
                          <a:effectLst/>
                        </a:rPr>
                        <a:t>Organizuje pracę zespołu w metodologii Agile.</a:t>
                      </a:r>
                      <a:endParaRPr lang="pl-PL" sz="1600">
                        <a:effectLst/>
                        <a:latin typeface="Google Sans Text"/>
                      </a:endParaRPr>
                    </a:p>
                  </a:txBody>
                  <a:tcPr marL="78563" marR="78563" marT="39281" marB="39281" anchor="ctr"/>
                </a:tc>
                <a:extLst>
                  <a:ext uri="{0D108BD9-81ED-4DB2-BD59-A6C34878D82A}">
                    <a16:rowId xmlns:a16="http://schemas.microsoft.com/office/drawing/2014/main" val="792722474"/>
                  </a:ext>
                </a:extLst>
              </a:tr>
              <a:tr h="589365">
                <a:tc>
                  <a:txBody>
                    <a:bodyPr/>
                    <a:lstStyle/>
                    <a:p>
                      <a:pPr>
                        <a:buNone/>
                      </a:pPr>
                      <a:r>
                        <a:rPr lang="pl-PL" sz="1600" b="1">
                          <a:effectLst/>
                        </a:rPr>
                        <a:t>Business Analyst</a:t>
                      </a:r>
                      <a:endParaRPr lang="pl-PL" sz="1600">
                        <a:effectLst/>
                        <a:latin typeface="Google Sans Text"/>
                      </a:endParaRPr>
                    </a:p>
                  </a:txBody>
                  <a:tcPr marL="78563" marR="78563" marT="39281" marB="39281" anchor="ctr"/>
                </a:tc>
                <a:tc>
                  <a:txBody>
                    <a:bodyPr/>
                    <a:lstStyle/>
                    <a:p>
                      <a:pPr>
                        <a:buNone/>
                      </a:pPr>
                      <a:r>
                        <a:rPr lang="pl-PL" sz="1600" dirty="0">
                          <a:effectLst/>
                        </a:rPr>
                        <a:t>Analizuje wymagania biznesowe.</a:t>
                      </a:r>
                      <a:endParaRPr lang="pl-PL" sz="1600" dirty="0">
                        <a:effectLst/>
                        <a:latin typeface="Google Sans Text"/>
                      </a:endParaRPr>
                    </a:p>
                  </a:txBody>
                  <a:tcPr marL="78563" marR="78563" marT="39281" marB="39281" anchor="ctr"/>
                </a:tc>
                <a:extLst>
                  <a:ext uri="{0D108BD9-81ED-4DB2-BD59-A6C34878D82A}">
                    <a16:rowId xmlns:a16="http://schemas.microsoft.com/office/drawing/2014/main" val="1328915390"/>
                  </a:ext>
                </a:extLst>
              </a:tr>
            </a:tbl>
          </a:graphicData>
        </a:graphic>
      </p:graphicFrame>
    </p:spTree>
    <p:extLst>
      <p:ext uri="{BB962C8B-B14F-4D97-AF65-F5344CB8AC3E}">
        <p14:creationId xmlns:p14="http://schemas.microsoft.com/office/powerpoint/2010/main" val="28627102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ytuł 1">
            <a:extLst>
              <a:ext uri="{FF2B5EF4-FFF2-40B4-BE49-F238E27FC236}">
                <a16:creationId xmlns:a16="http://schemas.microsoft.com/office/drawing/2014/main" id="{B7D405BF-B335-F10F-F95A-7B7CA5C231C5}"/>
              </a:ext>
            </a:extLst>
          </p:cNvPr>
          <p:cNvSpPr>
            <a:spLocks noGrp="1"/>
          </p:cNvSpPr>
          <p:nvPr>
            <p:ph type="title"/>
          </p:nvPr>
        </p:nvSpPr>
        <p:spPr>
          <a:xfrm>
            <a:off x="640080" y="1243013"/>
            <a:ext cx="3855720" cy="4371974"/>
          </a:xfrm>
        </p:spPr>
        <p:txBody>
          <a:bodyPr>
            <a:normAutofit/>
          </a:bodyPr>
          <a:lstStyle/>
          <a:p>
            <a:r>
              <a:rPr lang="pl-PL" sz="3600">
                <a:solidFill>
                  <a:schemeClr val="tx2"/>
                </a:solidFill>
              </a:rPr>
              <a:t>Podsumowanie</a:t>
            </a:r>
          </a:p>
        </p:txBody>
      </p:sp>
      <p:sp>
        <p:nvSpPr>
          <p:cNvPr id="3" name="Symbol zastępczy zawartości 2">
            <a:extLst>
              <a:ext uri="{FF2B5EF4-FFF2-40B4-BE49-F238E27FC236}">
                <a16:creationId xmlns:a16="http://schemas.microsoft.com/office/drawing/2014/main" id="{621FF8EC-EB99-9711-5D52-7DA967F8C4BD}"/>
              </a:ext>
            </a:extLst>
          </p:cNvPr>
          <p:cNvSpPr>
            <a:spLocks noGrp="1"/>
          </p:cNvSpPr>
          <p:nvPr>
            <p:ph idx="1"/>
          </p:nvPr>
        </p:nvSpPr>
        <p:spPr>
          <a:xfrm>
            <a:off x="6172200" y="804672"/>
            <a:ext cx="5221224" cy="5230368"/>
          </a:xfrm>
        </p:spPr>
        <p:txBody>
          <a:bodyPr anchor="ctr">
            <a:normAutofit/>
          </a:bodyPr>
          <a:lstStyle/>
          <a:p>
            <a:r>
              <a:rPr lang="pl-PL" sz="1800">
                <a:solidFill>
                  <a:schemeClr val="tx2"/>
                </a:solidFill>
              </a:rPr>
              <a:t>Jasno zdefiniowana struktura firmy porządkuje pracę, zakres odpowiedzialności oraz proces komunikacji. Wybór odpowiedniego modelu organizacyjnego może istotnie wpłynąć na działanie firmy promując cechy takie jak szybkość wdrożenia, albo zgodność ze standardami i regulacjami.</a:t>
            </a:r>
          </a:p>
          <a:p>
            <a:r>
              <a:rPr lang="pl-PL" sz="1800">
                <a:solidFill>
                  <a:schemeClr val="tx2"/>
                </a:solidFill>
              </a:rPr>
              <a:t>Nazewnictwo stanowisk oraz podział na poziomy doświadczenia pozwalają w łatwy sposób zrozumieć zakres obowiązków związany z daną rolą, a także wymagany zakres wiedzy dziedzinowej.</a:t>
            </a:r>
          </a:p>
          <a:p>
            <a:r>
              <a:rPr lang="pl-PL" sz="1800">
                <a:solidFill>
                  <a:schemeClr val="tx2"/>
                </a:solidFill>
              </a:rPr>
              <a:t>Odpowiednia struktura firmy oraz przemyślane nazewnictwo stanowisk pozwala zapobiegać chaosowi organizacyjnemu.</a:t>
            </a:r>
          </a:p>
        </p:txBody>
      </p:sp>
    </p:spTree>
    <p:extLst>
      <p:ext uri="{BB962C8B-B14F-4D97-AF65-F5344CB8AC3E}">
        <p14:creationId xmlns:p14="http://schemas.microsoft.com/office/powerpoint/2010/main" val="201284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89C5E17-24D0-4696-A3C5-A2261FB455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929B58F-2358-44CC-ACE5-EF1BD3C6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ytuł 1">
            <a:extLst>
              <a:ext uri="{FF2B5EF4-FFF2-40B4-BE49-F238E27FC236}">
                <a16:creationId xmlns:a16="http://schemas.microsoft.com/office/drawing/2014/main" id="{8381CDD2-0B60-8F46-9918-7933BCD88937}"/>
              </a:ext>
            </a:extLst>
          </p:cNvPr>
          <p:cNvSpPr>
            <a:spLocks noGrp="1"/>
          </p:cNvSpPr>
          <p:nvPr>
            <p:ph type="title"/>
          </p:nvPr>
        </p:nvSpPr>
        <p:spPr>
          <a:xfrm>
            <a:off x="804672" y="1243013"/>
            <a:ext cx="3855720" cy="4371974"/>
          </a:xfrm>
        </p:spPr>
        <p:txBody>
          <a:bodyPr>
            <a:normAutofit/>
          </a:bodyPr>
          <a:lstStyle/>
          <a:p>
            <a:r>
              <a:rPr lang="pl-PL" sz="3600">
                <a:solidFill>
                  <a:schemeClr val="tx2"/>
                </a:solidFill>
              </a:rPr>
              <a:t>Bibliografia</a:t>
            </a:r>
          </a:p>
        </p:txBody>
      </p:sp>
      <p:grpSp>
        <p:nvGrpSpPr>
          <p:cNvPr id="12" name="Group 11">
            <a:extLst>
              <a:ext uri="{FF2B5EF4-FFF2-40B4-BE49-F238E27FC236}">
                <a16:creationId xmlns:a16="http://schemas.microsoft.com/office/drawing/2014/main" id="{09DA5303-A1AF-4830-806C-51FCD96188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97348" y="5285"/>
            <a:ext cx="7294653" cy="6858000"/>
            <a:chOff x="4897348" y="-5799"/>
            <a:chExt cx="7294653" cy="6858000"/>
          </a:xfrm>
        </p:grpSpPr>
        <p:sp>
          <p:nvSpPr>
            <p:cNvPr id="13" name="Freeform: Shape 12">
              <a:extLst>
                <a:ext uri="{FF2B5EF4-FFF2-40B4-BE49-F238E27FC236}">
                  <a16:creationId xmlns:a16="http://schemas.microsoft.com/office/drawing/2014/main" id="{4FAAA8C8-4EB7-45F1-BF24-3EF0F4DC4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7348" y="-5798"/>
              <a:ext cx="7294652" cy="6857999"/>
            </a:xfrm>
            <a:custGeom>
              <a:avLst/>
              <a:gdLst>
                <a:gd name="connsiteX0" fmla="*/ 7294652 w 7294652"/>
                <a:gd name="connsiteY0" fmla="*/ 6063030 h 6857999"/>
                <a:gd name="connsiteX1" fmla="*/ 7294652 w 7294652"/>
                <a:gd name="connsiteY1" fmla="*/ 6857999 h 6857999"/>
                <a:gd name="connsiteX2" fmla="*/ 6248575 w 7294652"/>
                <a:gd name="connsiteY2" fmla="*/ 6857999 h 6857999"/>
                <a:gd name="connsiteX3" fmla="*/ 6477898 w 7294652"/>
                <a:gd name="connsiteY3" fmla="*/ 6700973 h 6857999"/>
                <a:gd name="connsiteX4" fmla="*/ 6647884 w 7294652"/>
                <a:gd name="connsiteY4" fmla="*/ 6572752 h 6857999"/>
                <a:gd name="connsiteX5" fmla="*/ 6817698 w 7294652"/>
                <a:gd name="connsiteY5" fmla="*/ 6440235 h 6857999"/>
                <a:gd name="connsiteX6" fmla="*/ 7161451 w 7294652"/>
                <a:gd name="connsiteY6" fmla="*/ 6165232 h 6857999"/>
                <a:gd name="connsiteX7" fmla="*/ 1673436 w 7294652"/>
                <a:gd name="connsiteY7" fmla="*/ 0 h 6857999"/>
                <a:gd name="connsiteX8" fmla="*/ 2394951 w 7294652"/>
                <a:gd name="connsiteY8" fmla="*/ 0 h 6857999"/>
                <a:gd name="connsiteX9" fmla="*/ 2244659 w 7294652"/>
                <a:gd name="connsiteY9" fmla="*/ 100763 h 6857999"/>
                <a:gd name="connsiteX10" fmla="*/ 1743903 w 7294652"/>
                <a:gd name="connsiteY10" fmla="*/ 498975 h 6857999"/>
                <a:gd name="connsiteX11" fmla="*/ 1163821 w 7294652"/>
                <a:gd name="connsiteY11" fmla="*/ 1121514 h 6857999"/>
                <a:gd name="connsiteX12" fmla="*/ 704911 w 7294652"/>
                <a:gd name="connsiteY12" fmla="*/ 1837036 h 6857999"/>
                <a:gd name="connsiteX13" fmla="*/ 393472 w 7294652"/>
                <a:gd name="connsiteY13" fmla="*/ 2627669 h 6857999"/>
                <a:gd name="connsiteX14" fmla="*/ 280032 w 7294652"/>
                <a:gd name="connsiteY14" fmla="*/ 3472097 h 6857999"/>
                <a:gd name="connsiteX15" fmla="*/ 327813 w 7294652"/>
                <a:gd name="connsiteY15" fmla="*/ 3884602 h 6857999"/>
                <a:gd name="connsiteX16" fmla="*/ 469096 w 7294652"/>
                <a:gd name="connsiteY16" fmla="*/ 4270809 h 6857999"/>
                <a:gd name="connsiteX17" fmla="*/ 567581 w 7294652"/>
                <a:gd name="connsiteY17" fmla="*/ 4452482 h 6857999"/>
                <a:gd name="connsiteX18" fmla="*/ 680677 w 7294652"/>
                <a:gd name="connsiteY18" fmla="*/ 4628484 h 6857999"/>
                <a:gd name="connsiteX19" fmla="*/ 941928 w 7294652"/>
                <a:gd name="connsiteY19" fmla="*/ 4968628 h 6857999"/>
                <a:gd name="connsiteX20" fmla="*/ 1224665 w 7294652"/>
                <a:gd name="connsiteY20" fmla="*/ 5311349 h 6857999"/>
                <a:gd name="connsiteX21" fmla="*/ 1365259 w 7294652"/>
                <a:gd name="connsiteY21" fmla="*/ 5490273 h 6857999"/>
                <a:gd name="connsiteX22" fmla="*/ 1432808 w 7294652"/>
                <a:gd name="connsiteY22" fmla="*/ 5577931 h 6857999"/>
                <a:gd name="connsiteX23" fmla="*/ 1498980 w 7294652"/>
                <a:gd name="connsiteY23" fmla="*/ 5662148 h 6857999"/>
                <a:gd name="connsiteX24" fmla="*/ 2067548 w 7294652"/>
                <a:gd name="connsiteY24" fmla="*/ 6283312 h 6857999"/>
                <a:gd name="connsiteX25" fmla="*/ 2369879 w 7294652"/>
                <a:gd name="connsiteY25" fmla="*/ 6562782 h 6857999"/>
                <a:gd name="connsiteX26" fmla="*/ 2686645 w 7294652"/>
                <a:gd name="connsiteY26" fmla="*/ 6820598 h 6857999"/>
                <a:gd name="connsiteX27" fmla="*/ 2738907 w 7294652"/>
                <a:gd name="connsiteY27" fmla="*/ 6857999 h 6857999"/>
                <a:gd name="connsiteX28" fmla="*/ 1731787 w 7294652"/>
                <a:gd name="connsiteY28" fmla="*/ 6857999 h 6857999"/>
                <a:gd name="connsiteX29" fmla="*/ 1607949 w 7294652"/>
                <a:gd name="connsiteY29" fmla="*/ 6732770 h 6857999"/>
                <a:gd name="connsiteX30" fmla="*/ 1309057 w 7294652"/>
                <a:gd name="connsiteY30" fmla="*/ 6370109 h 6857999"/>
                <a:gd name="connsiteX31" fmla="*/ 1048147 w 7294652"/>
                <a:gd name="connsiteY31" fmla="*/ 5986138 h 6857999"/>
                <a:gd name="connsiteX32" fmla="*/ 987131 w 7294652"/>
                <a:gd name="connsiteY32" fmla="*/ 5888512 h 6857999"/>
                <a:gd name="connsiteX33" fmla="*/ 928866 w 7294652"/>
                <a:gd name="connsiteY33" fmla="*/ 5793463 h 6857999"/>
                <a:gd name="connsiteX34" fmla="*/ 813708 w 7294652"/>
                <a:gd name="connsiteY34" fmla="*/ 5609556 h 6857999"/>
                <a:gd name="connsiteX35" fmla="*/ 574972 w 7294652"/>
                <a:gd name="connsiteY35" fmla="*/ 5231598 h 6857999"/>
                <a:gd name="connsiteX36" fmla="*/ 342424 w 7294652"/>
                <a:gd name="connsiteY36" fmla="*/ 4834048 h 6857999"/>
                <a:gd name="connsiteX37" fmla="*/ 237579 w 7294652"/>
                <a:gd name="connsiteY37" fmla="*/ 4623500 h 6857999"/>
                <a:gd name="connsiteX38" fmla="*/ 148373 w 7294652"/>
                <a:gd name="connsiteY38" fmla="*/ 4404356 h 6857999"/>
                <a:gd name="connsiteX39" fmla="*/ 79623 w 7294652"/>
                <a:gd name="connsiteY39" fmla="*/ 4175762 h 6857999"/>
                <a:gd name="connsiteX40" fmla="*/ 54185 w 7294652"/>
                <a:gd name="connsiteY40" fmla="*/ 4059229 h 6857999"/>
                <a:gd name="connsiteX41" fmla="*/ 43013 w 7294652"/>
                <a:gd name="connsiteY41" fmla="*/ 4000790 h 6857999"/>
                <a:gd name="connsiteX42" fmla="*/ 33734 w 7294652"/>
                <a:gd name="connsiteY42" fmla="*/ 3942180 h 6857999"/>
                <a:gd name="connsiteX43" fmla="*/ 45 w 7294652"/>
                <a:gd name="connsiteY43" fmla="*/ 3472097 h 6857999"/>
                <a:gd name="connsiteX44" fmla="*/ 95436 w 7294652"/>
                <a:gd name="connsiteY44" fmla="*/ 2557372 h 6857999"/>
                <a:gd name="connsiteX45" fmla="*/ 382126 w 7294652"/>
                <a:gd name="connsiteY45" fmla="*/ 1680799 h 6857999"/>
                <a:gd name="connsiteX46" fmla="*/ 1457043 w 7294652"/>
                <a:gd name="connsiteY46" fmla="*/ 1921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7294652" h="6857999">
                  <a:moveTo>
                    <a:pt x="7294652" y="6063030"/>
                  </a:moveTo>
                  <a:lnTo>
                    <a:pt x="7294652" y="6857999"/>
                  </a:lnTo>
                  <a:lnTo>
                    <a:pt x="6248575" y="6857999"/>
                  </a:lnTo>
                  <a:lnTo>
                    <a:pt x="6477898" y="6700973"/>
                  </a:lnTo>
                  <a:cubicBezTo>
                    <a:pt x="6534790" y="6659378"/>
                    <a:pt x="6591336" y="6616237"/>
                    <a:pt x="6647884" y="6572752"/>
                  </a:cubicBezTo>
                  <a:cubicBezTo>
                    <a:pt x="6704432" y="6529268"/>
                    <a:pt x="6761151" y="6485095"/>
                    <a:pt x="6817698" y="6440235"/>
                  </a:cubicBezTo>
                  <a:lnTo>
                    <a:pt x="7161451" y="6165232"/>
                  </a:lnTo>
                  <a:close/>
                  <a:moveTo>
                    <a:pt x="1673436" y="0"/>
                  </a:moveTo>
                  <a:lnTo>
                    <a:pt x="2394951" y="0"/>
                  </a:lnTo>
                  <a:lnTo>
                    <a:pt x="2244659" y="100763"/>
                  </a:lnTo>
                  <a:cubicBezTo>
                    <a:pt x="2071051" y="224086"/>
                    <a:pt x="1903860" y="356975"/>
                    <a:pt x="1743903" y="498975"/>
                  </a:cubicBezTo>
                  <a:cubicBezTo>
                    <a:pt x="1533218" y="689638"/>
                    <a:pt x="1339146" y="897902"/>
                    <a:pt x="1163821" y="1121514"/>
                  </a:cubicBezTo>
                  <a:cubicBezTo>
                    <a:pt x="988284" y="1344764"/>
                    <a:pt x="834608" y="1584376"/>
                    <a:pt x="704911" y="1837036"/>
                  </a:cubicBezTo>
                  <a:cubicBezTo>
                    <a:pt x="573950" y="2089059"/>
                    <a:pt x="469577" y="2354041"/>
                    <a:pt x="393472" y="2627669"/>
                  </a:cubicBezTo>
                  <a:cubicBezTo>
                    <a:pt x="318269" y="2902842"/>
                    <a:pt x="280119" y="3186833"/>
                    <a:pt x="280032" y="3472097"/>
                  </a:cubicBezTo>
                  <a:cubicBezTo>
                    <a:pt x="280349" y="3610956"/>
                    <a:pt x="296380" y="3749334"/>
                    <a:pt x="327813" y="3884602"/>
                  </a:cubicBezTo>
                  <a:cubicBezTo>
                    <a:pt x="360878" y="4018046"/>
                    <a:pt x="408244" y="4147540"/>
                    <a:pt x="469096" y="4270809"/>
                  </a:cubicBezTo>
                  <a:cubicBezTo>
                    <a:pt x="499175" y="4332511"/>
                    <a:pt x="532347" y="4393012"/>
                    <a:pt x="567581" y="4452482"/>
                  </a:cubicBezTo>
                  <a:cubicBezTo>
                    <a:pt x="602815" y="4511953"/>
                    <a:pt x="641144" y="4570562"/>
                    <a:pt x="680677" y="4628484"/>
                  </a:cubicBezTo>
                  <a:cubicBezTo>
                    <a:pt x="760771" y="4743985"/>
                    <a:pt x="849802" y="4856048"/>
                    <a:pt x="941928" y="4968628"/>
                  </a:cubicBezTo>
                  <a:cubicBezTo>
                    <a:pt x="1034055" y="5081206"/>
                    <a:pt x="1130994" y="5193958"/>
                    <a:pt x="1224665" y="5311349"/>
                  </a:cubicBezTo>
                  <a:cubicBezTo>
                    <a:pt x="1271987" y="5369787"/>
                    <a:pt x="1318853" y="5429429"/>
                    <a:pt x="1365259" y="5490273"/>
                  </a:cubicBezTo>
                  <a:lnTo>
                    <a:pt x="1432808" y="5577931"/>
                  </a:lnTo>
                  <a:cubicBezTo>
                    <a:pt x="1454979" y="5605947"/>
                    <a:pt x="1476121" y="5634821"/>
                    <a:pt x="1498980" y="5662148"/>
                  </a:cubicBezTo>
                  <a:cubicBezTo>
                    <a:pt x="1676323" y="5880038"/>
                    <a:pt x="1866158" y="6087441"/>
                    <a:pt x="2067548" y="6283312"/>
                  </a:cubicBezTo>
                  <a:cubicBezTo>
                    <a:pt x="2166203" y="6379907"/>
                    <a:pt x="2266974" y="6473064"/>
                    <a:pt x="2369879" y="6562782"/>
                  </a:cubicBezTo>
                  <a:cubicBezTo>
                    <a:pt x="2473005" y="6652331"/>
                    <a:pt x="2577677" y="6738957"/>
                    <a:pt x="2686645" y="6820598"/>
                  </a:cubicBezTo>
                  <a:lnTo>
                    <a:pt x="2738907" y="6857999"/>
                  </a:lnTo>
                  <a:lnTo>
                    <a:pt x="1731787" y="6857999"/>
                  </a:lnTo>
                  <a:lnTo>
                    <a:pt x="1607949" y="6732770"/>
                  </a:lnTo>
                  <a:cubicBezTo>
                    <a:pt x="1501232" y="6617903"/>
                    <a:pt x="1401421" y="6496799"/>
                    <a:pt x="1309057" y="6370109"/>
                  </a:cubicBezTo>
                  <a:cubicBezTo>
                    <a:pt x="1217103" y="6244469"/>
                    <a:pt x="1129618" y="6116590"/>
                    <a:pt x="1048147" y="5986138"/>
                  </a:cubicBezTo>
                  <a:cubicBezTo>
                    <a:pt x="1027179" y="5953825"/>
                    <a:pt x="1007414" y="5920996"/>
                    <a:pt x="987131" y="5888512"/>
                  </a:cubicBezTo>
                  <a:lnTo>
                    <a:pt x="928866" y="5793463"/>
                  </a:lnTo>
                  <a:cubicBezTo>
                    <a:pt x="891568" y="5732276"/>
                    <a:pt x="852725" y="5671260"/>
                    <a:pt x="813708" y="5609556"/>
                  </a:cubicBezTo>
                  <a:lnTo>
                    <a:pt x="574972" y="5231598"/>
                  </a:lnTo>
                  <a:cubicBezTo>
                    <a:pt x="495221" y="5103551"/>
                    <a:pt x="416158" y="4971549"/>
                    <a:pt x="342424" y="4834048"/>
                  </a:cubicBezTo>
                  <a:cubicBezTo>
                    <a:pt x="305641" y="4765298"/>
                    <a:pt x="270236" y="4695343"/>
                    <a:pt x="237579" y="4623500"/>
                  </a:cubicBezTo>
                  <a:cubicBezTo>
                    <a:pt x="204922" y="4551655"/>
                    <a:pt x="175187" y="4478607"/>
                    <a:pt x="148373" y="4404356"/>
                  </a:cubicBezTo>
                  <a:cubicBezTo>
                    <a:pt x="121561" y="4330107"/>
                    <a:pt x="99046" y="4252934"/>
                    <a:pt x="79623" y="4175762"/>
                  </a:cubicBezTo>
                  <a:cubicBezTo>
                    <a:pt x="70514" y="4136916"/>
                    <a:pt x="61577" y="4098245"/>
                    <a:pt x="54185" y="4059229"/>
                  </a:cubicBezTo>
                  <a:lnTo>
                    <a:pt x="43013" y="4000790"/>
                  </a:lnTo>
                  <a:lnTo>
                    <a:pt x="33734" y="3942180"/>
                  </a:lnTo>
                  <a:cubicBezTo>
                    <a:pt x="10461" y="3786581"/>
                    <a:pt x="-801" y="3629416"/>
                    <a:pt x="45" y="3472097"/>
                  </a:cubicBezTo>
                  <a:cubicBezTo>
                    <a:pt x="863" y="3164748"/>
                    <a:pt x="32824" y="2858275"/>
                    <a:pt x="95436" y="2557372"/>
                  </a:cubicBezTo>
                  <a:cubicBezTo>
                    <a:pt x="157549" y="2255281"/>
                    <a:pt x="253728" y="1961216"/>
                    <a:pt x="382126" y="1680799"/>
                  </a:cubicBezTo>
                  <a:cubicBezTo>
                    <a:pt x="639940" y="1120482"/>
                    <a:pt x="1015492" y="619117"/>
                    <a:pt x="1457043" y="192176"/>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77FC097-E4F2-4A45-82E8-3808FA553C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0650" y="-5799"/>
              <a:ext cx="7291350" cy="6858000"/>
            </a:xfrm>
            <a:custGeom>
              <a:avLst/>
              <a:gdLst>
                <a:gd name="connsiteX0" fmla="*/ 7291350 w 7291350"/>
                <a:gd name="connsiteY0" fmla="*/ 5718699 h 6858000"/>
                <a:gd name="connsiteX1" fmla="*/ 7291350 w 7291350"/>
                <a:gd name="connsiteY1" fmla="*/ 6806115 h 6858000"/>
                <a:gd name="connsiteX2" fmla="*/ 7224124 w 7291350"/>
                <a:gd name="connsiteY2" fmla="*/ 6858000 h 6858000"/>
                <a:gd name="connsiteX3" fmla="*/ 5607142 w 7291350"/>
                <a:gd name="connsiteY3" fmla="*/ 6858000 h 6858000"/>
                <a:gd name="connsiteX4" fmla="*/ 5736072 w 7291350"/>
                <a:gd name="connsiteY4" fmla="*/ 6801170 h 6858000"/>
                <a:gd name="connsiteX5" fmla="*/ 6949826 w 7291350"/>
                <a:gd name="connsiteY5" fmla="*/ 5983707 h 6858000"/>
                <a:gd name="connsiteX6" fmla="*/ 7220703 w 7291350"/>
                <a:gd name="connsiteY6" fmla="*/ 5773675 h 6858000"/>
                <a:gd name="connsiteX7" fmla="*/ 7218419 w 7291350"/>
                <a:gd name="connsiteY7" fmla="*/ 0 h 6858000"/>
                <a:gd name="connsiteX8" fmla="*/ 7291350 w 7291350"/>
                <a:gd name="connsiteY8" fmla="*/ 0 h 6858000"/>
                <a:gd name="connsiteX9" fmla="*/ 7291350 w 7291350"/>
                <a:gd name="connsiteY9" fmla="*/ 50138 h 6858000"/>
                <a:gd name="connsiteX10" fmla="*/ 1797607 w 7291350"/>
                <a:gd name="connsiteY10" fmla="*/ 0 h 6858000"/>
                <a:gd name="connsiteX11" fmla="*/ 3385676 w 7291350"/>
                <a:gd name="connsiteY11" fmla="*/ 0 h 6858000"/>
                <a:gd name="connsiteX12" fmla="*/ 3360567 w 7291350"/>
                <a:gd name="connsiteY12" fmla="*/ 11552 h 6858000"/>
                <a:gd name="connsiteX13" fmla="*/ 2267395 w 7291350"/>
                <a:gd name="connsiteY13" fmla="*/ 725831 h 6858000"/>
                <a:gd name="connsiteX14" fmla="*/ 1234074 w 7291350"/>
                <a:gd name="connsiteY14" fmla="*/ 2007171 h 6858000"/>
                <a:gd name="connsiteX15" fmla="*/ 859383 w 7291350"/>
                <a:gd name="connsiteY15" fmla="*/ 3498372 h 6858000"/>
                <a:gd name="connsiteX16" fmla="*/ 1479513 w 7291350"/>
                <a:gd name="connsiteY16" fmla="*/ 4883182 h 6858000"/>
                <a:gd name="connsiteX17" fmla="*/ 1791985 w 7291350"/>
                <a:gd name="connsiteY17" fmla="*/ 5322671 h 6858000"/>
                <a:gd name="connsiteX18" fmla="*/ 3397295 w 7291350"/>
                <a:gd name="connsiteY18" fmla="*/ 6784567 h 6858000"/>
                <a:gd name="connsiteX19" fmla="*/ 3590446 w 7291350"/>
                <a:gd name="connsiteY19" fmla="*/ 6858000 h 6858000"/>
                <a:gd name="connsiteX20" fmla="*/ 1970757 w 7291350"/>
                <a:gd name="connsiteY20" fmla="*/ 6858000 h 6858000"/>
                <a:gd name="connsiteX21" fmla="*/ 1735872 w 7291350"/>
                <a:gd name="connsiteY21" fmla="*/ 6627685 h 6858000"/>
                <a:gd name="connsiteX22" fmla="*/ 1080932 w 7291350"/>
                <a:gd name="connsiteY22" fmla="*/ 5805127 h 6858000"/>
                <a:gd name="connsiteX23" fmla="*/ 0 w 7291350"/>
                <a:gd name="connsiteY23" fmla="*/ 3498372 h 6858000"/>
                <a:gd name="connsiteX24" fmla="*/ 1708174 w 7291350"/>
                <a:gd name="connsiteY24"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291350" h="6858000">
                  <a:moveTo>
                    <a:pt x="7291350" y="5718699"/>
                  </a:moveTo>
                  <a:lnTo>
                    <a:pt x="7291350" y="6806115"/>
                  </a:lnTo>
                  <a:lnTo>
                    <a:pt x="7224124" y="6858000"/>
                  </a:lnTo>
                  <a:lnTo>
                    <a:pt x="5607142" y="6858000"/>
                  </a:lnTo>
                  <a:lnTo>
                    <a:pt x="5736072" y="6801170"/>
                  </a:lnTo>
                  <a:cubicBezTo>
                    <a:pt x="6122313" y="6616106"/>
                    <a:pt x="6503069" y="6332805"/>
                    <a:pt x="6949826" y="5983707"/>
                  </a:cubicBezTo>
                  <a:cubicBezTo>
                    <a:pt x="7041094" y="5912378"/>
                    <a:pt x="7132358" y="5842426"/>
                    <a:pt x="7220703" y="5773675"/>
                  </a:cubicBezTo>
                  <a:close/>
                  <a:moveTo>
                    <a:pt x="7218419" y="0"/>
                  </a:moveTo>
                  <a:lnTo>
                    <a:pt x="7291350" y="0"/>
                  </a:lnTo>
                  <a:lnTo>
                    <a:pt x="7291350" y="50138"/>
                  </a:lnTo>
                  <a:close/>
                  <a:moveTo>
                    <a:pt x="1797607" y="0"/>
                  </a:moveTo>
                  <a:lnTo>
                    <a:pt x="3385676" y="0"/>
                  </a:lnTo>
                  <a:lnTo>
                    <a:pt x="3360567" y="11552"/>
                  </a:lnTo>
                  <a:cubicBezTo>
                    <a:pt x="2968013" y="202286"/>
                    <a:pt x="2600620" y="442170"/>
                    <a:pt x="2267395" y="725831"/>
                  </a:cubicBezTo>
                  <a:cubicBezTo>
                    <a:pt x="1824986" y="1104820"/>
                    <a:pt x="1477279" y="1536057"/>
                    <a:pt x="1234074" y="2007171"/>
                  </a:cubicBezTo>
                  <a:cubicBezTo>
                    <a:pt x="985368" y="2488770"/>
                    <a:pt x="859383" y="2990476"/>
                    <a:pt x="859383" y="3498372"/>
                  </a:cubicBezTo>
                  <a:cubicBezTo>
                    <a:pt x="859383" y="4010222"/>
                    <a:pt x="1060651" y="4308942"/>
                    <a:pt x="1479513" y="4883182"/>
                  </a:cubicBezTo>
                  <a:cubicBezTo>
                    <a:pt x="1580577" y="5021714"/>
                    <a:pt x="1685078" y="5164888"/>
                    <a:pt x="1791985" y="5322671"/>
                  </a:cubicBezTo>
                  <a:cubicBezTo>
                    <a:pt x="2283419" y="6046950"/>
                    <a:pt x="2796809" y="6521439"/>
                    <a:pt x="3397295" y="6784567"/>
                  </a:cubicBezTo>
                  <a:lnTo>
                    <a:pt x="3590446" y="6858000"/>
                  </a:lnTo>
                  <a:lnTo>
                    <a:pt x="1970757" y="6858000"/>
                  </a:lnTo>
                  <a:lnTo>
                    <a:pt x="1735872" y="6627685"/>
                  </a:lnTo>
                  <a:cubicBezTo>
                    <a:pt x="1502484" y="6382823"/>
                    <a:pt x="1285774" y="6107254"/>
                    <a:pt x="1080932" y="5805127"/>
                  </a:cubicBezTo>
                  <a:cubicBezTo>
                    <a:pt x="556365" y="5032027"/>
                    <a:pt x="0" y="4501616"/>
                    <a:pt x="0" y="3498372"/>
                  </a:cubicBezTo>
                  <a:cubicBezTo>
                    <a:pt x="0" y="2160829"/>
                    <a:pt x="685186" y="949872"/>
                    <a:pt x="1708174" y="7330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D0DF88B0-FA8A-47F5-8EAC-1880B1A51B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2894" y="-5799"/>
              <a:ext cx="7269107" cy="6858000"/>
            </a:xfrm>
            <a:custGeom>
              <a:avLst/>
              <a:gdLst>
                <a:gd name="connsiteX0" fmla="*/ 7269107 w 7269107"/>
                <a:gd name="connsiteY0" fmla="*/ 5518449 h 6858000"/>
                <a:gd name="connsiteX1" fmla="*/ 7269107 w 7269107"/>
                <a:gd name="connsiteY1" fmla="*/ 6823281 h 6858000"/>
                <a:gd name="connsiteX2" fmla="*/ 7224122 w 7269107"/>
                <a:gd name="connsiteY2" fmla="*/ 6858000 h 6858000"/>
                <a:gd name="connsiteX3" fmla="*/ 4927054 w 7269107"/>
                <a:gd name="connsiteY3" fmla="*/ 6858000 h 6858000"/>
                <a:gd name="connsiteX4" fmla="*/ 4982167 w 7269107"/>
                <a:gd name="connsiteY4" fmla="*/ 6852876 h 6858000"/>
                <a:gd name="connsiteX5" fmla="*/ 5743768 w 7269107"/>
                <a:gd name="connsiteY5" fmla="*/ 6606245 h 6858000"/>
                <a:gd name="connsiteX6" fmla="*/ 6843778 w 7269107"/>
                <a:gd name="connsiteY6" fmla="*/ 5848440 h 6858000"/>
                <a:gd name="connsiteX7" fmla="*/ 7115515 w 7269107"/>
                <a:gd name="connsiteY7" fmla="*/ 5637891 h 6858000"/>
                <a:gd name="connsiteX8" fmla="*/ 6870111 w 7269107"/>
                <a:gd name="connsiteY8" fmla="*/ 0 h 6858000"/>
                <a:gd name="connsiteX9" fmla="*/ 7269107 w 7269107"/>
                <a:gd name="connsiteY9" fmla="*/ 0 h 6858000"/>
                <a:gd name="connsiteX10" fmla="*/ 7269107 w 7269107"/>
                <a:gd name="connsiteY10" fmla="*/ 243137 h 6858000"/>
                <a:gd name="connsiteX11" fmla="*/ 7089989 w 7269107"/>
                <a:gd name="connsiteY11" fmla="*/ 119955 h 6858000"/>
                <a:gd name="connsiteX12" fmla="*/ 6952948 w 7269107"/>
                <a:gd name="connsiteY12" fmla="*/ 41521 h 6858000"/>
                <a:gd name="connsiteX13" fmla="*/ 1797606 w 7269107"/>
                <a:gd name="connsiteY13" fmla="*/ 0 h 6858000"/>
                <a:gd name="connsiteX14" fmla="*/ 3815328 w 7269107"/>
                <a:gd name="connsiteY14" fmla="*/ 0 h 6858000"/>
                <a:gd name="connsiteX15" fmla="*/ 3627371 w 7269107"/>
                <a:gd name="connsiteY15" fmla="*/ 77142 h 6858000"/>
                <a:gd name="connsiteX16" fmla="*/ 2379115 w 7269107"/>
                <a:gd name="connsiteY16" fmla="*/ 856285 h 6858000"/>
                <a:gd name="connsiteX17" fmla="*/ 1386699 w 7269107"/>
                <a:gd name="connsiteY17" fmla="*/ 2086062 h 6858000"/>
                <a:gd name="connsiteX18" fmla="*/ 1031258 w 7269107"/>
                <a:gd name="connsiteY18" fmla="*/ 3498372 h 6858000"/>
                <a:gd name="connsiteX19" fmla="*/ 1618904 w 7269107"/>
                <a:gd name="connsiteY19" fmla="*/ 4781604 h 6858000"/>
                <a:gd name="connsiteX20" fmla="*/ 1934812 w 7269107"/>
                <a:gd name="connsiteY20" fmla="*/ 5225904 h 6858000"/>
                <a:gd name="connsiteX21" fmla="*/ 3140010 w 7269107"/>
                <a:gd name="connsiteY21" fmla="*/ 6456196 h 6858000"/>
                <a:gd name="connsiteX22" fmla="*/ 4281662 w 7269107"/>
                <a:gd name="connsiteY22" fmla="*/ 6843305 h 6858000"/>
                <a:gd name="connsiteX23" fmla="*/ 4449058 w 7269107"/>
                <a:gd name="connsiteY23" fmla="*/ 6858000 h 6858000"/>
                <a:gd name="connsiteX24" fmla="*/ 1970756 w 7269107"/>
                <a:gd name="connsiteY24" fmla="*/ 6858000 h 6858000"/>
                <a:gd name="connsiteX25" fmla="*/ 1735871 w 7269107"/>
                <a:gd name="connsiteY25" fmla="*/ 6627685 h 6858000"/>
                <a:gd name="connsiteX26" fmla="*/ 1080930 w 7269107"/>
                <a:gd name="connsiteY26" fmla="*/ 5805127 h 6858000"/>
                <a:gd name="connsiteX27" fmla="*/ 0 w 7269107"/>
                <a:gd name="connsiteY27" fmla="*/ 3498372 h 6858000"/>
                <a:gd name="connsiteX28" fmla="*/ 1708172 w 7269107"/>
                <a:gd name="connsiteY28"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269107" h="6858000">
                  <a:moveTo>
                    <a:pt x="7269107" y="5518449"/>
                  </a:moveTo>
                  <a:lnTo>
                    <a:pt x="7269107" y="6823281"/>
                  </a:lnTo>
                  <a:lnTo>
                    <a:pt x="7224122" y="6858000"/>
                  </a:lnTo>
                  <a:lnTo>
                    <a:pt x="4927054" y="6858000"/>
                  </a:lnTo>
                  <a:lnTo>
                    <a:pt x="4982167" y="6852876"/>
                  </a:lnTo>
                  <a:cubicBezTo>
                    <a:pt x="5236517" y="6821036"/>
                    <a:pt x="5483373" y="6740566"/>
                    <a:pt x="5743768" y="6606245"/>
                  </a:cubicBezTo>
                  <a:cubicBezTo>
                    <a:pt x="6099551" y="6422337"/>
                    <a:pt x="6452586" y="6154209"/>
                    <a:pt x="6843778" y="5848440"/>
                  </a:cubicBezTo>
                  <a:cubicBezTo>
                    <a:pt x="6935559" y="5776768"/>
                    <a:pt x="7026997" y="5706642"/>
                    <a:pt x="7115515" y="5637891"/>
                  </a:cubicBezTo>
                  <a:close/>
                  <a:moveTo>
                    <a:pt x="6870111" y="0"/>
                  </a:moveTo>
                  <a:lnTo>
                    <a:pt x="7269107" y="0"/>
                  </a:lnTo>
                  <a:lnTo>
                    <a:pt x="7269107" y="243137"/>
                  </a:lnTo>
                  <a:lnTo>
                    <a:pt x="7089989" y="119955"/>
                  </a:lnTo>
                  <a:cubicBezTo>
                    <a:pt x="7045081" y="92581"/>
                    <a:pt x="6999384" y="66425"/>
                    <a:pt x="6952948" y="41521"/>
                  </a:cubicBezTo>
                  <a:close/>
                  <a:moveTo>
                    <a:pt x="1797606" y="0"/>
                  </a:moveTo>
                  <a:lnTo>
                    <a:pt x="3815328" y="0"/>
                  </a:lnTo>
                  <a:lnTo>
                    <a:pt x="3627371" y="77142"/>
                  </a:lnTo>
                  <a:cubicBezTo>
                    <a:pt x="3175548" y="273822"/>
                    <a:pt x="2754868" y="536281"/>
                    <a:pt x="2379115" y="856285"/>
                  </a:cubicBezTo>
                  <a:cubicBezTo>
                    <a:pt x="1959736" y="1215679"/>
                    <a:pt x="1616497" y="1640901"/>
                    <a:pt x="1386699" y="2086062"/>
                  </a:cubicBezTo>
                  <a:cubicBezTo>
                    <a:pt x="1151572" y="2543083"/>
                    <a:pt x="1031258" y="3018150"/>
                    <a:pt x="1031258" y="3498372"/>
                  </a:cubicBezTo>
                  <a:cubicBezTo>
                    <a:pt x="1031258" y="3957455"/>
                    <a:pt x="1211213" y="4223692"/>
                    <a:pt x="1618904" y="4781604"/>
                  </a:cubicBezTo>
                  <a:cubicBezTo>
                    <a:pt x="1720826" y="4921339"/>
                    <a:pt x="1826186" y="5065887"/>
                    <a:pt x="1934812" y="5225904"/>
                  </a:cubicBezTo>
                  <a:cubicBezTo>
                    <a:pt x="2318957" y="5792064"/>
                    <a:pt x="2713069" y="6194600"/>
                    <a:pt x="3140010" y="6456196"/>
                  </a:cubicBezTo>
                  <a:cubicBezTo>
                    <a:pt x="3479423" y="6664512"/>
                    <a:pt x="3855769" y="6792387"/>
                    <a:pt x="4281662" y="6843305"/>
                  </a:cubicBezTo>
                  <a:lnTo>
                    <a:pt x="4449058" y="6858000"/>
                  </a:lnTo>
                  <a:lnTo>
                    <a:pt x="1970756" y="6858000"/>
                  </a:lnTo>
                  <a:lnTo>
                    <a:pt x="1735871" y="6627685"/>
                  </a:lnTo>
                  <a:cubicBezTo>
                    <a:pt x="1502482" y="6382823"/>
                    <a:pt x="1285773" y="6107254"/>
                    <a:pt x="1080930" y="5805127"/>
                  </a:cubicBezTo>
                  <a:cubicBezTo>
                    <a:pt x="556364" y="5032027"/>
                    <a:pt x="0" y="4501616"/>
                    <a:pt x="0" y="3498372"/>
                  </a:cubicBezTo>
                  <a:cubicBezTo>
                    <a:pt x="0" y="2160829"/>
                    <a:pt x="685185" y="949872"/>
                    <a:pt x="1708172" y="73302"/>
                  </a:cubicBezTo>
                  <a:close/>
                </a:path>
              </a:pathLst>
            </a:custGeom>
            <a:gradFill>
              <a:gsLst>
                <a:gs pos="2000">
                  <a:schemeClr val="bg1">
                    <a:alpha val="10000"/>
                  </a:schemeClr>
                </a:gs>
                <a:gs pos="5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Symbol zastępczy zawartości 2">
            <a:extLst>
              <a:ext uri="{FF2B5EF4-FFF2-40B4-BE49-F238E27FC236}">
                <a16:creationId xmlns:a16="http://schemas.microsoft.com/office/drawing/2014/main" id="{46227EAE-7F7D-7B32-028C-ABDA5A931633}"/>
              </a:ext>
            </a:extLst>
          </p:cNvPr>
          <p:cNvSpPr>
            <a:spLocks noGrp="1"/>
          </p:cNvSpPr>
          <p:nvPr>
            <p:ph idx="1"/>
          </p:nvPr>
        </p:nvSpPr>
        <p:spPr>
          <a:xfrm>
            <a:off x="6632812" y="1032987"/>
            <a:ext cx="4919108" cy="4792027"/>
          </a:xfrm>
        </p:spPr>
        <p:txBody>
          <a:bodyPr anchor="ctr">
            <a:normAutofit fontScale="70000" lnSpcReduction="20000"/>
          </a:bodyPr>
          <a:lstStyle/>
          <a:p>
            <a:r>
              <a:rPr lang="pl-PL" sz="2000" dirty="0">
                <a:solidFill>
                  <a:schemeClr val="tx2"/>
                </a:solidFill>
              </a:rPr>
              <a:t>tomhrm.com/</a:t>
            </a:r>
            <a:r>
              <a:rPr lang="pl-PL" sz="2000" dirty="0" err="1">
                <a:solidFill>
                  <a:schemeClr val="tx2"/>
                </a:solidFill>
              </a:rPr>
              <a:t>struktura-organizacyjna-firmy-rodzaje-przykłady</a:t>
            </a:r>
            <a:r>
              <a:rPr lang="pl-PL" sz="2000" dirty="0">
                <a:solidFill>
                  <a:schemeClr val="tx2"/>
                </a:solidFill>
              </a:rPr>
              <a:t>/</a:t>
            </a:r>
          </a:p>
          <a:p>
            <a:r>
              <a:rPr lang="pl-PL" sz="2000" dirty="0">
                <a:solidFill>
                  <a:schemeClr val="tx2"/>
                </a:solidFill>
                <a:hlinkClick r:id="rId2"/>
              </a:rPr>
              <a:t>https://theorgchart.com/resources/it-org-chart-how-to/</a:t>
            </a:r>
            <a:endParaRPr lang="pl-PL" sz="2000" dirty="0">
              <a:solidFill>
                <a:schemeClr val="tx2"/>
              </a:solidFill>
            </a:endParaRPr>
          </a:p>
          <a:p>
            <a:r>
              <a:rPr lang="pl-PL" sz="2000" dirty="0">
                <a:solidFill>
                  <a:schemeClr val="tx2"/>
                </a:solidFill>
                <a:hlinkClick r:id="rId3"/>
              </a:rPr>
              <a:t>https://www.scottmadden.com/insight/it-organizational-structures-explained-finding-the-best-fit/</a:t>
            </a:r>
            <a:endParaRPr lang="pl-PL" sz="2000" dirty="0">
              <a:solidFill>
                <a:schemeClr val="tx2"/>
              </a:solidFill>
            </a:endParaRPr>
          </a:p>
          <a:p>
            <a:r>
              <a:rPr lang="pl-PL" sz="2000" dirty="0">
                <a:solidFill>
                  <a:schemeClr val="tx2"/>
                </a:solidFill>
                <a:hlinkClick r:id="rId4"/>
              </a:rPr>
              <a:t>https://www.organimi.com/it-department-organizational-structure/</a:t>
            </a:r>
            <a:endParaRPr lang="pl-PL" sz="2000" dirty="0">
              <a:solidFill>
                <a:schemeClr val="tx2"/>
              </a:solidFill>
            </a:endParaRPr>
          </a:p>
          <a:p>
            <a:r>
              <a:rPr lang="pl-PL" sz="2000" dirty="0">
                <a:solidFill>
                  <a:schemeClr val="tx2"/>
                </a:solidFill>
                <a:hlinkClick r:id="rId5"/>
              </a:rPr>
              <a:t>https://modestprogrammer.pl/sciezka-zawodowa-programisty-jakie-stanowiska-i-role-mozna-wyroznic-w-firmie-tworzacej-oprogramowanie</a:t>
            </a:r>
            <a:endParaRPr lang="pl-PL" sz="2000" dirty="0">
              <a:solidFill>
                <a:schemeClr val="tx2"/>
              </a:solidFill>
            </a:endParaRPr>
          </a:p>
          <a:p>
            <a:r>
              <a:rPr lang="pl-PL" sz="2000" dirty="0">
                <a:solidFill>
                  <a:schemeClr val="tx2"/>
                </a:solidFill>
                <a:hlinkClick r:id="rId6"/>
              </a:rPr>
              <a:t>https://www.hrk.pl/know-how/artykuly/ranking-10-najpopularniejszych-stanowisk-w-it/</a:t>
            </a:r>
            <a:endParaRPr lang="pl-PL" sz="2000" dirty="0">
              <a:solidFill>
                <a:schemeClr val="tx2"/>
              </a:solidFill>
            </a:endParaRPr>
          </a:p>
          <a:p>
            <a:r>
              <a:rPr lang="pl-PL" sz="2000" dirty="0">
                <a:solidFill>
                  <a:schemeClr val="tx2"/>
                </a:solidFill>
                <a:hlinkClick r:id="rId7"/>
              </a:rPr>
              <a:t>https://boringowl.io/blog/senior-developer-mid-i-junior-jakie-sa-kryteria-stopniowania-stanowisk-programistycznych-w-it</a:t>
            </a:r>
            <a:endParaRPr lang="pl-PL" sz="2000" dirty="0">
              <a:solidFill>
                <a:schemeClr val="tx2"/>
              </a:solidFill>
            </a:endParaRPr>
          </a:p>
          <a:p>
            <a:r>
              <a:rPr lang="pl-PL" sz="2000" dirty="0">
                <a:solidFill>
                  <a:schemeClr val="tx2"/>
                </a:solidFill>
                <a:hlinkClick r:id="rId8"/>
              </a:rPr>
              <a:t>https://pl.wikipedia.org/wiki/Chief_Information_Officer</a:t>
            </a:r>
            <a:endParaRPr lang="pl-PL" sz="2000" dirty="0">
              <a:solidFill>
                <a:schemeClr val="tx2"/>
              </a:solidFill>
            </a:endParaRPr>
          </a:p>
          <a:p>
            <a:r>
              <a:rPr lang="pl-PL" sz="2000" dirty="0">
                <a:solidFill>
                  <a:schemeClr val="tx2"/>
                </a:solidFill>
                <a:hlinkClick r:id="rId9"/>
              </a:rPr>
              <a:t>https://onlinedegrees.sandiego.edu/it-job-titles/</a:t>
            </a:r>
            <a:endParaRPr lang="pl-PL" sz="2000" dirty="0">
              <a:solidFill>
                <a:schemeClr val="tx2"/>
              </a:solidFill>
            </a:endParaRPr>
          </a:p>
          <a:p>
            <a:r>
              <a:rPr lang="pl-PL" sz="2000" dirty="0">
                <a:solidFill>
                  <a:schemeClr val="tx2"/>
                </a:solidFill>
                <a:hlinkClick r:id="rId10"/>
              </a:rPr>
              <a:t>https://traffit.com/pl/opisy-stanowisk-pracy/marketing/project-manager-2/</a:t>
            </a:r>
            <a:endParaRPr lang="pl-PL" sz="2000" dirty="0">
              <a:solidFill>
                <a:schemeClr val="tx2"/>
              </a:solidFill>
            </a:endParaRPr>
          </a:p>
          <a:p>
            <a:r>
              <a:rPr lang="pl-PL" sz="2000" dirty="0">
                <a:solidFill>
                  <a:schemeClr val="tx2"/>
                </a:solidFill>
                <a:hlinkClick r:id="rId11"/>
              </a:rPr>
              <a:t>https://www.qagile.pl/scrum/product-owner-co-robi-scrum/#Kim_jest_Product_Owner_w_swiecie_Scrum\</a:t>
            </a:r>
            <a:endParaRPr lang="pl-PL" sz="2000" dirty="0">
              <a:solidFill>
                <a:schemeClr val="tx2"/>
              </a:solidFill>
            </a:endParaRPr>
          </a:p>
          <a:p>
            <a:endParaRPr lang="pl-PL" sz="2000" dirty="0">
              <a:solidFill>
                <a:schemeClr val="tx2"/>
              </a:solidFill>
            </a:endParaRPr>
          </a:p>
        </p:txBody>
      </p:sp>
    </p:spTree>
    <p:extLst>
      <p:ext uri="{BB962C8B-B14F-4D97-AF65-F5344CB8AC3E}">
        <p14:creationId xmlns:p14="http://schemas.microsoft.com/office/powerpoint/2010/main" val="6280164"/>
      </p:ext>
    </p:extLst>
  </p:cSld>
  <p:clrMapOvr>
    <a:masterClrMapping/>
  </p:clrMapOvr>
</p:sld>
</file>

<file path=ppt/theme/theme1.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479</TotalTime>
  <Words>1167</Words>
  <Application>Microsoft Office PowerPoint</Application>
  <PresentationFormat>Panoramiczny</PresentationFormat>
  <Paragraphs>235</Paragraphs>
  <Slides>25</Slides>
  <Notes>0</Notes>
  <HiddenSlides>0</HiddenSlides>
  <MMClips>0</MMClips>
  <ScaleCrop>false</ScaleCrop>
  <HeadingPairs>
    <vt:vector size="6" baseType="variant">
      <vt:variant>
        <vt:lpstr>Używane czcionki</vt:lpstr>
      </vt:variant>
      <vt:variant>
        <vt:i4>4</vt:i4>
      </vt:variant>
      <vt:variant>
        <vt:lpstr>Motyw</vt:lpstr>
      </vt:variant>
      <vt:variant>
        <vt:i4>1</vt:i4>
      </vt:variant>
      <vt:variant>
        <vt:lpstr>Tytuły slajdów</vt:lpstr>
      </vt:variant>
      <vt:variant>
        <vt:i4>25</vt:i4>
      </vt:variant>
    </vt:vector>
  </HeadingPairs>
  <TitlesOfParts>
    <vt:vector size="30" baseType="lpstr">
      <vt:lpstr>Aptos</vt:lpstr>
      <vt:lpstr>Aptos Display</vt:lpstr>
      <vt:lpstr>Arial</vt:lpstr>
      <vt:lpstr>Google Sans Text</vt:lpstr>
      <vt:lpstr>Motyw pakietu Office</vt:lpstr>
      <vt:lpstr>Nazewnictwo i struktura stanowisk pracy w firmie IT</vt:lpstr>
      <vt:lpstr>Czym jest struktura firmy?</vt:lpstr>
      <vt:lpstr>Słownik</vt:lpstr>
      <vt:lpstr>Rodzaje struktur organizacyjnych</vt:lpstr>
      <vt:lpstr>Struktura scentralizowana</vt:lpstr>
      <vt:lpstr>Cechy struktury scentralizowanej</vt:lpstr>
      <vt:lpstr>Struktura zdecentralizowana</vt:lpstr>
      <vt:lpstr>Cechy struktury zdecentralizowanej</vt:lpstr>
      <vt:lpstr>Struktura funkcjonalna</vt:lpstr>
      <vt:lpstr>Cechy struktury funkcjonalnej</vt:lpstr>
      <vt:lpstr>Struktura macierzowa</vt:lpstr>
      <vt:lpstr>Cechy struktury macierzowej</vt:lpstr>
      <vt:lpstr>Struktura oparta na produkcie</vt:lpstr>
      <vt:lpstr>Cechy struktury opartej na produkcie</vt:lpstr>
      <vt:lpstr>Struktura federacyjna</vt:lpstr>
      <vt:lpstr>Cechy struktury federacyjnej</vt:lpstr>
      <vt:lpstr>Stanowiska pracy ze względu na doświadczenie</vt:lpstr>
      <vt:lpstr>Podział ról według specjalizacji</vt:lpstr>
      <vt:lpstr>Infrastruktura</vt:lpstr>
      <vt:lpstr>Rozwój oprogramowania</vt:lpstr>
      <vt:lpstr>Cyberbezpieczeństwo</vt:lpstr>
      <vt:lpstr>Dane i analityka</vt:lpstr>
      <vt:lpstr>Zarządzanie produktem i projektem</vt:lpstr>
      <vt:lpstr>Podsumowanie</vt:lpstr>
      <vt:lpstr>Bibliografia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Mateusz Tereba (280556)</dc:creator>
  <cp:lastModifiedBy>Mateusz Tereba (280556)</cp:lastModifiedBy>
  <cp:revision>6</cp:revision>
  <dcterms:created xsi:type="dcterms:W3CDTF">2026-03-15T10:14:15Z</dcterms:created>
  <dcterms:modified xsi:type="dcterms:W3CDTF">2026-03-15T20:24:04Z</dcterms:modified>
</cp:coreProperties>
</file>